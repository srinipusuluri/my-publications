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Lst>
  <p:sldSz cy="5143500" cx="9144000"/>
  <p:notesSz cx="6858000" cy="9144000"/>
  <p:embeddedFontLst>
    <p:embeddedFont>
      <p:font typeface="Roboto"/>
      <p:regular r:id="rId176"/>
      <p:bold r:id="rId177"/>
      <p:italic r:id="rId178"/>
      <p:boldItalic r:id="rId179"/>
    </p:embeddedFont>
    <p:embeddedFont>
      <p:font typeface="Nunito"/>
      <p:regular r:id="rId180"/>
      <p:bold r:id="rId181"/>
      <p:italic r:id="rId182"/>
      <p:boldItalic r:id="rId1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F71DC0-B734-49B0-82BF-47BBF8BC9791}">
  <a:tblStyle styleId="{A5F71DC0-B734-49B0-82BF-47BBF8BC97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A8DF423-57C0-4EDE-B31E-8917359C415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font" Target="fonts/Nunito-boldItalic.fntdata"/><Relationship Id="rId32" Type="http://schemas.openxmlformats.org/officeDocument/2006/relationships/slide" Target="slides/slide26.xml"/><Relationship Id="rId182" Type="http://schemas.openxmlformats.org/officeDocument/2006/relationships/font" Target="fonts/Nunito-italic.fntdata"/><Relationship Id="rId35" Type="http://schemas.openxmlformats.org/officeDocument/2006/relationships/slide" Target="slides/slide29.xml"/><Relationship Id="rId181" Type="http://schemas.openxmlformats.org/officeDocument/2006/relationships/font" Target="fonts/Nunito-bold.fntdata"/><Relationship Id="rId34" Type="http://schemas.openxmlformats.org/officeDocument/2006/relationships/slide" Target="slides/slide28.xml"/><Relationship Id="rId180" Type="http://schemas.openxmlformats.org/officeDocument/2006/relationships/font" Target="fonts/Nunito-regular.fntdata"/><Relationship Id="rId37" Type="http://schemas.openxmlformats.org/officeDocument/2006/relationships/slide" Target="slides/slide31.xml"/><Relationship Id="rId176" Type="http://schemas.openxmlformats.org/officeDocument/2006/relationships/font" Target="fonts/Roboto-regular.fntdata"/><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Roboto-boldItalic.fntdata"/><Relationship Id="rId178" Type="http://schemas.openxmlformats.org/officeDocument/2006/relationships/font" Target="fonts/Roboto-italic.fntdata"/><Relationship Id="rId177" Type="http://schemas.openxmlformats.org/officeDocument/2006/relationships/font" Target="fonts/Robot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ython.langchain.com/v0.1/docs/integrations/llms/" TargetMode="External"/><Relationship Id="rId3" Type="http://schemas.openxmlformats.org/officeDocument/2006/relationships/hyperlink" Target="https://towardsdatascience.com/everything-you-need-to-know-about-activation-functions-in-deep-learning-models-84ba9f82c253"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ython.langchain.com/v0.1/docs/integrations/llms/" TargetMode="External"/><Relationship Id="rId3" Type="http://schemas.openxmlformats.org/officeDocument/2006/relationships/hyperlink" Target="https://towardsdatascience.com/everything-you-need-to-know-about-activation-functions-in-deep-learning-models-84ba9f82c253"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ython_(programming_language)" TargetMode="External"/><Relationship Id="rId3" Type="http://schemas.openxmlformats.org/officeDocument/2006/relationships/hyperlink" Target="https://www.w3schools.com/python/default.asp"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python.org/3/tutorial/introduction.html#numbers" TargetMode="External"/><Relationship Id="rId3" Type="http://schemas.openxmlformats.org/officeDocument/2006/relationships/hyperlink" Target="https://assets.openstax.org/oscms-prodcms/media/documents/Introduction_to_Python_Programming_-_WEB.pdf"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ygreatlearning.com/blog/open-source-python-libraries/" TargetMode="External"/><Relationship Id="rId3" Type="http://schemas.openxmlformats.org/officeDocument/2006/relationships/hyperlink" Target="https://blog.finxter.com/top-5-llm-python-libraries/" TargetMode="External"/><Relationship Id="rId4" Type="http://schemas.openxmlformats.org/officeDocument/2006/relationships/hyperlink" Target="https://python.langchain.com/v0.1/docs/integrations/platforms/huggingface/"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ython.langchain.com/v0.1/docs/integrations/llms/" TargetMode="External"/><Relationship Id="rId3" Type="http://schemas.openxmlformats.org/officeDocument/2006/relationships/hyperlink" Target="https://github.com/Zjh-819/LLMDataHub" TargetMode="External"/><Relationship Id="rId4" Type="http://schemas.openxmlformats.org/officeDocument/2006/relationships/hyperlink" Target="https://kili-technology.com/datasets" TargetMode="External"/><Relationship Id="rId5" Type="http://schemas.openxmlformats.org/officeDocument/2006/relationships/hyperlink" Target="https://www.turing.com/resources/understanding-llm-evaluation-and-benchmarks#a.-key-evaluation-metrics" TargetMode="External"/><Relationship Id="rId6" Type="http://schemas.openxmlformats.org/officeDocument/2006/relationships/hyperlink" Target="https://www.linkedin.com/pulse/evaluating-large-language-models-llms-standard-set-metrics-biswas-ecjlc/" TargetMode="Externa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ython.langchain.com/v0.1/docs/integrations/llms/" TargetMode="External"/><Relationship Id="rId3" Type="http://schemas.openxmlformats.org/officeDocument/2006/relationships/hyperlink" Target="https://towardsdatascience.com/everything-you-need-to-know-about-activation-functions-in-deep-learning-models-84ba9f82c253" TargetMode="Externa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p.dataquest.io/c/168/m/895/introduction-to-ai-chatbots-with-chandra/4/machine-learning?path=30&amp;slug=generative-ai-fundamentals-skill&amp;version=1" TargetMode="External"/><Relationship Id="rId3" Type="http://schemas.openxmlformats.org/officeDocument/2006/relationships/hyperlink" Target="https://www.w3schools.com/python/trypython.asp?filename=demo_default" TargetMode="Externa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720d501d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720d501d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2bf8695a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72bf8695a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2bf8695a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2bf8695a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2bf8695a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72bf8695a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72bf8695a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72bf8695a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72bf8695a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72bf8695a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72bf8695a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72bf8695a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72bf8695a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72bf8695a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2bf8695a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72bf8695a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72bf8695a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72bf8695a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2bf8695a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72bf8695a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72bf8695a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72bf8695a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72bf8695a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72bf8695a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72bf8695a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72bf8695a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72bf8695a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72bf8695a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72bf8695a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72bf8695a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72bf8695a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72bf8695a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72bf8695a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72bf8695a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72bf8695ac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72bf8695a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72bf8695ac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72bf8695a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72bf8695a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72bf8695a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72bf8695a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72bf8695a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72bf8695a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72bf8695a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72bf8695ac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72bf8695ac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72bf8695ac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72bf8695ac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72bf8695a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72bf8695a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72bf8695a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72bf8695a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72bf8695a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72bf8695a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72bf8695a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72bf8695a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https://python.langchain.com/v0.1/docs/integrations/llms/</a:t>
            </a:r>
            <a:endParaRPr/>
          </a:p>
          <a:p>
            <a:pPr indent="0" lvl="0" marL="0" rtl="0" algn="l">
              <a:spcBef>
                <a:spcPts val="0"/>
              </a:spcBef>
              <a:spcAft>
                <a:spcPts val="0"/>
              </a:spcAft>
              <a:buNone/>
            </a:pPr>
            <a:r>
              <a:rPr lang="en" u="sng">
                <a:solidFill>
                  <a:schemeClr val="hlink"/>
                </a:solidFill>
                <a:hlinkClick r:id="rId3"/>
              </a:rPr>
              <a:t>https://towardsdatascience.com/everything-you-need-to-know-about-activation-functions-in-deep-learning-models-84ba9f82c253</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72bf8695ac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72bf8695a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https://python.langchain.com/v0.1/docs/integrations/llms/</a:t>
            </a:r>
            <a:endParaRPr/>
          </a:p>
          <a:p>
            <a:pPr indent="0" lvl="0" marL="0" rtl="0" algn="l">
              <a:spcBef>
                <a:spcPts val="0"/>
              </a:spcBef>
              <a:spcAft>
                <a:spcPts val="0"/>
              </a:spcAft>
              <a:buNone/>
            </a:pPr>
            <a:r>
              <a:rPr lang="en" u="sng">
                <a:solidFill>
                  <a:schemeClr val="hlink"/>
                </a:solidFill>
                <a:hlinkClick r:id="rId3"/>
              </a:rPr>
              <a:t>https://towardsdatascience.com/everything-you-need-to-know-about-activation-functions-in-deep-learning-models-84ba9f82c253</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72bf8695a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72bf8695a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72bf8695ac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72bf8695ac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72bf8695a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72bf8695a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72bf8695ac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72bf8695ac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72bf8695a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72bf8695a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72bf8695ac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72bf8695ac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72bf8695ac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72bf8695ac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72bf8695ac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72bf8695ac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72bf8695ac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72bf8695ac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72bf8695ac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72bf8695ac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72bf8695ac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72bf8695ac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https://en.wikipedia.org/wiki/Python_(programming_language)</a:t>
            </a:r>
            <a:endParaRPr/>
          </a:p>
          <a:p>
            <a:pPr indent="0" lvl="0" marL="0" rtl="0" algn="l">
              <a:spcBef>
                <a:spcPts val="0"/>
              </a:spcBef>
              <a:spcAft>
                <a:spcPts val="0"/>
              </a:spcAft>
              <a:buNone/>
            </a:pPr>
            <a:r>
              <a:rPr lang="en" u="sng">
                <a:solidFill>
                  <a:schemeClr val="hlink"/>
                </a:solidFill>
                <a:hlinkClick r:id="rId3"/>
              </a:rPr>
              <a:t>https://www.w3schools.com/python/default.asp</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72bf8695ac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72bf8695ac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72bf8695ac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72bf8695ac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72bf8695ac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72bf8695a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72bf8695ac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72bf8695ac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https://docs.python.org/3/tutorial/introduction.html#numbers</a:t>
            </a:r>
            <a:endParaRPr/>
          </a:p>
          <a:p>
            <a:pPr indent="0" lvl="0" marL="0" rtl="0" algn="l">
              <a:spcBef>
                <a:spcPts val="0"/>
              </a:spcBef>
              <a:spcAft>
                <a:spcPts val="0"/>
              </a:spcAft>
              <a:buNone/>
            </a:pPr>
            <a:r>
              <a:rPr lang="en" u="sng">
                <a:solidFill>
                  <a:schemeClr val="hlink"/>
                </a:solidFill>
                <a:hlinkClick r:id="rId3"/>
              </a:rPr>
              <a:t>https://assets.openstax.org/oscms-prodcms/media/documents/Introduction_to_Python_Programming_-_WEB.pdf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72bf8695ac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72bf8695ac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https://www.mygreatlearning.com/blog/open-source-python-libraries/</a:t>
            </a:r>
            <a:endParaRPr/>
          </a:p>
          <a:p>
            <a:pPr indent="0" lvl="0" marL="0" rtl="0" algn="l">
              <a:spcBef>
                <a:spcPts val="0"/>
              </a:spcBef>
              <a:spcAft>
                <a:spcPts val="0"/>
              </a:spcAft>
              <a:buNone/>
            </a:pPr>
            <a:r>
              <a:rPr lang="en" u="sng">
                <a:solidFill>
                  <a:schemeClr val="hlink"/>
                </a:solidFill>
                <a:hlinkClick r:id="rId3"/>
              </a:rPr>
              <a:t>https://blog.finxter.com/top-5-llm-python-libraries/</a:t>
            </a:r>
            <a:endParaRPr/>
          </a:p>
          <a:p>
            <a:pPr indent="0" lvl="0" marL="0" rtl="0" algn="l">
              <a:spcBef>
                <a:spcPts val="0"/>
              </a:spcBef>
              <a:spcAft>
                <a:spcPts val="0"/>
              </a:spcAft>
              <a:buNone/>
            </a:pPr>
            <a:r>
              <a:rPr lang="en" u="sng">
                <a:solidFill>
                  <a:schemeClr val="hlink"/>
                </a:solidFill>
                <a:hlinkClick r:id="rId4"/>
              </a:rPr>
              <a:t>https://python.langchain.com/v0.1/docs/integrations/platforms/huggingface/</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72bf8695ac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72bf8695ac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72bf8695ac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72bf8695ac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72bf8695ac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72bf8695ac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72bf8695ac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72bf8695ac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72bf8695ac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72bf8695ac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72bf8695ac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72bf8695ac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72bf8695ac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72bf8695ac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72bf8695ac_0_35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272bf8695ac_0_3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72bf8695ac_0_36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g272bf8695ac_0_3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72bf8695ac_0_3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272bf8695ac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72bf8695ac_0_37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272bf8695ac_0_3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72bf8695ac_0_3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272bf8695ac_0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72bf8695ac_0_38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g272bf8695ac_0_3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72bf8695ac_0_39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272bf8695ac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72bf8695ac_0_39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272bf8695ac_0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72bf8695ac_0_40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272bf8695ac_0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72bf8695ac_0_40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272bf8695ac_0_4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72bf8695ac_0_41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g272bf8695ac_0_4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72bf8695ac_0_42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g272bf8695ac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72bf8695ac_0_4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272bf8695ac_0_4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72bf8695ac_0_43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g272bf8695ac_0_4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72bf8695ac_0_43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g272bf8695ac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72bf8695ac_0_44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g272bf8695ac_0_4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72bf8695ac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72bf8695ac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72bf8695ac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72bf8695ac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72bf8695ac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72bf8695ac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72bf8695ac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272bf8695ac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72bf8695ac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72bf8695a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72bf8695ac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72bf8695ac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72bf8695ac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272bf8695ac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72bf8695ac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72bf8695ac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72bf8695ac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72bf8695ac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72bf8695ac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72bf8695ac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https://www.cloudflare.com/learning/ai/what-is-neural-network/</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72bf8695ac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72bf8695ac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72bf8695ac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72bf8695ac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72bf8695ac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272bf8695ac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72bf8695ac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72bf8695ac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72bf8695ac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72bf8695ac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72bf8695ac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72bf8695ac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2bf8695ac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2bf8695ac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72bf8695ac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72bf8695ac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72bf8695ac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72bf8695ac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72bf8695ac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72bf8695ac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72bf8695ac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272bf8695ac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72bf8695ac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272bf8695ac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72bf8695ac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72bf8695ac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72bf8695ac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72bf8695ac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72bf8695ac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72bf8695ac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72bf8695ac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72bf8695ac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72bf8695ac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72bf8695ac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72bf8695ac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72bf8695ac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2bf8695ac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2bf8695ac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2bf8695ac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2bf8695ac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72bf8695ac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72bf8695ac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72bf8695ac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272bf8695ac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72bf8695ac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72bf8695ac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72bf8695ac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72bf8695ac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72bf8695ac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72bf8695ac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72bf8695ac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72bf8695ac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72bf8695ac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72bf8695ac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72bf8695ac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72bf8695ac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272bf8695ac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272bf8695ac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72bf8695a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72bf8695a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72bf8695ac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72bf8695ac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72bf8695ac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72bf8695ac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72bf8695ac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72bf8695ac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72bf8695ac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72bf8695ac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72bf8695ac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272bf8695ac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72bf8695ac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72bf8695ac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72bf8695ac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72bf8695ac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72bf8695ac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72bf8695ac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72bf8695ac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72bf8695ac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72bf8695ac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272bf8695ac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72bf8695ac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272bf8695ac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272bf8695ac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272bf8695ac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72bf8695ac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272bf8695ac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272bf8695ac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272bf8695ac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72bf8695ac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272bf8695ac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72bf8695ac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72bf8695ac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72bf8695ac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72bf8695ac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72bf8695ac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272bf8695ac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https://medium.com/@amiraryani/8-types-of-prompt-engineering-5322fff77bdf</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72bf8695ac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72bf8695ac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72bf8695ac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72bf8695ac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72bf8695ac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72bf8695ac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72bf8695ac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72bf8695ac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72bf8695ac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72bf8695ac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72bf8695ac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72bf8695ac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72bf8695ac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72bf8695ac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72bf8695ac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72bf8695ac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272bf8695ac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272bf8695ac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272bf8695ac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72bf8695ac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72bf8695ac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72bf8695ac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72bf8695ac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72bf8695ac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72bf8695ac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72bf8695ac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272bf8695ac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272bf8695ac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72bf8695ac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72bf8695ac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272bf8695ac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72bf8695ac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https://zapier.com/blog/best-llm/</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72bf8695ac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72bf8695ac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https://python.langchain.com/v0.1/docs/integrations/llms/</a:t>
            </a:r>
            <a:endParaRPr/>
          </a:p>
          <a:p>
            <a:pPr indent="0" lvl="0" marL="0" rtl="0" algn="l">
              <a:spcBef>
                <a:spcPts val="0"/>
              </a:spcBef>
              <a:spcAft>
                <a:spcPts val="0"/>
              </a:spcAft>
              <a:buNone/>
            </a:pPr>
            <a:r>
              <a:rPr lang="en" u="sng">
                <a:solidFill>
                  <a:schemeClr val="hlink"/>
                </a:solidFill>
                <a:hlinkClick r:id="rId3"/>
              </a:rPr>
              <a:t>https://github.com/Zjh-819/LLMDataHub</a:t>
            </a:r>
            <a:endParaRPr/>
          </a:p>
          <a:p>
            <a:pPr indent="0" lvl="0" marL="0" rtl="0" algn="l">
              <a:spcBef>
                <a:spcPts val="0"/>
              </a:spcBef>
              <a:spcAft>
                <a:spcPts val="0"/>
              </a:spcAft>
              <a:buNone/>
            </a:pPr>
            <a:r>
              <a:rPr lang="en"/>
              <a:t>https://huggingface.co/spaces/HuggingFaceH4/open_llm_leaderboard</a:t>
            </a:r>
            <a:endParaRPr/>
          </a:p>
          <a:p>
            <a:pPr indent="0" lvl="0" marL="0" rtl="0" algn="l">
              <a:spcBef>
                <a:spcPts val="0"/>
              </a:spcBef>
              <a:spcAft>
                <a:spcPts val="0"/>
              </a:spcAft>
              <a:buNone/>
            </a:pPr>
            <a:r>
              <a:rPr lang="en" u="sng">
                <a:solidFill>
                  <a:schemeClr val="hlink"/>
                </a:solidFill>
                <a:hlinkClick r:id="rId4"/>
              </a:rPr>
              <a:t>https://kili-technology.com/datasets</a:t>
            </a:r>
            <a:endParaRPr/>
          </a:p>
          <a:p>
            <a:pPr indent="0" lvl="0" marL="0" rtl="0" algn="l">
              <a:spcBef>
                <a:spcPts val="0"/>
              </a:spcBef>
              <a:spcAft>
                <a:spcPts val="0"/>
              </a:spcAft>
              <a:buNone/>
            </a:pPr>
            <a:r>
              <a:rPr lang="en" u="sng">
                <a:solidFill>
                  <a:schemeClr val="hlink"/>
                </a:solidFill>
                <a:hlinkClick r:id="rId5"/>
              </a:rPr>
              <a:t>https://www.turing.com/resources/understanding-llm-evaluation-and-benchmarks#a.-key-evaluation-metrics</a:t>
            </a:r>
            <a:endParaRPr/>
          </a:p>
          <a:p>
            <a:pPr indent="0" lvl="0" marL="0" rtl="0" algn="l">
              <a:spcBef>
                <a:spcPts val="0"/>
              </a:spcBef>
              <a:spcAft>
                <a:spcPts val="0"/>
              </a:spcAft>
              <a:buNone/>
            </a:pPr>
            <a:r>
              <a:rPr lang="en" u="sng">
                <a:solidFill>
                  <a:schemeClr val="hlink"/>
                </a:solidFill>
                <a:hlinkClick r:id="rId6"/>
              </a:rPr>
              <a:t>https://www.linkedin.com/pulse/evaluating-large-language-models-llms-standard-set-metrics-biswas-ecjlc/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72bf8695ac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272bf8695ac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72bf8695ac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72bf8695ac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https://python.langchain.com/v0.1/docs/integrations/llms/</a:t>
            </a:r>
            <a:endParaRPr/>
          </a:p>
          <a:p>
            <a:pPr indent="0" lvl="0" marL="0" rtl="0" algn="l">
              <a:spcBef>
                <a:spcPts val="0"/>
              </a:spcBef>
              <a:spcAft>
                <a:spcPts val="0"/>
              </a:spcAft>
              <a:buNone/>
            </a:pPr>
            <a:r>
              <a:rPr lang="en" u="sng">
                <a:solidFill>
                  <a:schemeClr val="hlink"/>
                </a:solidFill>
                <a:hlinkClick r:id="rId3"/>
              </a:rPr>
              <a:t>https://towardsdatascience.com/everything-you-need-to-know-about-activation-functions-in-deep-learning-models-84ba9f82c253</a:t>
            </a:r>
            <a:endParaRPr/>
          </a:p>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272bf8695ac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272bf8695ac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272bf8695ac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272bf8695ac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72bf8695ac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72bf8695ac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272bf8695ac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272bf8695ac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72bf8695ac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72bf8695ac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72bf8695ac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272bf8695ac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72bf8695ac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72bf8695ac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72bf8695ac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72bf8695ac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https://python.langchain.com/v0.1/docs/integrations/llms/</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72bf8695ac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272bf8695ac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https://zapier.com/blog/best-llm/</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272bf8695ac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272bf8695ac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272bf8695ac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272bf8695ac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72bf8695ac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272bf8695ac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272bf8695ac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272bf8695ac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272bf8695ac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272bf8695ac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72bf8695ac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72bf8695ac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272bf8695ac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272bf8695ac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272bf8695ac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272bf8695ac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272bf8695ac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272bf8695ac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72bf8695ac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72bf8695ac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72bf8695ac_0_1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272bf8695ac_0_1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72bf8695ac_0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72bf8695ac_0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272bf8695ac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272bf8695ac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https://app.dataquest.io/c/168/m/895/introduction-to-ai-chatbots-with-chandra/4/machine-learning?path=30&amp;slug=generative-ai-fundamentals-skill&amp;version=1</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https://www.w3schools.com/python/trypython.asp?filename=demo_default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272bf8695ac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272bf8695ac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4" name="Shape 124"/>
        <p:cNvGrpSpPr/>
        <p:nvPr/>
      </p:nvGrpSpPr>
      <p:grpSpPr>
        <a:xfrm>
          <a:off x="0" y="0"/>
          <a:ext cx="0" cy="0"/>
          <a:chOff x="0" y="0"/>
          <a:chExt cx="0" cy="0"/>
        </a:xfrm>
      </p:grpSpPr>
      <p:sp>
        <p:nvSpPr>
          <p:cNvPr id="125" name="Google Shape;125;p13"/>
          <p:cNvSpPr txBox="1"/>
          <p:nvPr>
            <p:ph type="title"/>
          </p:nvPr>
        </p:nvSpPr>
        <p:spPr>
          <a:xfrm>
            <a:off x="609600" y="285750"/>
            <a:ext cx="8153400" cy="8574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126" name="Google Shape;126;p13"/>
          <p:cNvSpPr txBox="1"/>
          <p:nvPr>
            <p:ph idx="1" type="body"/>
          </p:nvPr>
        </p:nvSpPr>
        <p:spPr>
          <a:xfrm>
            <a:off x="609600" y="1200150"/>
            <a:ext cx="8153400" cy="34290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accent2"/>
              </a:buClr>
              <a:buSzPts val="1800"/>
              <a:buChar char="●"/>
              <a:defRPr/>
            </a:lvl1pPr>
            <a:lvl2pPr indent="-342900" lvl="1" marL="914400" rtl="0" algn="l">
              <a:spcBef>
                <a:spcPts val="360"/>
              </a:spcBef>
              <a:spcAft>
                <a:spcPts val="0"/>
              </a:spcAft>
              <a:buClr>
                <a:schemeClr val="accent2"/>
              </a:buClr>
              <a:buSzPts val="1800"/>
              <a:buChar char="○"/>
              <a:defRPr/>
            </a:lvl2pPr>
            <a:lvl3pPr indent="-342900" lvl="2" marL="1371600" rtl="0" algn="l">
              <a:spcBef>
                <a:spcPts val="360"/>
              </a:spcBef>
              <a:spcAft>
                <a:spcPts val="0"/>
              </a:spcAft>
              <a:buClr>
                <a:srgbClr val="666699"/>
              </a:buClr>
              <a:buSzPts val="1800"/>
              <a:buChar char="■"/>
              <a:defRPr/>
            </a:lvl3pPr>
            <a:lvl4pPr indent="-342900" lvl="3" marL="1828800" rtl="0" algn="l">
              <a:spcBef>
                <a:spcPts val="360"/>
              </a:spcBef>
              <a:spcAft>
                <a:spcPts val="0"/>
              </a:spcAft>
              <a:buClr>
                <a:schemeClr val="accent2"/>
              </a:buClr>
              <a:buSzPts val="1800"/>
              <a:buChar char="●"/>
              <a:defRPr/>
            </a:lvl4pPr>
            <a:lvl5pPr indent="-342900" lvl="4" marL="2286000" rtl="0" algn="l">
              <a:spcBef>
                <a:spcPts val="360"/>
              </a:spcBef>
              <a:spcAft>
                <a:spcPts val="0"/>
              </a:spcAft>
              <a:buClr>
                <a:srgbClr val="666699"/>
              </a:buClr>
              <a:buSzPts val="1800"/>
              <a:buChar char="○"/>
              <a:defRPr/>
            </a:lvl5pPr>
            <a:lvl6pPr indent="-342900" lvl="5" marL="2743200" rtl="0" algn="l">
              <a:spcBef>
                <a:spcPts val="360"/>
              </a:spcBef>
              <a:spcAft>
                <a:spcPts val="0"/>
              </a:spcAft>
              <a:buClr>
                <a:srgbClr val="666699"/>
              </a:buClr>
              <a:buSzPts val="1800"/>
              <a:buChar char="■"/>
              <a:defRPr/>
            </a:lvl6pPr>
            <a:lvl7pPr indent="-342900" lvl="6" marL="3200400" rtl="0" algn="l">
              <a:spcBef>
                <a:spcPts val="360"/>
              </a:spcBef>
              <a:spcAft>
                <a:spcPts val="0"/>
              </a:spcAft>
              <a:buClr>
                <a:srgbClr val="666699"/>
              </a:buClr>
              <a:buSzPts val="1800"/>
              <a:buChar char="●"/>
              <a:defRPr/>
            </a:lvl7pPr>
            <a:lvl8pPr indent="-342900" lvl="7" marL="3657600" rtl="0" algn="l">
              <a:spcBef>
                <a:spcPts val="360"/>
              </a:spcBef>
              <a:spcAft>
                <a:spcPts val="0"/>
              </a:spcAft>
              <a:buClr>
                <a:srgbClr val="666699"/>
              </a:buClr>
              <a:buSzPts val="1800"/>
              <a:buChar char="○"/>
              <a:defRPr/>
            </a:lvl8pPr>
            <a:lvl9pPr indent="-342900" lvl="8" marL="4114800" rtl="0" algn="l">
              <a:spcBef>
                <a:spcPts val="360"/>
              </a:spcBef>
              <a:spcAft>
                <a:spcPts val="0"/>
              </a:spcAft>
              <a:buClr>
                <a:srgbClr val="666699"/>
              </a:buClr>
              <a:buSzPts val="1800"/>
              <a:buChar char="■"/>
              <a:defRPr/>
            </a:lvl9pPr>
          </a:lstStyle>
          <a:p/>
        </p:txBody>
      </p:sp>
      <p:sp>
        <p:nvSpPr>
          <p:cNvPr id="127" name="Google Shape;127;p13"/>
          <p:cNvSpPr txBox="1"/>
          <p:nvPr>
            <p:ph idx="11" type="ftr"/>
          </p:nvPr>
        </p:nvSpPr>
        <p:spPr>
          <a:xfrm>
            <a:off x="685800" y="4686300"/>
            <a:ext cx="4191000" cy="342900"/>
          </a:xfrm>
          <a:prstGeom prst="rect">
            <a:avLst/>
          </a:prstGeom>
          <a:noFill/>
          <a:ln>
            <a:noFill/>
          </a:ln>
        </p:spPr>
        <p:txBody>
          <a:bodyPr anchorCtr="0" anchor="b" bIns="45700" lIns="91425" spcFirstLastPara="1" rIns="91425" wrap="square" tIns="45700">
            <a:noAutofit/>
          </a:bodyPr>
          <a:lstStyle>
            <a:lvl1pPr lvl="0" rtl="0" algn="l">
              <a:lnSpc>
                <a:spcPct val="100000"/>
              </a:lnSpc>
              <a:spcBef>
                <a:spcPts val="0"/>
              </a:spcBef>
              <a:spcAft>
                <a:spcPts val="0"/>
              </a:spcAft>
              <a:buSzPts val="1400"/>
              <a:buNone/>
              <a:defRPr sz="1000">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8" name="Google Shape;128;p13"/>
          <p:cNvSpPr txBox="1"/>
          <p:nvPr>
            <p:ph idx="12" type="sldNum"/>
          </p:nvPr>
        </p:nvSpPr>
        <p:spPr>
          <a:xfrm>
            <a:off x="69342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linkedin.com/in/pusulurisrinivas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uc.edu/content/dam/refresh/cont-ed-62/olli/fall-23-class-handouts/refined%20intro.pdf" TargetMode="External"/><Relationship Id="rId4" Type="http://schemas.openxmlformats.org/officeDocument/2006/relationships/hyperlink" Target="https://www.ime.usp.br/~yoshi/Sedgewick/cos226.2007/FULL.pdf" TargetMode="External"/><Relationship Id="rId5" Type="http://schemas.openxmlformats.org/officeDocument/2006/relationships/hyperlink" Target="https://www.slideshare.net/slideshow/chapter-1-basic-concepts-of-programmingpdf/257863341" TargetMode="External"/><Relationship Id="rId6" Type="http://schemas.openxmlformats.org/officeDocument/2006/relationships/hyperlink" Target="https://www.tutorialspoint.com/object_oriented_python/object_oriented_python_tutorial.pdf" TargetMode="External"/><Relationship Id="rId7" Type="http://schemas.openxmlformats.org/officeDocument/2006/relationships/hyperlink" Target="https://www.diva-portal.org/smash/get/diva2:1355073/FULLTEXT01.pdf" TargetMode="External"/><Relationship Id="rId8" Type="http://schemas.openxmlformats.org/officeDocument/2006/relationships/hyperlink" Target="https://arxiv.org/pdf/1504.00693" TargetMode="External"/></Relationships>
</file>

<file path=ppt/slides/_rels/slide4.xml.rels><?xml version="1.0" encoding="UTF-8" standalone="yes"?><Relationships xmlns="http://schemas.openxmlformats.org/package/2006/relationships"><Relationship Id="rId11" Type="http://schemas.openxmlformats.org/officeDocument/2006/relationships/hyperlink" Target="https://aistudio.google.com/app/prompts/new_chat" TargetMode="External"/><Relationship Id="rId10" Type="http://schemas.openxmlformats.org/officeDocument/2006/relationships/hyperlink" Target="https://ai.meta.com/meta-ai/" TargetMode="External"/><Relationship Id="rId13" Type="http://schemas.openxmlformats.org/officeDocument/2006/relationships/hyperlink" Target="https://github.com" TargetMode="External"/><Relationship Id="rId12" Type="http://schemas.openxmlformats.org/officeDocument/2006/relationships/hyperlink" Target="https://colab.research.google.com/" TargetMode="External"/><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python.org/downloads/" TargetMode="External"/><Relationship Id="rId4" Type="http://schemas.openxmlformats.org/officeDocument/2006/relationships/hyperlink" Target="https://www.programiz.com/python-programming/online-compiler/" TargetMode="External"/><Relationship Id="rId9" Type="http://schemas.openxmlformats.org/officeDocument/2006/relationships/hyperlink" Target="https://ai.meta.com/meta-ai/" TargetMode="External"/><Relationship Id="rId15" Type="http://schemas.openxmlformats.org/officeDocument/2006/relationships/hyperlink" Target="https://www.oracle.com/java/technologies/downloads/" TargetMode="External"/><Relationship Id="rId14" Type="http://schemas.openxmlformats.org/officeDocument/2006/relationships/hyperlink" Target="https://www.salesforce.com/form/signup/freetrial-elf-v2/?d=7013y000002ExlEAAS&amp;nc=7013y000002EyXhAAK&amp;utm_content=7013y000002ExlEAAS&amp;utm_source=google&amp;utm_medium=paid_search&amp;utm_campaign=21138460510&amp;utm_adgroup=158697143405&amp;utm_term=salesforce%20trial&amp;utm_matchtype=e&amp;gad_source=1&amp;gclid=Cj0KCQjwpNuyBhCuARIsANJqL9O3kh2CZ2VpB77n4Zbh0lEL8fOFBRTXJRIABLn3iHmC6jH4VC_3tDsaAiPCEALw_wcB&amp;gclsrc=aw.ds" TargetMode="External"/><Relationship Id="rId5" Type="http://schemas.openxmlformats.org/officeDocument/2006/relationships/hyperlink" Target="https://code.visualstudio.com/docs/setup/setup-overview" TargetMode="External"/><Relationship Id="rId6" Type="http://schemas.openxmlformats.org/officeDocument/2006/relationships/hyperlink" Target="https://docs.jupyter.org/en/latest/install.html" TargetMode="External"/><Relationship Id="rId7" Type="http://schemas.openxmlformats.org/officeDocument/2006/relationships/hyperlink" Target="https://platform.openai.com/" TargetMode="External"/><Relationship Id="rId8" Type="http://schemas.openxmlformats.org/officeDocument/2006/relationships/hyperlink" Target="https://chat.openai.com/?ss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linkedin.com/jobs/search/?currentJobId=3902755247&amp;keywords=AI%20python%20LLM%20DL%20ML%20prompt&amp;origin=SWITCH_SEARCH_VERTICAL" TargetMode="External"/><Relationship Id="rId4" Type="http://schemas.openxmlformats.org/officeDocument/2006/relationships/hyperlink" Target="https://www.linkedin.com/jobs/search/?currentJobId=3919768941&amp;geoId=103644278&amp;keywords=%22%20prompt%20engineer%22&amp;location=United%20States&amp;origin=JOB_SEARCH_PAGE_SEARCH_BUTTON&amp;refresh=true" TargetMode="External"/><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en.wikipedia.org/wiki/Artificial_intelligence" TargetMode="External"/><Relationship Id="rId4" Type="http://schemas.openxmlformats.org/officeDocument/2006/relationships/hyperlink" Target="https://en.wikipedia.org/wiki/Machine_learning" TargetMode="External"/><Relationship Id="rId5" Type="http://schemas.openxmlformats.org/officeDocument/2006/relationships/hyperlink" Target="https://en.wikipedia.org/wiki/Deep_learning" TargetMode="External"/><Relationship Id="rId6" Type="http://schemas.openxmlformats.org/officeDocument/2006/relationships/hyperlink" Target="https://en.wikipedia.org/wiki/Large_language_model" TargetMode="External"/><Relationship Id="rId7" Type="http://schemas.openxmlformats.org/officeDocument/2006/relationships/hyperlink" Target="https://en.wikipedia.org/wiki/Generative_artificial_intelligence" TargetMode="External"/></Relationships>
</file>

<file path=ppt/slides/_rels/slide13.xml.rels><?xml version="1.0" encoding="UTF-8" standalone="yes"?><Relationships xmlns="http://schemas.openxmlformats.org/package/2006/relationships"><Relationship Id="rId11" Type="http://schemas.openxmlformats.org/officeDocument/2006/relationships/hyperlink" Target="https://en.wikipedia.org/wiki/Machine_learning" TargetMode="External"/><Relationship Id="rId10" Type="http://schemas.openxmlformats.org/officeDocument/2006/relationships/hyperlink" Target="https://en.wikipedia.org/wiki/Machine_perception" TargetMode="External"/><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en.wikipedia.org/wiki/Artificial_intelligence" TargetMode="External"/><Relationship Id="rId4" Type="http://schemas.openxmlformats.org/officeDocument/2006/relationships/hyperlink" Target="https://en.wikipedia.org/wiki/Intelligence" TargetMode="External"/><Relationship Id="rId9" Type="http://schemas.openxmlformats.org/officeDocument/2006/relationships/hyperlink" Target="https://en.wikipedia.org/wiki/Software" TargetMode="External"/><Relationship Id="rId5" Type="http://schemas.openxmlformats.org/officeDocument/2006/relationships/hyperlink" Target="https://en.wikipedia.org/wiki/Machine" TargetMode="External"/><Relationship Id="rId6" Type="http://schemas.openxmlformats.org/officeDocument/2006/relationships/hyperlink" Target="https://en.wikipedia.org/wiki/Computer_systems" TargetMode="External"/><Relationship Id="rId7" Type="http://schemas.openxmlformats.org/officeDocument/2006/relationships/hyperlink" Target="https://en.wikipedia.org/wiki/Field_of_research" TargetMode="External"/><Relationship Id="rId8" Type="http://schemas.openxmlformats.org/officeDocument/2006/relationships/hyperlink" Target="https://en.wikipedia.org/wiki/Computer_science" TargetMode="External"/></Relationships>
</file>

<file path=ppt/slides/_rels/slide14.xml.rels><?xml version="1.0" encoding="UTF-8" standalone="yes"?><Relationships xmlns="http://schemas.openxmlformats.org/package/2006/relationships"><Relationship Id="rId10" Type="http://schemas.openxmlformats.org/officeDocument/2006/relationships/hyperlink" Target="https://en.wikipedia.org/wiki/Machine_code" TargetMode="External"/><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en.wikipedia.org/wiki/Machine_learning" TargetMode="External"/><Relationship Id="rId4" Type="http://schemas.openxmlformats.org/officeDocument/2006/relationships/hyperlink" Target="https://en.wikipedia.org/wiki/Field_of_study" TargetMode="External"/><Relationship Id="rId9" Type="http://schemas.openxmlformats.org/officeDocument/2006/relationships/hyperlink" Target="https://en.wikipedia.org/wiki/Task_(computing)" TargetMode="External"/><Relationship Id="rId5" Type="http://schemas.openxmlformats.org/officeDocument/2006/relationships/hyperlink" Target="https://en.wikipedia.org/wiki/Artificial_intelligence" TargetMode="External"/><Relationship Id="rId6" Type="http://schemas.openxmlformats.org/officeDocument/2006/relationships/hyperlink" Target="https://en.wikipedia.org/wiki/Computational_statistics" TargetMode="External"/><Relationship Id="rId7" Type="http://schemas.openxmlformats.org/officeDocument/2006/relationships/hyperlink" Target="https://en.wikipedia.org/wiki/Data" TargetMode="External"/><Relationship Id="rId8" Type="http://schemas.openxmlformats.org/officeDocument/2006/relationships/hyperlink" Target="https://en.wikipedia.org/wiki/Generaliz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en.wikipedia.org/wiki/Deep_learning" TargetMode="External"/><Relationship Id="rId4" Type="http://schemas.openxmlformats.org/officeDocument/2006/relationships/hyperlink" Target="https://en.wikipedia.org/wiki/Machine_learning" TargetMode="External"/><Relationship Id="rId9" Type="http://schemas.openxmlformats.org/officeDocument/2006/relationships/hyperlink" Target="https://en.wikipedia.org/wiki/Unsupervised_learning" TargetMode="External"/><Relationship Id="rId5" Type="http://schemas.openxmlformats.org/officeDocument/2006/relationships/hyperlink" Target="https://en.wikipedia.org/wiki/Neural_network_(machine_learning)" TargetMode="External"/><Relationship Id="rId6" Type="http://schemas.openxmlformats.org/officeDocument/2006/relationships/hyperlink" Target="https://en.wikipedia.org/wiki/Representation_learning" TargetMode="External"/><Relationship Id="rId7" Type="http://schemas.openxmlformats.org/officeDocument/2006/relationships/hyperlink" Target="https://en.wikipedia.org/wiki/Supervised_learning" TargetMode="External"/><Relationship Id="rId8" Type="http://schemas.openxmlformats.org/officeDocument/2006/relationships/hyperlink" Target="https://en.wikipedia.org/wiki/Semi-supervised_learn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en.wikipedia.org/wiki/Large_language_model" TargetMode="External"/><Relationship Id="rId4" Type="http://schemas.openxmlformats.org/officeDocument/2006/relationships/hyperlink" Target="https://en.wikipedia.org/wiki/Language_model" TargetMode="External"/><Relationship Id="rId5" Type="http://schemas.openxmlformats.org/officeDocument/2006/relationships/hyperlink" Target="https://en.wikipedia.org/wiki/Self-supervised_learning" TargetMode="External"/><Relationship Id="rId6" Type="http://schemas.openxmlformats.org/officeDocument/2006/relationships/hyperlink" Target="https://en.wikipedia.org/wiki/Semi-supervised_learning" TargetMode="External"/><Relationship Id="rId7" Type="http://schemas.openxmlformats.org/officeDocument/2006/relationships/hyperlink" Target="https://en.wikipedia.org/wiki/Large_language_model#cite_note-:7-1" TargetMode="External"/><Relationship Id="rId8" Type="http://schemas.openxmlformats.org/officeDocument/2006/relationships/hyperlink" Target="https://en.wikipedia.org/wiki/Generative_artificial_intelligen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en.wikipedia.org/wiki/Generative_artificial_intelligence" TargetMode="External"/><Relationship Id="rId4" Type="http://schemas.openxmlformats.org/officeDocument/2006/relationships/hyperlink" Target="https://en.wikipedia.org/wiki/Artificial_intelligence" TargetMode="External"/><Relationship Id="rId5" Type="http://schemas.openxmlformats.org/officeDocument/2006/relationships/hyperlink" Target="https://en.wikipedia.org/wiki/Generative_model" TargetMode="External"/><Relationship Id="rId6" Type="http://schemas.openxmlformats.org/officeDocument/2006/relationships/hyperlink" Target="https://en.wikipedia.org/wiki/Prompt_(natural_language)" TargetMode="External"/><Relationship Id="rId7" Type="http://schemas.openxmlformats.org/officeDocument/2006/relationships/hyperlink" Target="https://en.wikipedia.org/wiki/Machine_learning" TargetMode="External"/><Relationship Id="rId8" Type="http://schemas.openxmlformats.org/officeDocument/2006/relationships/hyperlink" Target="https://en.wikipedia.org/wiki/Training_data_se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github.com/srinipusuluri/pythonllm/blob/main/chatbot.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drive.google.com/file/d/10mCbYemqpp3BNXjluxn19-zKV5-fBYlh/view" TargetMode="Externa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31.png"/><Relationship Id="rId5" Type="http://schemas.openxmlformats.org/officeDocument/2006/relationships/image" Target="../media/image4.png"/><Relationship Id="rId6"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en.wikipedia.org/wiki/Guido_van_Rossum" TargetMode="External"/><Relationship Id="rId4" Type="http://schemas.openxmlformats.org/officeDocument/2006/relationships/hyperlink" Target="https://www.dice.com/technologists/ebooks/guide-to-ai-jobs-career/jobs-in-artificial-intelligence.html" TargetMode="External"/><Relationship Id="rId5" Type="http://schemas.openxmlformats.org/officeDocument/2006/relationships/hyperlink" Target="https://en.wikipedia.org/wiki/Comparison_of_programming_languages#:~:text=Application%2C%20general%2C%20web%2C%20scripting%2C%20artificial%20intelligence%2C%20scientific%20computin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docs.python.org/3/tutorial/" TargetMode="External"/><Relationship Id="rId4" Type="http://schemas.openxmlformats.org/officeDocument/2006/relationships/hyperlink" Target="https://assets.openstax.org/oscms-prodcms/media/documents/Introduction_to_Python_Programming_-_WEB.pdf" TargetMode="External"/><Relationship Id="rId9" Type="http://schemas.openxmlformats.org/officeDocument/2006/relationships/hyperlink" Target="https://medium.com/coders-camp/230-machine-learning-projects-with-python-5d0c7abf8265" TargetMode="External"/><Relationship Id="rId5" Type="http://schemas.openxmlformats.org/officeDocument/2006/relationships/hyperlink" Target="https://cfm.ehu.es/ricardo/docs/python/Learning_Python.pdf" TargetMode="External"/><Relationship Id="rId6" Type="http://schemas.openxmlformats.org/officeDocument/2006/relationships/hyperlink" Target="https://www.python.org/downloads/" TargetMode="External"/><Relationship Id="rId7" Type="http://schemas.openxmlformats.org/officeDocument/2006/relationships/hyperlink" Target="https://www.programiz.com/python-programming/online-compiler/" TargetMode="External"/><Relationship Id="rId8" Type="http://schemas.openxmlformats.org/officeDocument/2006/relationships/hyperlink" Target="https://realpython.com/tutorials/project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1" Type="http://schemas.openxmlformats.org/officeDocument/2006/relationships/hyperlink" Target="https://docs.python.org/3/tutorial/classes.html#inheritance" TargetMode="External"/><Relationship Id="rId10" Type="http://schemas.openxmlformats.org/officeDocument/2006/relationships/hyperlink" Target="https://docs.python.org/3/tutorial/classes.html" TargetMode="External"/><Relationship Id="rId13" Type="http://schemas.openxmlformats.org/officeDocument/2006/relationships/hyperlink" Target="https://www.python.org/downloads/" TargetMode="External"/><Relationship Id="rId12" Type="http://schemas.openxmlformats.org/officeDocument/2006/relationships/hyperlink" Target="https://docs.python.org/3/tutorial/stdlib2.html#templating" TargetMode="External"/><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docs.python.org/3/tutorial/datastructures.html" TargetMode="External"/><Relationship Id="rId4" Type="http://schemas.openxmlformats.org/officeDocument/2006/relationships/hyperlink" Target="https://docs.python.org/3/tutorial/controlflow.html" TargetMode="External"/><Relationship Id="rId9" Type="http://schemas.openxmlformats.org/officeDocument/2006/relationships/hyperlink" Target="https://docs.python.org/3/tutorial/inputoutput.html" TargetMode="External"/><Relationship Id="rId14" Type="http://schemas.openxmlformats.org/officeDocument/2006/relationships/hyperlink" Target="https://docs.python.org/3/tutorial/venv.html" TargetMode="External"/><Relationship Id="rId5" Type="http://schemas.openxmlformats.org/officeDocument/2006/relationships/hyperlink" Target="https://docs.python.org/3/tutorial/errors.html#exceptions" TargetMode="External"/><Relationship Id="rId6" Type="http://schemas.openxmlformats.org/officeDocument/2006/relationships/hyperlink" Target="https://docs.python.org/3/tutorial/controlflow.html#more-on-defining-functions" TargetMode="External"/><Relationship Id="rId7" Type="http://schemas.openxmlformats.org/officeDocument/2006/relationships/hyperlink" Target="https://docs.python.org/3/tutorial/modules.html" TargetMode="External"/><Relationship Id="rId8" Type="http://schemas.openxmlformats.org/officeDocument/2006/relationships/hyperlink" Target="https://docs.python.org/3/tutorial/modules.html#packages" TargetMode="External"/></Relationships>
</file>

<file path=ppt/slides/_rels/slide46.xml.rels><?xml version="1.0" encoding="UTF-8" standalone="yes"?><Relationships xmlns="http://schemas.openxmlformats.org/package/2006/relationships"><Relationship Id="rId11" Type="http://schemas.openxmlformats.org/officeDocument/2006/relationships/hyperlink" Target="https://keras.io/examples/" TargetMode="External"/><Relationship Id="rId10" Type="http://schemas.openxmlformats.org/officeDocument/2006/relationships/hyperlink" Target="https://pytorch.org/docs/stable/index.html" TargetMode="External"/><Relationship Id="rId13" Type="http://schemas.openxmlformats.org/officeDocument/2006/relationships/hyperlink" Target="https://developer.mozilla.org/en-US/docs/Learn/Server-side/Django/Tutorial_local_library_website" TargetMode="External"/><Relationship Id="rId12" Type="http://schemas.openxmlformats.org/officeDocument/2006/relationships/hyperlink" Target="https://flask.palletsprojects.com/en/3.0.x/" TargetMode="External"/><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docs.python.org/3/library/index.html" TargetMode="External"/><Relationship Id="rId4" Type="http://schemas.openxmlformats.org/officeDocument/2006/relationships/hyperlink" Target="https://pandas.pydata.org/docs/user_guide/index.html" TargetMode="External"/><Relationship Id="rId9" Type="http://schemas.openxmlformats.org/officeDocument/2006/relationships/hyperlink" Target="https://www.tensorflow.org/guide" TargetMode="External"/><Relationship Id="rId15" Type="http://schemas.openxmlformats.org/officeDocument/2006/relationships/hyperlink" Target="https://platform.openai.com/docs/api-reference/introduction" TargetMode="External"/><Relationship Id="rId14" Type="http://schemas.openxmlformats.org/officeDocument/2006/relationships/hyperlink" Target="https://streamlit.io/components" TargetMode="External"/><Relationship Id="rId16" Type="http://schemas.openxmlformats.org/officeDocument/2006/relationships/hyperlink" Target="https://python.langchain.com/v0.2/docs/introduction/" TargetMode="External"/><Relationship Id="rId5" Type="http://schemas.openxmlformats.org/officeDocument/2006/relationships/hyperlink" Target="https://numpy.org/doc/stable/user/index.html#user" TargetMode="External"/><Relationship Id="rId6" Type="http://schemas.openxmlformats.org/officeDocument/2006/relationships/hyperlink" Target="https://matplotlib.org/stable/gallery/lines_bars_and_markers/barh.html#sphx-glr-gallery-lines-bars-and-markers-barh-py" TargetMode="External"/><Relationship Id="rId7" Type="http://schemas.openxmlformats.org/officeDocument/2006/relationships/hyperlink" Target="https://docs.scipy.org/doc/scipy/" TargetMode="External"/><Relationship Id="rId8" Type="http://schemas.openxmlformats.org/officeDocument/2006/relationships/hyperlink" Target="https://scikit-learn.org/stabl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https://github.com/srinipusuluri/pythonllm/blob/main/oops.py"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4.png"/></Relationships>
</file>

<file path=ppt/slides/_rels/slide72.xml.rels><?xml version="1.0" encoding="UTF-8" standalone="yes"?><Relationships xmlns="http://schemas.openxmlformats.org/package/2006/relationships"><Relationship Id="rId11" Type="http://schemas.openxmlformats.org/officeDocument/2006/relationships/hyperlink" Target="https://github.com/srinipusuluri/pythonllm/blob/main/controlflow.py" TargetMode="External"/><Relationship Id="rId10" Type="http://schemas.openxmlformats.org/officeDocument/2006/relationships/hyperlink" Target="https://github.com/srinipusuluri/pythonllm/blob/main/dictionary.py" TargetMode="External"/><Relationship Id="rId13" Type="http://schemas.openxmlformats.org/officeDocument/2006/relationships/hyperlink" Target="https://github.com/srinipusuluri/pythonllm/blob/main/fileio.py" TargetMode="External"/><Relationship Id="rId12" Type="http://schemas.openxmlformats.org/officeDocument/2006/relationships/hyperlink" Target="https://github.com/srinipusuluri/pythonllm/blob/main/functions.py" TargetMode="External"/><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s://github.com/srinipusuluri/pythonllm/blob/main/py_variables.py" TargetMode="External"/><Relationship Id="rId4" Type="http://schemas.openxmlformats.org/officeDocument/2006/relationships/hyperlink" Target="https://github.com/srinipusuluri/pythonllm/blob/main/py_operators.py" TargetMode="External"/><Relationship Id="rId9" Type="http://schemas.openxmlformats.org/officeDocument/2006/relationships/hyperlink" Target="https://github.com/srinipusuluri/pythonllm/blob/main/date.py" TargetMode="External"/><Relationship Id="rId15" Type="http://schemas.openxmlformats.org/officeDocument/2006/relationships/hyperlink" Target="https://github.com/srinipusuluri/pythonllm/blob/main/class-pandas.py" TargetMode="External"/><Relationship Id="rId14" Type="http://schemas.openxmlformats.org/officeDocument/2006/relationships/hyperlink" Target="https://github.com/srinipusuluri/pythonllm/blob/main/numpy-class.py" TargetMode="External"/><Relationship Id="rId17" Type="http://schemas.openxmlformats.org/officeDocument/2006/relationships/hyperlink" Target="https://github.com/srinipusuluri/pythonllm/blob/main/Python-Project1.py" TargetMode="External"/><Relationship Id="rId16" Type="http://schemas.openxmlformats.org/officeDocument/2006/relationships/hyperlink" Target="https://github.com/srinipusuluri/pythonllm/blob/main/class-pytorch.py" TargetMode="External"/><Relationship Id="rId5" Type="http://schemas.openxmlformats.org/officeDocument/2006/relationships/hyperlink" Target="https://github.com/srinipusuluri/pythonllm/blob/main/string.py" TargetMode="External"/><Relationship Id="rId6" Type="http://schemas.openxmlformats.org/officeDocument/2006/relationships/hyperlink" Target="https://github.com/srinipusuluri/pythonllm/blob/main/list.py" TargetMode="External"/><Relationship Id="rId7" Type="http://schemas.openxmlformats.org/officeDocument/2006/relationships/hyperlink" Target="https://github.com/srinipusuluri/pythonllm/blob/main/set.py" TargetMode="External"/><Relationship Id="rId8" Type="http://schemas.openxmlformats.org/officeDocument/2006/relationships/hyperlink" Target="https://github.com/srinipusuluri/pythonllm/blob/main/tuple.py"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hyperlink" Target="https://en.wikipedia.org/wiki/Transformer_(deep_learning_architecture)" TargetMode="External"/><Relationship Id="rId4"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hyperlink" Target="https://blog.research.google/2017/08/transformer-novel-neural-network.html" TargetMode="External"/><Relationship Id="rId4" Type="http://schemas.openxmlformats.org/officeDocument/2006/relationships/hyperlink" Target="https://www.cloudflare.com/learning/ai/what-is-generative-ai/"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hyperlink" Target="https://balasahebtarle.wordpress.com/wp-content/uploads/2020/01/machine-learning-algorithms_text-book.pdf"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hyperlink" Target="https://balasahebtarle.wordpress.com/wp-content/uploads/2020/01/machine-learning-algorithms_text-book.pdf"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hyperlink" Target="https://balasahebtarle.wordpress.com/wp-content/uploads/2020/01/machine-learning-algorithms_text-book.pdf"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hyperlink" Target="https://balasahebtarle.wordpress.com/wp-content/uploads/2020/01/machine-learning-algorithms_text-book.pdf"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hyperlink" Target="https://balasahebtarle.wordpress.com/wp-content/uploads/2020/01/machine-learning-algorithms_text-book.pdf"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hyperlink" Target="https://balasahebtarle.wordpress.com/wp-content/uploads/2020/01/machine-learning-algorithms_text-book.pdf"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hyperlink" Target="https://balasahebtarle.wordpress.com/wp-content/uploads/2020/01/machine-learning-algorithms_text-book.pdf"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hyperlink" Target="https://balasahebtarle.wordpress.com/wp-content/uploads/2020/01/machine-learning-algorithms_text-book.pdf"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hyperlink" Target="https://github.com/srinipusuluri/pythonllm/blob/main/mlalgos.txt" TargetMode="External"/><Relationship Id="rId4" Type="http://schemas.openxmlformats.org/officeDocument/2006/relationships/hyperlink" Target="https://github.com/srinipusuluri/pythonllm/tree/main" TargetMode="External"/><Relationship Id="rId5" Type="http://schemas.openxmlformats.org/officeDocument/2006/relationships/hyperlink" Target="https://github.com/srinipusuluri/pythonllm/blob/main/ML-LinearRegression.py"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s://blogs.nvidia.com/blog/what-is-a-transformer-model/"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2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2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2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2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2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2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3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2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3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3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4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3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5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hyperlink" Target="https://en.wikipedia.org/wiki/Generative_AI" TargetMode="External"/><Relationship Id="rId4" Type="http://schemas.openxmlformats.org/officeDocument/2006/relationships/hyperlink" Target="https://en.wikipedia.org/wiki/Prompt_engineering#cite_note-diab-1" TargetMode="External"/><Relationship Id="rId5" Type="http://schemas.openxmlformats.org/officeDocument/2006/relationships/hyperlink" Target="https://en.wikipedia.org/wiki/Prompt_engineering#cite_note-2" TargetMode="External"/><Relationship Id="rId6" Type="http://schemas.openxmlformats.org/officeDocument/2006/relationships/hyperlink" Target="https://en.wikipedia.org/wiki/Natural_language"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3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4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3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hyperlink" Target="https://developers.google.com/machine-learning/resources/prompt-eng"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37.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4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3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hyperlink" Target="https://www.promptingguide.ai/"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4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hyperlink" Target="https://platform.openai.com/docs/quickstart" TargetMode="External"/><Relationship Id="rId4" Type="http://schemas.openxmlformats.org/officeDocument/2006/relationships/hyperlink" Target="https://platform.openai.com/organization/api-keys"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1" Type="http://schemas.openxmlformats.org/officeDocument/2006/relationships/hyperlink" Target="https://kili-technology.com/large-language-models-llms/9-open-sourced-datasets-for-training-large-language-models#9.-red-pajama" TargetMode="External"/><Relationship Id="rId10" Type="http://schemas.openxmlformats.org/officeDocument/2006/relationships/hyperlink" Target="https://kili-technology.com/large-language-models-llms/9-open-sourced-datasets-for-training-large-language-models#8.-wikipedia" TargetMode="External"/><Relationship Id="rId12" Type="http://schemas.openxmlformats.org/officeDocument/2006/relationships/hyperlink" Target="https://kili-technology.com/large-language-models-llms/9-open-sourced-datasets-for-training-large-language-models#27" TargetMode="External"/><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hyperlink" Target="https://kili-technology.com/large-language-models-llms/9-open-sourced-datasets-for-training-large-language-models#1.-common-crawl" TargetMode="External"/><Relationship Id="rId4" Type="http://schemas.openxmlformats.org/officeDocument/2006/relationships/hyperlink" Target="https://kili-technology.com/large-language-models-llms/9-open-sourced-datasets-for-training-large-language-models#2.-refinedweb" TargetMode="External"/><Relationship Id="rId9" Type="http://schemas.openxmlformats.org/officeDocument/2006/relationships/hyperlink" Target="https://kili-technology.com/large-language-models-llms/9-open-sourced-datasets-for-training-large-language-models#7.-roots" TargetMode="External"/><Relationship Id="rId5" Type="http://schemas.openxmlformats.org/officeDocument/2006/relationships/hyperlink" Target="https://kili-technology.com/large-language-models-llms/9-open-sourced-datasets-for-training-large-language-models#3.-the-pile" TargetMode="External"/><Relationship Id="rId6" Type="http://schemas.openxmlformats.org/officeDocument/2006/relationships/hyperlink" Target="https://kili-technology.com/large-language-models-llms/9-open-sourced-datasets-for-training-large-language-models#4.-c4" TargetMode="External"/><Relationship Id="rId7" Type="http://schemas.openxmlformats.org/officeDocument/2006/relationships/hyperlink" Target="https://kili-technology.com/large-language-models-llms/9-open-sourced-datasets-for-training-large-language-models#5.-starcoder-data" TargetMode="External"/><Relationship Id="rId8" Type="http://schemas.openxmlformats.org/officeDocument/2006/relationships/hyperlink" Target="https://kili-technology.com/large-language-models-llms/9-open-sourced-datasets-for-training-large-language-models#6.-bookcorpus"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hyperlink" Target="https://link.technologyadvice.com/r/openai-gpt-4" TargetMode="External"/><Relationship Id="rId4" Type="http://schemas.openxmlformats.org/officeDocument/2006/relationships/hyperlink" Target="https://link.technologyadvice.com/r/falcon-llm-main" TargetMode="External"/><Relationship Id="rId5" Type="http://schemas.openxmlformats.org/officeDocument/2006/relationships/hyperlink" Target="https://link.technologyadvice.com/r/meta-ai-llama-2" TargetMode="External"/><Relationship Id="rId6" Type="http://schemas.openxmlformats.org/officeDocument/2006/relationships/hyperlink" Target="https://link.technologyadvice.com/r/cohere-main" TargetMode="External"/><Relationship Id="rId7" Type="http://schemas.openxmlformats.org/officeDocument/2006/relationships/hyperlink" Target="https://link.technologyadvice.com/r/google-gemini" TargetMode="External"/><Relationship Id="rId8" Type="http://schemas.openxmlformats.org/officeDocument/2006/relationships/hyperlink" Target="https://link.technologyadvice.com/r/anthropic-claude" TargetMode="Externa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hyperlink" Target="https://chat.openai.com/?sso=" TargetMode="External"/><Relationship Id="rId4" Type="http://schemas.openxmlformats.org/officeDocument/2006/relationships/hyperlink" Target="https://ai.meta.com/meta-ai/" TargetMode="External"/><Relationship Id="rId5" Type="http://schemas.openxmlformats.org/officeDocument/2006/relationships/hyperlink" Target="https://copilot.microsoft.com/" TargetMode="External"/><Relationship Id="rId6" Type="http://schemas.openxmlformats.org/officeDocument/2006/relationships/hyperlink" Target="https://aistudio.google.com/app/prompts/new_chat"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hyperlink" Target="http://architecture" TargetMode="External"/><Relationship Id="rId4" Type="http://schemas.openxmlformats.org/officeDocument/2006/relationships/hyperlink" Target="https://symbl.ai/developers/blog/a-guide-to-comparing-different-llm-chaining-frameworks/" TargetMode="External"/><Relationship Id="rId5" Type="http://schemas.openxmlformats.org/officeDocument/2006/relationships/hyperlink" Target="https://www.snowflake.com/wp-content/uploads/2024/01/Generative-AI-and-LLMs-for-Dummies.pdf?gclid=CjwKCAjw3NyxBhBmEiwAyofDYYLV8yigmcyOCLJfTpbwPVWe3ruV__gZ2hOLo4uwe6pp9lKAP2kNdhoCsPAQAvD_BwE&amp;utm_campaign=na-us-en-nb-genaillm-phrase&amp;utm_source=google&amp;utm_term=c-g-llm-fine-tuning-p-690007389294&amp;utm_medium=paidsearch&amp;utm_content=go-rsa-evg-eb-generative-ai-and-llms-for-dummies&amp;gclid=CjwKCAjw3NyxBhBmEiwAyofDYYLV8yigmcyOCLJfTpbwPVWe3ruV__gZ2hOLo4uwe6pp9lKAP2kNdhoCsPAQAvD_BwE"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40.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hyperlink" Target="https://www.elastic.co/what-is/large-language-models" TargetMode="External"/><Relationship Id="rId4" Type="http://schemas.openxmlformats.org/officeDocument/2006/relationships/hyperlink" Target="https://aws.amazon.com/what-is/large-language-model/" TargetMode="External"/><Relationship Id="rId5" Type="http://schemas.openxmlformats.org/officeDocument/2006/relationships/hyperlink" Target="https://en.wikipedia.org/wiki/Large_language_model" TargetMode="External"/><Relationship Id="rId6" Type="http://schemas.openxmlformats.org/officeDocument/2006/relationships/hyperlink" Target="https://medium.com/@vipra_singh/building-llm-applications-introduction-part-1-1c90294b155b" TargetMode="External"/><Relationship Id="rId7" Type="http://schemas.openxmlformats.org/officeDocument/2006/relationships/hyperlink" Target="https://www.elastic.co/what-is/semantic-search" TargetMode="External"/><Relationship Id="rId8" Type="http://schemas.openxmlformats.org/officeDocument/2006/relationships/hyperlink" Target="https://arxiv.org/list/cs.AI/recent"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hyperlink" Target="https://platform.openai.com/docs/models/gpt-4-turbo-and-gpt-4" TargetMode="External"/><Relationship Id="rId4" Type="http://schemas.openxmlformats.org/officeDocument/2006/relationships/hyperlink" Target="https://medium.com/@csakash03/model-parameters-in-openai-api-fe6101d3f813" TargetMode="External"/><Relationship Id="rId5" Type="http://schemas.openxmlformats.org/officeDocument/2006/relationships/hyperlink" Target="https://platform.openai.com/docs/examples"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7.xml"/><Relationship Id="rId3" Type="http://schemas.openxmlformats.org/officeDocument/2006/relationships/image" Target="../media/image46.png"/><Relationship Id="rId4" Type="http://schemas.openxmlformats.org/officeDocument/2006/relationships/image" Target="../media/image55.png"/><Relationship Id="rId5" Type="http://schemas.openxmlformats.org/officeDocument/2006/relationships/image" Target="../media/image49.png"/><Relationship Id="rId6" Type="http://schemas.openxmlformats.org/officeDocument/2006/relationships/image" Target="../media/image53.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8.xml"/><Relationship Id="rId3" Type="http://schemas.openxmlformats.org/officeDocument/2006/relationships/image" Target="../media/image5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9.xml"/><Relationship Id="rId3" Type="http://schemas.openxmlformats.org/officeDocument/2006/relationships/image" Target="../media/image5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0.xml"/><Relationship Id="rId3" Type="http://schemas.openxmlformats.org/officeDocument/2006/relationships/image" Target="../media/image5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1.xml"/><Relationship Id="rId3" Type="http://schemas.openxmlformats.org/officeDocument/2006/relationships/image" Target="../media/image5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6.xml"/><Relationship Id="rId3" Type="http://schemas.openxmlformats.org/officeDocument/2006/relationships/hyperlink" Target="https://github.com/srinipusuluri/pythonllm/blob/main/sfdcchatclassify.py" TargetMode="Externa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4" name="Google Shape;134;p14"/>
          <p:cNvPicPr preferRelativeResize="0"/>
          <p:nvPr/>
        </p:nvPicPr>
        <p:blipFill>
          <a:blip r:embed="rId3">
            <a:alphaModFix/>
          </a:blip>
          <a:stretch>
            <a:fillRect/>
          </a:stretch>
        </p:blipFill>
        <p:spPr>
          <a:xfrm>
            <a:off x="680325" y="936750"/>
            <a:ext cx="3611550" cy="2447925"/>
          </a:xfrm>
          <a:prstGeom prst="rect">
            <a:avLst/>
          </a:prstGeom>
          <a:noFill/>
          <a:ln>
            <a:noFill/>
          </a:ln>
        </p:spPr>
      </p:pic>
      <p:pic>
        <p:nvPicPr>
          <p:cNvPr id="135" name="Google Shape;135;p14"/>
          <p:cNvPicPr preferRelativeResize="0"/>
          <p:nvPr/>
        </p:nvPicPr>
        <p:blipFill>
          <a:blip r:embed="rId4">
            <a:alphaModFix/>
          </a:blip>
          <a:stretch>
            <a:fillRect/>
          </a:stretch>
        </p:blipFill>
        <p:spPr>
          <a:xfrm>
            <a:off x="4291875" y="851025"/>
            <a:ext cx="3280075" cy="2533650"/>
          </a:xfrm>
          <a:prstGeom prst="rect">
            <a:avLst/>
          </a:prstGeom>
          <a:noFill/>
          <a:ln>
            <a:noFill/>
          </a:ln>
        </p:spPr>
      </p:pic>
      <p:sp>
        <p:nvSpPr>
          <p:cNvPr id="136" name="Google Shape;136;p14"/>
          <p:cNvSpPr txBox="1"/>
          <p:nvPr/>
        </p:nvSpPr>
        <p:spPr>
          <a:xfrm>
            <a:off x="2939150" y="4467975"/>
            <a:ext cx="38493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PPT Last Updated on : June 01, 2024 5:00  PM CST</a:t>
            </a:r>
            <a:endParaRPr sz="1300">
              <a:solidFill>
                <a:schemeClr val="dk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ctrTitle"/>
          </p:nvPr>
        </p:nvSpPr>
        <p:spPr>
          <a:xfrm>
            <a:off x="492125" y="825500"/>
            <a:ext cx="7731000" cy="3079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sz="2744"/>
              <a:t>Trainer: </a:t>
            </a:r>
            <a:endParaRPr b="1" sz="2744"/>
          </a:p>
          <a:p>
            <a:pPr indent="0" lvl="0" marL="0" rtl="0" algn="ctr">
              <a:spcBef>
                <a:spcPts val="0"/>
              </a:spcBef>
              <a:spcAft>
                <a:spcPts val="0"/>
              </a:spcAft>
              <a:buNone/>
            </a:pPr>
            <a:r>
              <a:rPr b="1" lang="en" sz="2744"/>
              <a:t>Srini Pusuluri </a:t>
            </a:r>
            <a:endParaRPr b="1" sz="2744"/>
          </a:p>
          <a:p>
            <a:pPr indent="0" lvl="0" marL="0" rtl="0" algn="ctr">
              <a:spcBef>
                <a:spcPts val="0"/>
              </a:spcBef>
              <a:spcAft>
                <a:spcPts val="0"/>
              </a:spcAft>
              <a:buNone/>
            </a:pPr>
            <a:r>
              <a:rPr b="1" lang="en" sz="2744"/>
              <a:t>Linkedin: </a:t>
            </a:r>
            <a:r>
              <a:rPr b="1" lang="en" sz="2744" u="sng">
                <a:solidFill>
                  <a:schemeClr val="hlink"/>
                </a:solidFill>
                <a:hlinkClick r:id="rId3"/>
              </a:rPr>
              <a:t>https://www.linkedin.com/in/pusulurisrinivasa/</a:t>
            </a:r>
            <a:endParaRPr b="1" sz="2744"/>
          </a:p>
          <a:p>
            <a:pPr indent="0" lvl="0" marL="0" rtl="0" algn="ctr">
              <a:spcBef>
                <a:spcPts val="0"/>
              </a:spcBef>
              <a:spcAft>
                <a:spcPts val="0"/>
              </a:spcAft>
              <a:buNone/>
            </a:pPr>
            <a:r>
              <a:rPr b="1" lang="en" sz="2744"/>
              <a:t>MTech IIT India</a:t>
            </a:r>
            <a:endParaRPr b="1" sz="2744"/>
          </a:p>
          <a:p>
            <a:pPr indent="0" lvl="0" marL="0" rtl="0" algn="ctr">
              <a:spcBef>
                <a:spcPts val="0"/>
              </a:spcBef>
              <a:spcAft>
                <a:spcPts val="0"/>
              </a:spcAft>
              <a:buNone/>
            </a:pPr>
            <a:r>
              <a:rPr b="1" lang="en" sz="2744"/>
              <a:t>25yr IT Exp</a:t>
            </a:r>
            <a:endParaRPr b="1" sz="2744"/>
          </a:p>
          <a:p>
            <a:pPr indent="0" lvl="0" marL="0" rtl="0" algn="ctr">
              <a:spcBef>
                <a:spcPts val="0"/>
              </a:spcBef>
              <a:spcAft>
                <a:spcPts val="0"/>
              </a:spcAft>
              <a:buNone/>
            </a:pPr>
            <a:r>
              <a:rPr b="1" lang="en" sz="2744"/>
              <a:t>Fmr Scientist, AT&amp;T,IBM, Google, ElasticSearch</a:t>
            </a:r>
            <a:endParaRPr b="1" sz="2744"/>
          </a:p>
          <a:p>
            <a:pPr indent="0" lvl="0" marL="0" rtl="0" algn="ctr">
              <a:spcBef>
                <a:spcPts val="0"/>
              </a:spcBef>
              <a:spcAft>
                <a:spcPts val="0"/>
              </a:spcAft>
              <a:buNone/>
            </a:pPr>
            <a:r>
              <a:rPr b="1" lang="en" sz="2744"/>
              <a:t>Trained 400 in Salesforce,CPQ </a:t>
            </a:r>
            <a:endParaRPr b="1" sz="2744"/>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142" name="Google Shape;142;p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15"/>
          <p:cNvSpPr txBox="1"/>
          <p:nvPr/>
        </p:nvSpPr>
        <p:spPr>
          <a:xfrm>
            <a:off x="3270975" y="4219100"/>
            <a:ext cx="4952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 Copyright  - Pusuluri Foundation/Next Gen Cloud LLC  2024</a:t>
            </a:r>
            <a:endParaRPr sz="13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819150" y="420225"/>
            <a:ext cx="7505700" cy="78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Prerequisites External References</a:t>
            </a:r>
            <a:endParaRPr/>
          </a:p>
          <a:p>
            <a:pPr indent="0" lvl="0" marL="0" rtl="0" algn="l">
              <a:spcBef>
                <a:spcPts val="0"/>
              </a:spcBef>
              <a:spcAft>
                <a:spcPts val="0"/>
              </a:spcAft>
              <a:buNone/>
            </a:pPr>
            <a:r>
              <a:rPr lang="en" sz="2111"/>
              <a:t>(click to open each doc in link and READ)</a:t>
            </a:r>
            <a:endParaRPr sz="2111"/>
          </a:p>
        </p:txBody>
      </p:sp>
      <p:sp>
        <p:nvSpPr>
          <p:cNvPr id="149" name="Google Shape;149;p16"/>
          <p:cNvSpPr txBox="1"/>
          <p:nvPr>
            <p:ph idx="1" type="body"/>
          </p:nvPr>
        </p:nvSpPr>
        <p:spPr>
          <a:xfrm>
            <a:off x="574300" y="1204725"/>
            <a:ext cx="8320500" cy="3234000"/>
          </a:xfrm>
          <a:prstGeom prst="rect">
            <a:avLst/>
          </a:prstGeom>
        </p:spPr>
        <p:txBody>
          <a:bodyPr anchorCtr="0" anchor="t" bIns="91425" lIns="91425" spcFirstLastPara="1" rIns="91425" wrap="square" tIns="91425">
            <a:normAutofit lnSpcReduction="10000"/>
          </a:bodyPr>
          <a:lstStyle/>
          <a:p>
            <a:pPr indent="-393700" lvl="0" marL="457200" rtl="0" algn="l">
              <a:spcBef>
                <a:spcPts val="0"/>
              </a:spcBef>
              <a:spcAft>
                <a:spcPts val="0"/>
              </a:spcAft>
              <a:buSzPts val="2600"/>
              <a:buChar char="●"/>
            </a:pPr>
            <a:r>
              <a:rPr b="1" lang="en" sz="2600" u="sng">
                <a:solidFill>
                  <a:schemeClr val="hlink"/>
                </a:solidFill>
                <a:hlinkClick r:id="rId3"/>
              </a:rPr>
              <a:t>What is a computer</a:t>
            </a:r>
            <a:endParaRPr/>
          </a:p>
          <a:p>
            <a:pPr indent="-393700" lvl="0" marL="457200" rtl="0" algn="l">
              <a:spcBef>
                <a:spcPts val="0"/>
              </a:spcBef>
              <a:spcAft>
                <a:spcPts val="0"/>
              </a:spcAft>
              <a:buSzPts val="2600"/>
              <a:buChar char="●"/>
            </a:pPr>
            <a:r>
              <a:rPr b="1" lang="en" sz="2600" u="sng">
                <a:solidFill>
                  <a:schemeClr val="hlink"/>
                </a:solidFill>
                <a:hlinkClick r:id="rId4"/>
              </a:rPr>
              <a:t>Data Structures</a:t>
            </a:r>
            <a:endParaRPr b="1" sz="2600"/>
          </a:p>
          <a:p>
            <a:pPr indent="-393700" lvl="0" marL="457200" rtl="0" algn="l">
              <a:spcBef>
                <a:spcPts val="0"/>
              </a:spcBef>
              <a:spcAft>
                <a:spcPts val="0"/>
              </a:spcAft>
              <a:buSzPts val="2600"/>
              <a:buChar char="●"/>
            </a:pPr>
            <a:r>
              <a:rPr b="1" lang="en" sz="2600" u="sng">
                <a:solidFill>
                  <a:schemeClr val="hlink"/>
                </a:solidFill>
                <a:hlinkClick r:id="rId5"/>
              </a:rPr>
              <a:t>Programming languages fundamentals</a:t>
            </a:r>
            <a:endParaRPr b="1" sz="2600"/>
          </a:p>
          <a:p>
            <a:pPr indent="-393700" lvl="0" marL="457200" rtl="0" algn="l">
              <a:spcBef>
                <a:spcPts val="0"/>
              </a:spcBef>
              <a:spcAft>
                <a:spcPts val="0"/>
              </a:spcAft>
              <a:buSzPts val="2600"/>
              <a:buChar char="●"/>
            </a:pPr>
            <a:r>
              <a:rPr b="1" lang="en" sz="2600" u="sng">
                <a:solidFill>
                  <a:schemeClr val="hlink"/>
                </a:solidFill>
                <a:hlinkClick r:id="rId6"/>
              </a:rPr>
              <a:t>Object oriented Programming concepts in Python</a:t>
            </a:r>
            <a:endParaRPr b="1" sz="2600"/>
          </a:p>
          <a:p>
            <a:pPr indent="-393700" lvl="0" marL="457200" rtl="0" algn="l">
              <a:spcBef>
                <a:spcPts val="0"/>
              </a:spcBef>
              <a:spcAft>
                <a:spcPts val="0"/>
              </a:spcAft>
              <a:buSzPts val="2600"/>
              <a:buChar char="●"/>
            </a:pPr>
            <a:r>
              <a:rPr b="1" lang="en" sz="2600" u="sng">
                <a:solidFill>
                  <a:schemeClr val="hlink"/>
                </a:solidFill>
                <a:hlinkClick r:id="rId7"/>
              </a:rPr>
              <a:t>Compare python with java/JS</a:t>
            </a:r>
            <a:endParaRPr b="1" sz="2600"/>
          </a:p>
          <a:p>
            <a:pPr indent="-393700" lvl="0" marL="457200" rtl="0" algn="l">
              <a:spcBef>
                <a:spcPts val="0"/>
              </a:spcBef>
              <a:spcAft>
                <a:spcPts val="0"/>
              </a:spcAft>
              <a:buSzPts val="2600"/>
              <a:buChar char="●"/>
            </a:pPr>
            <a:r>
              <a:rPr b="1" lang="en" sz="2600" u="sng">
                <a:solidFill>
                  <a:schemeClr val="hlink"/>
                </a:solidFill>
                <a:hlinkClick r:id="rId8"/>
              </a:rPr>
              <a:t>Compare 6 programming lan -research paper</a:t>
            </a:r>
            <a:endParaRPr b="1" sz="2600"/>
          </a:p>
          <a:p>
            <a:pPr indent="0" lvl="0" marL="0" rtl="0" algn="l">
              <a:spcBef>
                <a:spcPts val="1200"/>
              </a:spcBef>
              <a:spcAft>
                <a:spcPts val="1200"/>
              </a:spcAft>
              <a:buNone/>
            </a:pPr>
            <a:r>
              <a:t/>
            </a:r>
            <a:endParaRPr b="1"/>
          </a:p>
        </p:txBody>
      </p:sp>
      <p:sp>
        <p:nvSpPr>
          <p:cNvPr id="150" name="Google Shape;150;p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Prerequisites Hardware/Software/Cloud</a:t>
            </a:r>
            <a:endParaRPr sz="2111"/>
          </a:p>
        </p:txBody>
      </p:sp>
      <p:sp>
        <p:nvSpPr>
          <p:cNvPr id="156" name="Google Shape;156;p17"/>
          <p:cNvSpPr txBox="1"/>
          <p:nvPr>
            <p:ph idx="1" type="body"/>
          </p:nvPr>
        </p:nvSpPr>
        <p:spPr>
          <a:xfrm>
            <a:off x="574300" y="1204725"/>
            <a:ext cx="6795000" cy="3578400"/>
          </a:xfrm>
          <a:prstGeom prst="rect">
            <a:avLst/>
          </a:prstGeom>
        </p:spPr>
        <p:txBody>
          <a:bodyPr anchorCtr="0" anchor="t" bIns="91425" lIns="91425" spcFirstLastPara="1" rIns="91425" wrap="square" tIns="91425">
            <a:noAutofit/>
          </a:bodyPr>
          <a:lstStyle/>
          <a:p>
            <a:pPr indent="-368300" lvl="0" marL="457200" rtl="0" algn="l">
              <a:lnSpc>
                <a:spcPct val="95000"/>
              </a:lnSpc>
              <a:spcBef>
                <a:spcPts val="0"/>
              </a:spcBef>
              <a:spcAft>
                <a:spcPts val="0"/>
              </a:spcAft>
              <a:buSzPts val="2200"/>
              <a:buChar char="●"/>
            </a:pPr>
            <a:r>
              <a:rPr b="1" lang="en" sz="2200"/>
              <a:t>Windows or Mac Laptop</a:t>
            </a:r>
            <a:endParaRPr b="1" sz="2200"/>
          </a:p>
          <a:p>
            <a:pPr indent="-368300" lvl="0" marL="457200" rtl="0" algn="l">
              <a:lnSpc>
                <a:spcPct val="95000"/>
              </a:lnSpc>
              <a:spcBef>
                <a:spcPts val="0"/>
              </a:spcBef>
              <a:spcAft>
                <a:spcPts val="0"/>
              </a:spcAft>
              <a:buSzPts val="2200"/>
              <a:buChar char="●"/>
            </a:pPr>
            <a:r>
              <a:rPr b="1" lang="en" sz="2200" u="sng">
                <a:solidFill>
                  <a:schemeClr val="hlink"/>
                </a:solidFill>
                <a:hlinkClick r:id="rId3"/>
              </a:rPr>
              <a:t>Python</a:t>
            </a:r>
            <a:r>
              <a:rPr b="1" lang="en" sz="2200"/>
              <a:t> Package</a:t>
            </a:r>
            <a:endParaRPr b="1" sz="2200"/>
          </a:p>
          <a:p>
            <a:pPr indent="-368300" lvl="0" marL="457200" rtl="0" algn="l">
              <a:lnSpc>
                <a:spcPct val="95000"/>
              </a:lnSpc>
              <a:spcBef>
                <a:spcPts val="0"/>
              </a:spcBef>
              <a:spcAft>
                <a:spcPts val="0"/>
              </a:spcAft>
              <a:buSzPts val="2200"/>
              <a:buChar char="●"/>
            </a:pPr>
            <a:r>
              <a:rPr b="1" lang="en" sz="2200"/>
              <a:t>Python online </a:t>
            </a:r>
            <a:r>
              <a:rPr b="1" lang="en" sz="2200" u="sng">
                <a:solidFill>
                  <a:schemeClr val="hlink"/>
                </a:solidFill>
                <a:hlinkClick r:id="rId4"/>
              </a:rPr>
              <a:t>Editor</a:t>
            </a:r>
            <a:r>
              <a:rPr b="1" lang="en" sz="2200"/>
              <a:t> (only for initial days)</a:t>
            </a:r>
            <a:endParaRPr b="1" sz="2200"/>
          </a:p>
          <a:p>
            <a:pPr indent="-368300" lvl="0" marL="457200" rtl="0" algn="l">
              <a:lnSpc>
                <a:spcPct val="95000"/>
              </a:lnSpc>
              <a:spcBef>
                <a:spcPts val="0"/>
              </a:spcBef>
              <a:spcAft>
                <a:spcPts val="0"/>
              </a:spcAft>
              <a:buSzPts val="2200"/>
              <a:buChar char="●"/>
            </a:pPr>
            <a:r>
              <a:rPr b="1" lang="en" sz="2200"/>
              <a:t>Python IDE </a:t>
            </a:r>
            <a:r>
              <a:rPr b="1" lang="en" sz="2200" u="sng">
                <a:solidFill>
                  <a:schemeClr val="hlink"/>
                </a:solidFill>
                <a:hlinkClick r:id="rId5"/>
              </a:rPr>
              <a:t>Vscode</a:t>
            </a:r>
            <a:r>
              <a:rPr b="1" lang="en" sz="2200"/>
              <a:t> or </a:t>
            </a:r>
            <a:r>
              <a:rPr b="1" lang="en" sz="2200" u="sng">
                <a:solidFill>
                  <a:schemeClr val="hlink"/>
                </a:solidFill>
                <a:hlinkClick r:id="rId6"/>
              </a:rPr>
              <a:t>Jupiter</a:t>
            </a:r>
            <a:r>
              <a:rPr b="1" lang="en" sz="2200"/>
              <a:t> IDE</a:t>
            </a:r>
            <a:endParaRPr b="1" sz="2200"/>
          </a:p>
          <a:p>
            <a:pPr indent="-368300" lvl="0" marL="457200" rtl="0" algn="l">
              <a:lnSpc>
                <a:spcPct val="95000"/>
              </a:lnSpc>
              <a:spcBef>
                <a:spcPts val="0"/>
              </a:spcBef>
              <a:spcAft>
                <a:spcPts val="0"/>
              </a:spcAft>
              <a:buSzPts val="2200"/>
              <a:buChar char="●"/>
            </a:pPr>
            <a:r>
              <a:rPr b="1" lang="en" sz="2200"/>
              <a:t>Open AI </a:t>
            </a:r>
            <a:r>
              <a:rPr b="1" lang="en" sz="2200" u="sng">
                <a:solidFill>
                  <a:schemeClr val="hlink"/>
                </a:solidFill>
                <a:hlinkClick r:id="rId7"/>
              </a:rPr>
              <a:t>account</a:t>
            </a:r>
            <a:r>
              <a:rPr b="1" lang="en" sz="2200"/>
              <a:t> (Free or Paid)</a:t>
            </a:r>
            <a:endParaRPr b="1" sz="2200"/>
          </a:p>
          <a:p>
            <a:pPr indent="-368300" lvl="0" marL="457200" rtl="0" algn="l">
              <a:lnSpc>
                <a:spcPct val="95000"/>
              </a:lnSpc>
              <a:spcBef>
                <a:spcPts val="0"/>
              </a:spcBef>
              <a:spcAft>
                <a:spcPts val="0"/>
              </a:spcAft>
              <a:buSzPts val="2200"/>
              <a:buChar char="●"/>
            </a:pPr>
            <a:r>
              <a:rPr b="1" lang="en" sz="2200" u="sng">
                <a:solidFill>
                  <a:schemeClr val="hlink"/>
                </a:solidFill>
                <a:hlinkClick r:id="rId8"/>
              </a:rPr>
              <a:t>ChatGPT</a:t>
            </a:r>
            <a:r>
              <a:rPr b="1" lang="en" sz="2200"/>
              <a:t>, MS </a:t>
            </a:r>
            <a:r>
              <a:rPr b="1" lang="en" sz="2200" u="sng">
                <a:solidFill>
                  <a:schemeClr val="hlink"/>
                </a:solidFill>
                <a:hlinkClick r:id="rId9"/>
              </a:rPr>
              <a:t>Copilot</a:t>
            </a:r>
            <a:r>
              <a:rPr b="1" lang="en" sz="2200"/>
              <a:t>, </a:t>
            </a:r>
            <a:r>
              <a:rPr b="1" lang="en" sz="2200" u="sng">
                <a:solidFill>
                  <a:schemeClr val="hlink"/>
                </a:solidFill>
                <a:hlinkClick r:id="rId10"/>
              </a:rPr>
              <a:t>Meta</a:t>
            </a:r>
            <a:r>
              <a:rPr b="1" lang="en" sz="2200"/>
              <a:t> AI, </a:t>
            </a:r>
            <a:r>
              <a:rPr b="1" lang="en" sz="2200" u="sng">
                <a:solidFill>
                  <a:schemeClr val="hlink"/>
                </a:solidFill>
                <a:hlinkClick r:id="rId11"/>
              </a:rPr>
              <a:t>Google</a:t>
            </a:r>
            <a:r>
              <a:rPr b="1" lang="en" sz="2200"/>
              <a:t> AI (FREE)</a:t>
            </a:r>
            <a:endParaRPr b="1" sz="2200"/>
          </a:p>
          <a:p>
            <a:pPr indent="-368300" lvl="0" marL="457200" rtl="0" algn="l">
              <a:lnSpc>
                <a:spcPct val="95000"/>
              </a:lnSpc>
              <a:spcBef>
                <a:spcPts val="0"/>
              </a:spcBef>
              <a:spcAft>
                <a:spcPts val="0"/>
              </a:spcAft>
              <a:buSzPts val="2200"/>
              <a:buChar char="●"/>
            </a:pPr>
            <a:r>
              <a:rPr b="1" lang="en" sz="2200"/>
              <a:t>Google </a:t>
            </a:r>
            <a:r>
              <a:rPr b="1" lang="en" sz="2200" u="sng">
                <a:solidFill>
                  <a:schemeClr val="hlink"/>
                </a:solidFill>
                <a:hlinkClick r:id="rId12"/>
              </a:rPr>
              <a:t>Colab</a:t>
            </a:r>
            <a:r>
              <a:rPr b="1" lang="en" sz="2200"/>
              <a:t> (Learning&amp; Production)</a:t>
            </a:r>
            <a:endParaRPr b="1" sz="2200"/>
          </a:p>
          <a:p>
            <a:pPr indent="-368300" lvl="0" marL="457200" rtl="0" algn="l">
              <a:lnSpc>
                <a:spcPct val="95000"/>
              </a:lnSpc>
              <a:spcBef>
                <a:spcPts val="0"/>
              </a:spcBef>
              <a:spcAft>
                <a:spcPts val="0"/>
              </a:spcAft>
              <a:buSzPts val="2200"/>
              <a:buChar char="●"/>
            </a:pPr>
            <a:r>
              <a:rPr b="1" lang="en" sz="2200" u="sng">
                <a:solidFill>
                  <a:schemeClr val="hlink"/>
                </a:solidFill>
                <a:hlinkClick r:id="rId13"/>
              </a:rPr>
              <a:t>Gitlab</a:t>
            </a:r>
            <a:r>
              <a:rPr b="1" lang="en" sz="2200"/>
              <a:t> or GitHub account (store code)</a:t>
            </a:r>
            <a:endParaRPr b="1" sz="2200"/>
          </a:p>
          <a:p>
            <a:pPr indent="-368300" lvl="0" marL="457200" rtl="0" algn="l">
              <a:lnSpc>
                <a:spcPct val="95000"/>
              </a:lnSpc>
              <a:spcBef>
                <a:spcPts val="0"/>
              </a:spcBef>
              <a:spcAft>
                <a:spcPts val="0"/>
              </a:spcAft>
              <a:buSzPts val="2200"/>
              <a:buChar char="●"/>
            </a:pPr>
            <a:r>
              <a:rPr b="1" lang="en" sz="2200" u="sng">
                <a:solidFill>
                  <a:schemeClr val="hlink"/>
                </a:solidFill>
                <a:hlinkClick r:id="rId14"/>
              </a:rPr>
              <a:t>Salesforce</a:t>
            </a:r>
            <a:r>
              <a:rPr b="1" lang="en" sz="2200"/>
              <a:t> CRM (dev only for CRM apps)</a:t>
            </a:r>
            <a:endParaRPr b="1" sz="2200"/>
          </a:p>
          <a:p>
            <a:pPr indent="-368300" lvl="0" marL="457200" rtl="0" algn="l">
              <a:lnSpc>
                <a:spcPct val="95000"/>
              </a:lnSpc>
              <a:spcBef>
                <a:spcPts val="0"/>
              </a:spcBef>
              <a:spcAft>
                <a:spcPts val="0"/>
              </a:spcAft>
              <a:buSzPts val="2200"/>
              <a:buChar char="●"/>
            </a:pPr>
            <a:r>
              <a:rPr b="1" lang="en" sz="2200" u="sng">
                <a:solidFill>
                  <a:schemeClr val="hlink"/>
                </a:solidFill>
                <a:hlinkClick r:id="rId15"/>
              </a:rPr>
              <a:t>JRE</a:t>
            </a:r>
            <a:r>
              <a:rPr b="1" lang="en" sz="2200"/>
              <a:t> as needed</a:t>
            </a:r>
            <a:endParaRPr b="1" sz="2200"/>
          </a:p>
          <a:p>
            <a:pPr indent="0" lvl="0" marL="0" rtl="0" algn="l">
              <a:lnSpc>
                <a:spcPct val="95000"/>
              </a:lnSpc>
              <a:spcBef>
                <a:spcPts val="1200"/>
              </a:spcBef>
              <a:spcAft>
                <a:spcPts val="1200"/>
              </a:spcAft>
              <a:buNone/>
            </a:pPr>
            <a:r>
              <a:t/>
            </a:r>
            <a:endParaRPr b="1"/>
          </a:p>
        </p:txBody>
      </p:sp>
      <p:sp>
        <p:nvSpPr>
          <p:cNvPr id="157" name="Google Shape;157;p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rPr b="1" lang="en" sz="3744">
                <a:solidFill>
                  <a:schemeClr val="lt1"/>
                </a:solidFill>
                <a:latin typeface="Nunito"/>
                <a:ea typeface="Nunito"/>
                <a:cs typeface="Nunito"/>
                <a:sym typeface="Nunito"/>
              </a:rPr>
              <a:t>Purpose of this course is to Teach how </a:t>
            </a:r>
            <a:r>
              <a:rPr b="1" lang="en" sz="3744">
                <a:solidFill>
                  <a:schemeClr val="lt1"/>
                </a:solidFill>
                <a:highlight>
                  <a:srgbClr val="00FF00"/>
                </a:highlight>
                <a:latin typeface="Nunito"/>
                <a:ea typeface="Nunito"/>
                <a:cs typeface="Nunito"/>
                <a:sym typeface="Nunito"/>
              </a:rPr>
              <a:t>Gen AI LLM</a:t>
            </a:r>
            <a:r>
              <a:rPr b="1" lang="en" sz="3744">
                <a:solidFill>
                  <a:schemeClr val="lt1"/>
                </a:solidFill>
                <a:latin typeface="Nunito"/>
                <a:ea typeface="Nunito"/>
                <a:cs typeface="Nunito"/>
                <a:sym typeface="Nunito"/>
              </a:rPr>
              <a:t> works and also show How </a:t>
            </a:r>
            <a:r>
              <a:rPr b="1" lang="en" sz="3744" u="sng">
                <a:solidFill>
                  <a:schemeClr val="lt1"/>
                </a:solidFill>
                <a:latin typeface="Nunito"/>
                <a:ea typeface="Nunito"/>
                <a:cs typeface="Nunito"/>
                <a:sym typeface="Nunito"/>
              </a:rPr>
              <a:t>Python</a:t>
            </a:r>
            <a:r>
              <a:rPr b="1" lang="en" sz="3744">
                <a:solidFill>
                  <a:schemeClr val="lt1"/>
                </a:solidFill>
                <a:latin typeface="Nunito"/>
                <a:ea typeface="Nunito"/>
                <a:cs typeface="Nunito"/>
                <a:sym typeface="Nunito"/>
              </a:rPr>
              <a:t> as a Programming language is being used to develop such advanced AI LLM applications</a:t>
            </a:r>
            <a:endParaRPr b="1" sz="3744">
              <a:solidFill>
                <a:schemeClr val="lt1"/>
              </a:solidFill>
              <a:latin typeface="Nunito"/>
              <a:ea typeface="Nunito"/>
              <a:cs typeface="Nunito"/>
              <a:sym typeface="Nunito"/>
            </a:endParaRPr>
          </a:p>
          <a:p>
            <a:pPr indent="0" lvl="0" marL="457200" rtl="0" algn="just">
              <a:spcBef>
                <a:spcPts val="0"/>
              </a:spcBef>
              <a:spcAft>
                <a:spcPts val="0"/>
              </a:spcAft>
              <a:buNone/>
            </a:pPr>
            <a:r>
              <a:t/>
            </a:r>
            <a:endParaRPr sz="2400">
              <a:solidFill>
                <a:schemeClr val="dk2"/>
              </a:solidFill>
            </a:endParaRPr>
          </a:p>
        </p:txBody>
      </p:sp>
      <p:sp>
        <p:nvSpPr>
          <p:cNvPr id="163" name="Google Shape;163;p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0" lvl="0" marL="457200" rtl="0" algn="just">
              <a:spcBef>
                <a:spcPts val="0"/>
              </a:spcBef>
              <a:spcAft>
                <a:spcPts val="0"/>
              </a:spcAft>
              <a:buNone/>
            </a:pPr>
            <a:r>
              <a:rPr b="1" lang="en" sz="3744">
                <a:solidFill>
                  <a:schemeClr val="lt1"/>
                </a:solidFill>
                <a:latin typeface="Nunito"/>
                <a:ea typeface="Nunito"/>
                <a:cs typeface="Nunito"/>
                <a:sym typeface="Nunito"/>
              </a:rPr>
              <a:t>I will also pick top max 5 performers to work with me in real AI LLM projects - Again no Payments involved neither i pay nor you pay!!</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169" name="Google Shape;169;p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Python &amp; AI ( not just python alone)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Why Python is needed</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What is happening in AI</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What is LLM, AI,ML, Neural Networks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How is future of AI shaping</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What kind of career one can built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Direction on various python projects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Direction on LLM projects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 will pick 5 assistants and work with our own product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No pay  Involved - Neither you pay nor i pay</a:t>
            </a:r>
            <a:endParaRPr sz="2000">
              <a:solidFill>
                <a:schemeClr val="dk2"/>
              </a:solidFill>
            </a:endParaRPr>
          </a:p>
        </p:txBody>
      </p:sp>
      <p:sp>
        <p:nvSpPr>
          <p:cNvPr id="175" name="Google Shape;175;p20"/>
          <p:cNvSpPr/>
          <p:nvPr/>
        </p:nvSpPr>
        <p:spPr>
          <a:xfrm>
            <a:off x="6311850" y="1117600"/>
            <a:ext cx="1741392" cy="1282716"/>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libri"/>
                <a:ea typeface="Calibri"/>
                <a:cs typeface="Calibri"/>
                <a:sym typeface="Calibri"/>
              </a:rPr>
              <a:t>What course covers</a:t>
            </a:r>
            <a:endParaRPr b="1">
              <a:latin typeface="Calibri"/>
              <a:ea typeface="Calibri"/>
              <a:cs typeface="Calibri"/>
              <a:sym typeface="Calibri"/>
            </a:endParaRPr>
          </a:p>
        </p:txBody>
      </p:sp>
      <p:sp>
        <p:nvSpPr>
          <p:cNvPr id="176" name="Google Shape;176;p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This is not about just python</a:t>
            </a:r>
            <a:endParaRPr sz="2000">
              <a:solidFill>
                <a:schemeClr val="dk2"/>
              </a:solidFill>
            </a:endParaRPr>
          </a:p>
          <a:p>
            <a:pPr indent="-355600" lvl="0" marL="457200" rtl="0" algn="l">
              <a:spcBef>
                <a:spcPts val="0"/>
              </a:spcBef>
              <a:spcAft>
                <a:spcPts val="0"/>
              </a:spcAft>
              <a:buClr>
                <a:schemeClr val="dk2"/>
              </a:buClr>
              <a:buSzPts val="2000"/>
              <a:buChar char="●"/>
            </a:pPr>
            <a:r>
              <a:rPr b="1" lang="en" sz="2000" u="sng">
                <a:solidFill>
                  <a:schemeClr val="dk2"/>
                </a:solidFill>
              </a:rPr>
              <a:t>NO</a:t>
            </a:r>
            <a:r>
              <a:rPr lang="en" sz="2000">
                <a:solidFill>
                  <a:schemeClr val="dk2"/>
                </a:solidFill>
              </a:rPr>
              <a:t> job support - i do not have any jobs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 do not deep dive into everything</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 do not teach Fundamentals of computers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Not a paid course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Not ideal for pre-high school students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Not ideal unless you are ready to code</a:t>
            </a:r>
            <a:endParaRPr sz="2000">
              <a:solidFill>
                <a:schemeClr val="dk2"/>
              </a:solidFill>
            </a:endParaRPr>
          </a:p>
        </p:txBody>
      </p:sp>
      <p:sp>
        <p:nvSpPr>
          <p:cNvPr id="182" name="Google Shape;182;p21"/>
          <p:cNvSpPr/>
          <p:nvPr/>
        </p:nvSpPr>
        <p:spPr>
          <a:xfrm>
            <a:off x="6438900" y="1701800"/>
            <a:ext cx="1741392" cy="1282716"/>
          </a:xfrm>
          <a:prstGeom prst="clou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What course DO NOT cover</a:t>
            </a:r>
            <a:endParaRPr>
              <a:latin typeface="Calibri"/>
              <a:ea typeface="Calibri"/>
              <a:cs typeface="Calibri"/>
              <a:sym typeface="Calibri"/>
            </a:endParaRPr>
          </a:p>
        </p:txBody>
      </p:sp>
      <p:sp>
        <p:nvSpPr>
          <p:cNvPr id="183" name="Google Shape;183;p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218075" y="319975"/>
            <a:ext cx="8721300" cy="102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t>Job Market:</a:t>
            </a:r>
            <a:endParaRPr sz="2400"/>
          </a:p>
          <a:p>
            <a:pPr indent="0" lvl="0" marL="0" rtl="0" algn="l">
              <a:spcBef>
                <a:spcPts val="0"/>
              </a:spcBef>
              <a:spcAft>
                <a:spcPts val="0"/>
              </a:spcAft>
              <a:buSzPts val="990"/>
              <a:buNone/>
            </a:pPr>
            <a:r>
              <a:rPr lang="en" sz="2400"/>
              <a:t>Experienced jobs  </a:t>
            </a:r>
            <a:r>
              <a:rPr lang="en" sz="2400" u="sng">
                <a:solidFill>
                  <a:schemeClr val="hlink"/>
                </a:solidFill>
                <a:hlinkClick r:id="rId3"/>
              </a:rPr>
              <a:t>AI engineer</a:t>
            </a:r>
            <a:r>
              <a:rPr lang="en" sz="2400"/>
              <a:t> or  basic jobs like  </a:t>
            </a:r>
            <a:r>
              <a:rPr lang="en" sz="2400" u="sng">
                <a:solidFill>
                  <a:schemeClr val="hlink"/>
                </a:solidFill>
                <a:hlinkClick r:id="rId4"/>
              </a:rPr>
              <a:t>Prompt</a:t>
            </a:r>
            <a:endParaRPr sz="2400"/>
          </a:p>
        </p:txBody>
      </p:sp>
      <p:sp>
        <p:nvSpPr>
          <p:cNvPr id="189" name="Google Shape;189;p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0" name="Google Shape;190;p22"/>
          <p:cNvPicPr preferRelativeResize="0"/>
          <p:nvPr/>
        </p:nvPicPr>
        <p:blipFill>
          <a:blip r:embed="rId5">
            <a:alphaModFix/>
          </a:blip>
          <a:stretch>
            <a:fillRect/>
          </a:stretch>
        </p:blipFill>
        <p:spPr>
          <a:xfrm>
            <a:off x="649650" y="1613800"/>
            <a:ext cx="3220925" cy="2929750"/>
          </a:xfrm>
          <a:prstGeom prst="rect">
            <a:avLst/>
          </a:prstGeom>
          <a:noFill/>
          <a:ln>
            <a:noFill/>
          </a:ln>
        </p:spPr>
      </p:pic>
      <p:sp>
        <p:nvSpPr>
          <p:cNvPr id="191" name="Google Shape;191;p22"/>
          <p:cNvSpPr txBox="1"/>
          <p:nvPr/>
        </p:nvSpPr>
        <p:spPr>
          <a:xfrm>
            <a:off x="4779300" y="1671975"/>
            <a:ext cx="3220800" cy="2813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Overall AI knowledge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Domain knowledge</a:t>
            </a:r>
            <a:endParaRPr b="1" sz="1800">
              <a:solidFill>
                <a:schemeClr val="dk2"/>
              </a:solidFill>
              <a:latin typeface="Calibri"/>
              <a:ea typeface="Calibri"/>
              <a:cs typeface="Calibri"/>
              <a:sym typeface="Calibri"/>
            </a:endParaRPr>
          </a:p>
          <a:p>
            <a:pPr indent="0" lvl="0" marL="457200" rtl="0" algn="l">
              <a:spcBef>
                <a:spcPts val="0"/>
              </a:spcBef>
              <a:spcAft>
                <a:spcPts val="0"/>
              </a:spcAft>
              <a:buNone/>
            </a:pPr>
            <a:r>
              <a:rPr b="1" lang="en" sz="1800">
                <a:solidFill>
                  <a:schemeClr val="dk2"/>
                </a:solidFill>
                <a:latin typeface="Calibri"/>
                <a:ea typeface="Calibri"/>
                <a:cs typeface="Calibri"/>
                <a:sym typeface="Calibri"/>
              </a:rPr>
              <a:t>Healthcare</a:t>
            </a:r>
            <a:endParaRPr b="1" sz="1800">
              <a:solidFill>
                <a:schemeClr val="dk2"/>
              </a:solidFill>
              <a:latin typeface="Calibri"/>
              <a:ea typeface="Calibri"/>
              <a:cs typeface="Calibri"/>
              <a:sym typeface="Calibri"/>
            </a:endParaRPr>
          </a:p>
          <a:p>
            <a:pPr indent="0" lvl="0" marL="457200" rtl="0" algn="l">
              <a:spcBef>
                <a:spcPts val="0"/>
              </a:spcBef>
              <a:spcAft>
                <a:spcPts val="0"/>
              </a:spcAft>
              <a:buNone/>
            </a:pPr>
            <a:r>
              <a:rPr b="1" lang="en" sz="1800">
                <a:solidFill>
                  <a:schemeClr val="dk2"/>
                </a:solidFill>
                <a:latin typeface="Calibri"/>
                <a:ea typeface="Calibri"/>
                <a:cs typeface="Calibri"/>
                <a:sym typeface="Calibri"/>
              </a:rPr>
              <a:t>Finance</a:t>
            </a:r>
            <a:endParaRPr b="1" sz="1800">
              <a:solidFill>
                <a:schemeClr val="dk2"/>
              </a:solidFill>
              <a:latin typeface="Calibri"/>
              <a:ea typeface="Calibri"/>
              <a:cs typeface="Calibri"/>
              <a:sym typeface="Calibri"/>
            </a:endParaRPr>
          </a:p>
          <a:p>
            <a:pPr indent="0" lvl="0" marL="457200" rtl="0" algn="l">
              <a:spcBef>
                <a:spcPts val="0"/>
              </a:spcBef>
              <a:spcAft>
                <a:spcPts val="0"/>
              </a:spcAft>
              <a:buNone/>
            </a:pPr>
            <a:r>
              <a:rPr b="1" lang="en" sz="1800">
                <a:solidFill>
                  <a:schemeClr val="dk2"/>
                </a:solidFill>
                <a:latin typeface="Calibri"/>
                <a:ea typeface="Calibri"/>
                <a:cs typeface="Calibri"/>
                <a:sym typeface="Calibri"/>
              </a:rPr>
              <a:t>Retail etc</a:t>
            </a:r>
            <a:endParaRPr b="1" sz="1800">
              <a:solidFill>
                <a:schemeClr val="dk2"/>
              </a:solidFill>
              <a:latin typeface="Calibri"/>
              <a:ea typeface="Calibri"/>
              <a:cs typeface="Calibri"/>
              <a:sym typeface="Calibri"/>
            </a:endParaRPr>
          </a:p>
          <a:p>
            <a:pPr indent="0" lvl="0" marL="457200" rtl="0" algn="l">
              <a:spcBef>
                <a:spcPts val="0"/>
              </a:spcBef>
              <a:spcAft>
                <a:spcPts val="0"/>
              </a:spcAft>
              <a:buNone/>
            </a:pPr>
            <a:r>
              <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Business Analysis</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Software Dev</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Product Engineering</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nvSpPr>
        <p:spPr>
          <a:xfrm>
            <a:off x="603350" y="469325"/>
            <a:ext cx="7047900" cy="4161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2844">
                <a:solidFill>
                  <a:schemeClr val="lt1"/>
                </a:solidFill>
                <a:latin typeface="Nunito"/>
                <a:ea typeface="Nunito"/>
                <a:cs typeface="Nunito"/>
                <a:sym typeface="Nunito"/>
              </a:rPr>
              <a:t>High Level Topics Covered</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Python</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Gen AI Concepts</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Neural Networks</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ML Algorithms</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OpenAI API framework</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LLM Architecture</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Prompt Engineering</a:t>
            </a:r>
            <a:endParaRPr b="1" sz="2844">
              <a:solidFill>
                <a:schemeClr val="lt1"/>
              </a:solidFill>
              <a:latin typeface="Nunito"/>
              <a:ea typeface="Nunito"/>
              <a:cs typeface="Nunito"/>
              <a:sym typeface="Nunito"/>
            </a:endParaRPr>
          </a:p>
          <a:p>
            <a:pPr indent="-409221" lvl="0" marL="914400" rtl="0" algn="l">
              <a:spcBef>
                <a:spcPts val="0"/>
              </a:spcBef>
              <a:spcAft>
                <a:spcPts val="0"/>
              </a:spcAft>
              <a:buClr>
                <a:schemeClr val="lt1"/>
              </a:buClr>
              <a:buSzPts val="2844"/>
              <a:buFont typeface="Nunito"/>
              <a:buChar char="●"/>
            </a:pPr>
            <a:r>
              <a:rPr b="1" lang="en" sz="2844">
                <a:solidFill>
                  <a:schemeClr val="lt1"/>
                </a:solidFill>
                <a:latin typeface="Nunito"/>
                <a:ea typeface="Nunito"/>
                <a:cs typeface="Nunito"/>
                <a:sym typeface="Nunito"/>
              </a:rPr>
              <a:t>Gen AI LLM Projects</a:t>
            </a:r>
            <a:endParaRPr b="1" sz="28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197" name="Google Shape;197;p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Computer Revolutions - AI Next steps</a:t>
            </a:r>
            <a:endParaRPr/>
          </a:p>
        </p:txBody>
      </p:sp>
      <p:sp>
        <p:nvSpPr>
          <p:cNvPr id="203" name="Google Shape;203;p24"/>
          <p:cNvSpPr txBox="1"/>
          <p:nvPr>
            <p:ph idx="1" type="body"/>
          </p:nvPr>
        </p:nvSpPr>
        <p:spPr>
          <a:xfrm>
            <a:off x="819150" y="1506275"/>
            <a:ext cx="7213800" cy="2932500"/>
          </a:xfrm>
          <a:prstGeom prst="rect">
            <a:avLst/>
          </a:prstGeom>
        </p:spPr>
        <p:txBody>
          <a:bodyPr anchorCtr="0" anchor="t" bIns="91425" lIns="91425" spcFirstLastPara="1" rIns="91425" wrap="square" tIns="91425">
            <a:normAutofit lnSpcReduction="20000"/>
          </a:bodyPr>
          <a:lstStyle/>
          <a:p>
            <a:pPr indent="-425450" lvl="0" marL="457200" rtl="0" algn="l">
              <a:spcBef>
                <a:spcPts val="0"/>
              </a:spcBef>
              <a:spcAft>
                <a:spcPts val="0"/>
              </a:spcAft>
              <a:buSzPts val="3100"/>
              <a:buChar char="●"/>
            </a:pPr>
            <a:r>
              <a:rPr b="1" lang="en" sz="3100"/>
              <a:t>Main frame 1950-1970</a:t>
            </a:r>
            <a:endParaRPr b="1" sz="3100"/>
          </a:p>
          <a:p>
            <a:pPr indent="-425450" lvl="0" marL="457200" rtl="0" algn="l">
              <a:spcBef>
                <a:spcPts val="0"/>
              </a:spcBef>
              <a:spcAft>
                <a:spcPts val="0"/>
              </a:spcAft>
              <a:buSzPts val="3100"/>
              <a:buChar char="●"/>
            </a:pPr>
            <a:r>
              <a:rPr b="1" lang="en" sz="3100"/>
              <a:t>Personal computer 1970-Present</a:t>
            </a:r>
            <a:endParaRPr b="1" sz="3100"/>
          </a:p>
          <a:p>
            <a:pPr indent="-425450" lvl="0" marL="457200" rtl="0" algn="l">
              <a:spcBef>
                <a:spcPts val="0"/>
              </a:spcBef>
              <a:spcAft>
                <a:spcPts val="0"/>
              </a:spcAft>
              <a:buSzPts val="3100"/>
              <a:buChar char="●"/>
            </a:pPr>
            <a:r>
              <a:rPr b="1" lang="en" sz="3100"/>
              <a:t>Client-server 1980-1990</a:t>
            </a:r>
            <a:endParaRPr b="1" sz="3100"/>
          </a:p>
          <a:p>
            <a:pPr indent="-425450" lvl="0" marL="457200" rtl="0" algn="l">
              <a:spcBef>
                <a:spcPts val="0"/>
              </a:spcBef>
              <a:spcAft>
                <a:spcPts val="0"/>
              </a:spcAft>
              <a:buSzPts val="3100"/>
              <a:buChar char="●"/>
            </a:pPr>
            <a:r>
              <a:rPr b="1" lang="en" sz="3100"/>
              <a:t>Web based 1990-present</a:t>
            </a:r>
            <a:endParaRPr b="1" sz="3100"/>
          </a:p>
          <a:p>
            <a:pPr indent="-425450" lvl="0" marL="457200" rtl="0" algn="l">
              <a:spcBef>
                <a:spcPts val="0"/>
              </a:spcBef>
              <a:spcAft>
                <a:spcPts val="0"/>
              </a:spcAft>
              <a:buSzPts val="3100"/>
              <a:buChar char="●"/>
            </a:pPr>
            <a:r>
              <a:rPr b="1" lang="en" sz="3100"/>
              <a:t>Cloud/Mobile 2000-Present</a:t>
            </a:r>
            <a:endParaRPr b="1" sz="3100"/>
          </a:p>
          <a:p>
            <a:pPr indent="-425450" lvl="0" marL="457200" rtl="0" algn="l">
              <a:spcBef>
                <a:spcPts val="0"/>
              </a:spcBef>
              <a:spcAft>
                <a:spcPts val="0"/>
              </a:spcAft>
              <a:buSzPts val="3100"/>
              <a:buChar char="●"/>
            </a:pPr>
            <a:r>
              <a:rPr b="1" lang="en" sz="3100"/>
              <a:t>AI - 2010 …and 2020 growing fast</a:t>
            </a:r>
            <a:endParaRPr b="1" sz="3100"/>
          </a:p>
        </p:txBody>
      </p:sp>
      <p:sp>
        <p:nvSpPr>
          <p:cNvPr id="204" name="Google Shape;204;p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3744">
                <a:solidFill>
                  <a:schemeClr val="lt1"/>
                </a:solidFill>
                <a:latin typeface="Nunito"/>
                <a:ea typeface="Nunito"/>
                <a:cs typeface="Nunito"/>
                <a:sym typeface="Nunito"/>
              </a:rPr>
              <a:t>What is </a:t>
            </a:r>
            <a:endParaRPr b="1" sz="3744">
              <a:solidFill>
                <a:schemeClr val="lt1"/>
              </a:solidFill>
              <a:latin typeface="Nunito"/>
              <a:ea typeface="Nunito"/>
              <a:cs typeface="Nunito"/>
              <a:sym typeface="Nunito"/>
            </a:endParaRPr>
          </a:p>
          <a:p>
            <a:pPr indent="-466371" lvl="0" marL="914400" rtl="0" algn="l">
              <a:spcBef>
                <a:spcPts val="0"/>
              </a:spcBef>
              <a:spcAft>
                <a:spcPts val="0"/>
              </a:spcAft>
              <a:buClr>
                <a:schemeClr val="lt1"/>
              </a:buClr>
              <a:buSzPts val="3744"/>
              <a:buFont typeface="Nunito"/>
              <a:buChar char="●"/>
            </a:pPr>
            <a:r>
              <a:rPr b="1" lang="en" sz="3744">
                <a:solidFill>
                  <a:schemeClr val="lt1"/>
                </a:solidFill>
                <a:latin typeface="Nunito"/>
                <a:ea typeface="Nunito"/>
                <a:cs typeface="Nunito"/>
                <a:sym typeface="Nunito"/>
              </a:rPr>
              <a:t>AI (</a:t>
            </a:r>
            <a:r>
              <a:rPr b="1" lang="en" sz="3744" u="sng">
                <a:solidFill>
                  <a:schemeClr val="hlink"/>
                </a:solidFill>
                <a:latin typeface="Nunito"/>
                <a:ea typeface="Nunito"/>
                <a:cs typeface="Nunito"/>
                <a:sym typeface="Nunito"/>
                <a:hlinkClick r:id="rId3"/>
              </a:rPr>
              <a:t>Artificial Intelligence</a:t>
            </a:r>
            <a:r>
              <a:rPr b="1" lang="en" sz="3744">
                <a:solidFill>
                  <a:schemeClr val="lt1"/>
                </a:solidFill>
                <a:latin typeface="Nunito"/>
                <a:ea typeface="Nunito"/>
                <a:cs typeface="Nunito"/>
                <a:sym typeface="Nunito"/>
              </a:rPr>
              <a:t>)</a:t>
            </a:r>
            <a:endParaRPr b="1" sz="3744">
              <a:solidFill>
                <a:schemeClr val="lt1"/>
              </a:solidFill>
              <a:latin typeface="Nunito"/>
              <a:ea typeface="Nunito"/>
              <a:cs typeface="Nunito"/>
              <a:sym typeface="Nunito"/>
            </a:endParaRPr>
          </a:p>
          <a:p>
            <a:pPr indent="-466371" lvl="0" marL="914400" rtl="0" algn="l">
              <a:spcBef>
                <a:spcPts val="0"/>
              </a:spcBef>
              <a:spcAft>
                <a:spcPts val="0"/>
              </a:spcAft>
              <a:buClr>
                <a:schemeClr val="lt1"/>
              </a:buClr>
              <a:buSzPts val="3744"/>
              <a:buFont typeface="Nunito"/>
              <a:buChar char="●"/>
            </a:pPr>
            <a:r>
              <a:rPr b="1" lang="en" sz="3744">
                <a:solidFill>
                  <a:schemeClr val="lt1"/>
                </a:solidFill>
                <a:latin typeface="Nunito"/>
                <a:ea typeface="Nunito"/>
                <a:cs typeface="Nunito"/>
                <a:sym typeface="Nunito"/>
              </a:rPr>
              <a:t>ML (</a:t>
            </a:r>
            <a:r>
              <a:rPr b="1" lang="en" sz="3744" u="sng">
                <a:solidFill>
                  <a:schemeClr val="hlink"/>
                </a:solidFill>
                <a:latin typeface="Nunito"/>
                <a:ea typeface="Nunito"/>
                <a:cs typeface="Nunito"/>
                <a:sym typeface="Nunito"/>
                <a:hlinkClick r:id="rId4"/>
              </a:rPr>
              <a:t>Machine Learning</a:t>
            </a:r>
            <a:r>
              <a:rPr b="1" lang="en" sz="3744">
                <a:solidFill>
                  <a:schemeClr val="lt1"/>
                </a:solidFill>
                <a:latin typeface="Nunito"/>
                <a:ea typeface="Nunito"/>
                <a:cs typeface="Nunito"/>
                <a:sym typeface="Nunito"/>
              </a:rPr>
              <a:t>)</a:t>
            </a:r>
            <a:endParaRPr b="1" sz="3744">
              <a:solidFill>
                <a:schemeClr val="lt1"/>
              </a:solidFill>
              <a:latin typeface="Nunito"/>
              <a:ea typeface="Nunito"/>
              <a:cs typeface="Nunito"/>
              <a:sym typeface="Nunito"/>
            </a:endParaRPr>
          </a:p>
          <a:p>
            <a:pPr indent="-466371" lvl="0" marL="914400" rtl="0" algn="l">
              <a:spcBef>
                <a:spcPts val="0"/>
              </a:spcBef>
              <a:spcAft>
                <a:spcPts val="0"/>
              </a:spcAft>
              <a:buClr>
                <a:schemeClr val="lt1"/>
              </a:buClr>
              <a:buSzPts val="3744"/>
              <a:buFont typeface="Nunito"/>
              <a:buChar char="●"/>
            </a:pPr>
            <a:r>
              <a:rPr b="1" lang="en" sz="3744">
                <a:solidFill>
                  <a:schemeClr val="lt1"/>
                </a:solidFill>
                <a:latin typeface="Nunito"/>
                <a:ea typeface="Nunito"/>
                <a:cs typeface="Nunito"/>
                <a:sym typeface="Nunito"/>
              </a:rPr>
              <a:t>DL (</a:t>
            </a:r>
            <a:r>
              <a:rPr b="1" lang="en" sz="3744" u="sng">
                <a:solidFill>
                  <a:schemeClr val="hlink"/>
                </a:solidFill>
                <a:latin typeface="Nunito"/>
                <a:ea typeface="Nunito"/>
                <a:cs typeface="Nunito"/>
                <a:sym typeface="Nunito"/>
                <a:hlinkClick r:id="rId5"/>
              </a:rPr>
              <a:t>Deep Learning</a:t>
            </a:r>
            <a:r>
              <a:rPr b="1" lang="en" sz="3744">
                <a:solidFill>
                  <a:schemeClr val="lt1"/>
                </a:solidFill>
                <a:latin typeface="Nunito"/>
                <a:ea typeface="Nunito"/>
                <a:cs typeface="Nunito"/>
                <a:sym typeface="Nunito"/>
              </a:rPr>
              <a:t>)</a:t>
            </a:r>
            <a:endParaRPr b="1" sz="3744">
              <a:solidFill>
                <a:schemeClr val="lt1"/>
              </a:solidFill>
              <a:latin typeface="Nunito"/>
              <a:ea typeface="Nunito"/>
              <a:cs typeface="Nunito"/>
              <a:sym typeface="Nunito"/>
            </a:endParaRPr>
          </a:p>
          <a:p>
            <a:pPr indent="-466371" lvl="0" marL="914400" rtl="0" algn="l">
              <a:spcBef>
                <a:spcPts val="0"/>
              </a:spcBef>
              <a:spcAft>
                <a:spcPts val="0"/>
              </a:spcAft>
              <a:buClr>
                <a:schemeClr val="lt1"/>
              </a:buClr>
              <a:buSzPts val="3744"/>
              <a:buFont typeface="Nunito"/>
              <a:buChar char="●"/>
            </a:pPr>
            <a:r>
              <a:rPr b="1" lang="en" sz="3744">
                <a:solidFill>
                  <a:schemeClr val="lt1"/>
                </a:solidFill>
                <a:latin typeface="Nunito"/>
                <a:ea typeface="Nunito"/>
                <a:cs typeface="Nunito"/>
                <a:sym typeface="Nunito"/>
              </a:rPr>
              <a:t>LLM (</a:t>
            </a:r>
            <a:r>
              <a:rPr b="1" lang="en" sz="3744" u="sng">
                <a:solidFill>
                  <a:schemeClr val="hlink"/>
                </a:solidFill>
                <a:latin typeface="Nunito"/>
                <a:ea typeface="Nunito"/>
                <a:cs typeface="Nunito"/>
                <a:sym typeface="Nunito"/>
                <a:hlinkClick r:id="rId6"/>
              </a:rPr>
              <a:t>Large Language Model</a:t>
            </a:r>
            <a:r>
              <a:rPr b="1" lang="en" sz="3744">
                <a:solidFill>
                  <a:schemeClr val="lt1"/>
                </a:solidFill>
                <a:latin typeface="Nunito"/>
                <a:ea typeface="Nunito"/>
                <a:cs typeface="Nunito"/>
                <a:sym typeface="Nunito"/>
              </a:rPr>
              <a:t>)</a:t>
            </a:r>
            <a:endParaRPr b="1" sz="3744">
              <a:solidFill>
                <a:schemeClr val="lt1"/>
              </a:solidFill>
              <a:latin typeface="Nunito"/>
              <a:ea typeface="Nunito"/>
              <a:cs typeface="Nunito"/>
              <a:sym typeface="Nunito"/>
            </a:endParaRPr>
          </a:p>
          <a:p>
            <a:pPr indent="-466371" lvl="0" marL="914400" rtl="0" algn="l">
              <a:spcBef>
                <a:spcPts val="0"/>
              </a:spcBef>
              <a:spcAft>
                <a:spcPts val="0"/>
              </a:spcAft>
              <a:buClr>
                <a:schemeClr val="lt1"/>
              </a:buClr>
              <a:buSzPts val="3744"/>
              <a:buFont typeface="Nunito"/>
              <a:buChar char="●"/>
            </a:pPr>
            <a:r>
              <a:rPr b="1" lang="en" sz="3744">
                <a:solidFill>
                  <a:schemeClr val="lt1"/>
                </a:solidFill>
                <a:latin typeface="Nunito"/>
                <a:ea typeface="Nunito"/>
                <a:cs typeface="Nunito"/>
                <a:sym typeface="Nunito"/>
              </a:rPr>
              <a:t>Gen AI (</a:t>
            </a:r>
            <a:r>
              <a:rPr b="1" lang="en" sz="3744" u="sng">
                <a:solidFill>
                  <a:schemeClr val="hlink"/>
                </a:solidFill>
                <a:latin typeface="Nunito"/>
                <a:ea typeface="Nunito"/>
                <a:cs typeface="Nunito"/>
                <a:sym typeface="Nunito"/>
                <a:hlinkClick r:id="rId7"/>
              </a:rPr>
              <a:t>Generative AI</a:t>
            </a:r>
            <a:r>
              <a:rPr b="1" lang="en" sz="3744">
                <a:solidFill>
                  <a:schemeClr val="lt1"/>
                </a:solidFill>
                <a:latin typeface="Nunito"/>
                <a:ea typeface="Nunito"/>
                <a:cs typeface="Nunito"/>
                <a:sym typeface="Nunito"/>
              </a:rPr>
              <a:t>)</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10" name="Google Shape;210;p2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3744" u="sng">
                <a:solidFill>
                  <a:schemeClr val="accent5"/>
                </a:solidFill>
                <a:latin typeface="Nunito"/>
                <a:ea typeface="Nunito"/>
                <a:cs typeface="Nunito"/>
                <a:sym typeface="Nunito"/>
                <a:hlinkClick r:id="rId3">
                  <a:extLst>
                    <a:ext uri="{A12FA001-AC4F-418D-AE19-62706E023703}">
                      <ahyp:hlinkClr val="tx"/>
                    </a:ext>
                  </a:extLst>
                </a:hlinkClick>
              </a:rPr>
              <a:t>Artificial Intelligence</a:t>
            </a:r>
            <a:endParaRPr b="1" sz="3744">
              <a:solidFill>
                <a:schemeClr val="lt1"/>
              </a:solidFill>
              <a:latin typeface="Nunito"/>
              <a:ea typeface="Nunito"/>
              <a:cs typeface="Nunito"/>
              <a:sym typeface="Nunito"/>
            </a:endParaRPr>
          </a:p>
          <a:p>
            <a:pPr indent="0" lvl="0" marL="0" rtl="0" algn="just">
              <a:spcBef>
                <a:spcPts val="0"/>
              </a:spcBef>
              <a:spcAft>
                <a:spcPts val="0"/>
              </a:spcAft>
              <a:buNone/>
            </a:pPr>
            <a:r>
              <a:rPr b="1" lang="en" sz="2450">
                <a:solidFill>
                  <a:srgbClr val="202122"/>
                </a:solidFill>
                <a:highlight>
                  <a:srgbClr val="FFFFFF"/>
                </a:highlight>
              </a:rPr>
              <a:t>Artificial intelligence</a:t>
            </a:r>
            <a:r>
              <a:rPr lang="en" sz="2450">
                <a:solidFill>
                  <a:srgbClr val="202122"/>
                </a:solidFill>
                <a:highlight>
                  <a:srgbClr val="FFFFFF"/>
                </a:highlight>
              </a:rPr>
              <a:t> (</a:t>
            </a:r>
            <a:r>
              <a:rPr b="1" lang="en" sz="2450">
                <a:solidFill>
                  <a:srgbClr val="202122"/>
                </a:solidFill>
                <a:highlight>
                  <a:srgbClr val="FFFFFF"/>
                </a:highlight>
              </a:rPr>
              <a:t>AI</a:t>
            </a:r>
            <a:r>
              <a:rPr lang="en" sz="2450">
                <a:solidFill>
                  <a:srgbClr val="202122"/>
                </a:solidFill>
                <a:highlight>
                  <a:srgbClr val="FFFFFF"/>
                </a:highlight>
              </a:rPr>
              <a:t>), in its broadest sense, is </a:t>
            </a:r>
            <a:r>
              <a:rPr lang="en" sz="2450">
                <a:solidFill>
                  <a:schemeClr val="hlink"/>
                </a:solidFill>
                <a:highlight>
                  <a:srgbClr val="FFFFFF"/>
                </a:highlight>
                <a:uFill>
                  <a:noFill/>
                </a:uFill>
                <a:hlinkClick r:id="rId4"/>
              </a:rPr>
              <a:t>intelligence</a:t>
            </a:r>
            <a:r>
              <a:rPr lang="en" sz="2450">
                <a:solidFill>
                  <a:srgbClr val="202122"/>
                </a:solidFill>
                <a:highlight>
                  <a:srgbClr val="FFFFFF"/>
                </a:highlight>
              </a:rPr>
              <a:t> exhibited by </a:t>
            </a:r>
            <a:r>
              <a:rPr lang="en" sz="2450">
                <a:solidFill>
                  <a:schemeClr val="hlink"/>
                </a:solidFill>
                <a:highlight>
                  <a:srgbClr val="FFFFFF"/>
                </a:highlight>
                <a:uFill>
                  <a:noFill/>
                </a:uFill>
                <a:hlinkClick r:id="rId5"/>
              </a:rPr>
              <a:t>machines</a:t>
            </a:r>
            <a:r>
              <a:rPr lang="en" sz="2450">
                <a:solidFill>
                  <a:srgbClr val="202122"/>
                </a:solidFill>
                <a:highlight>
                  <a:srgbClr val="FFFFFF"/>
                </a:highlight>
              </a:rPr>
              <a:t>, particularly </a:t>
            </a:r>
            <a:r>
              <a:rPr lang="en" sz="2450">
                <a:solidFill>
                  <a:schemeClr val="hlink"/>
                </a:solidFill>
                <a:highlight>
                  <a:srgbClr val="FFFFFF"/>
                </a:highlight>
                <a:uFill>
                  <a:noFill/>
                </a:uFill>
                <a:hlinkClick r:id="rId6"/>
              </a:rPr>
              <a:t>computer systems</a:t>
            </a:r>
            <a:r>
              <a:rPr lang="en" sz="2450">
                <a:solidFill>
                  <a:srgbClr val="202122"/>
                </a:solidFill>
                <a:highlight>
                  <a:srgbClr val="FFFFFF"/>
                </a:highlight>
              </a:rPr>
              <a:t>. It is a </a:t>
            </a:r>
            <a:r>
              <a:rPr lang="en" sz="2450">
                <a:solidFill>
                  <a:schemeClr val="hlink"/>
                </a:solidFill>
                <a:highlight>
                  <a:srgbClr val="FFFFFF"/>
                </a:highlight>
                <a:uFill>
                  <a:noFill/>
                </a:uFill>
                <a:hlinkClick r:id="rId7"/>
              </a:rPr>
              <a:t>field of research</a:t>
            </a:r>
            <a:r>
              <a:rPr lang="en" sz="2450">
                <a:solidFill>
                  <a:srgbClr val="202122"/>
                </a:solidFill>
                <a:highlight>
                  <a:srgbClr val="FFFFFF"/>
                </a:highlight>
              </a:rPr>
              <a:t> in </a:t>
            </a:r>
            <a:r>
              <a:rPr lang="en" sz="2450">
                <a:solidFill>
                  <a:schemeClr val="hlink"/>
                </a:solidFill>
                <a:highlight>
                  <a:srgbClr val="FFFFFF"/>
                </a:highlight>
                <a:uFill>
                  <a:noFill/>
                </a:uFill>
                <a:hlinkClick r:id="rId8"/>
              </a:rPr>
              <a:t>computer science</a:t>
            </a:r>
            <a:r>
              <a:rPr lang="en" sz="2450">
                <a:solidFill>
                  <a:srgbClr val="202122"/>
                </a:solidFill>
                <a:highlight>
                  <a:srgbClr val="FFFFFF"/>
                </a:highlight>
              </a:rPr>
              <a:t> that develops and studies methods and </a:t>
            </a:r>
            <a:r>
              <a:rPr lang="en" sz="2450">
                <a:solidFill>
                  <a:schemeClr val="hlink"/>
                </a:solidFill>
                <a:highlight>
                  <a:srgbClr val="FFFFFF"/>
                </a:highlight>
                <a:uFill>
                  <a:noFill/>
                </a:uFill>
                <a:hlinkClick r:id="rId9"/>
              </a:rPr>
              <a:t>software</a:t>
            </a:r>
            <a:r>
              <a:rPr lang="en" sz="2450">
                <a:solidFill>
                  <a:srgbClr val="202122"/>
                </a:solidFill>
                <a:highlight>
                  <a:srgbClr val="FFFFFF"/>
                </a:highlight>
              </a:rPr>
              <a:t> that enable machines to </a:t>
            </a:r>
            <a:r>
              <a:rPr lang="en" sz="2450">
                <a:solidFill>
                  <a:schemeClr val="hlink"/>
                </a:solidFill>
                <a:highlight>
                  <a:srgbClr val="FFFFFF"/>
                </a:highlight>
                <a:uFill>
                  <a:noFill/>
                </a:uFill>
                <a:hlinkClick r:id="rId10"/>
              </a:rPr>
              <a:t>perceive their environment</a:t>
            </a:r>
            <a:r>
              <a:rPr lang="en" sz="2450">
                <a:solidFill>
                  <a:srgbClr val="202122"/>
                </a:solidFill>
                <a:highlight>
                  <a:srgbClr val="FFFFFF"/>
                </a:highlight>
              </a:rPr>
              <a:t> and uses </a:t>
            </a:r>
            <a:r>
              <a:rPr b="1" lang="en" sz="2450" u="sng">
                <a:solidFill>
                  <a:schemeClr val="hlink"/>
                </a:solidFill>
                <a:highlight>
                  <a:srgbClr val="00FF00"/>
                </a:highlight>
                <a:hlinkClick r:id="rId11"/>
              </a:rPr>
              <a:t>learning</a:t>
            </a:r>
            <a:r>
              <a:rPr b="1" lang="en" sz="2450" u="sng">
                <a:solidFill>
                  <a:srgbClr val="202122"/>
                </a:solidFill>
                <a:highlight>
                  <a:srgbClr val="00FF00"/>
                </a:highlight>
              </a:rPr>
              <a:t> and </a:t>
            </a:r>
            <a:r>
              <a:rPr b="1" lang="en" sz="2450" u="sng">
                <a:solidFill>
                  <a:srgbClr val="FF0000"/>
                </a:solidFill>
                <a:highlight>
                  <a:srgbClr val="00FF00"/>
                </a:highlight>
              </a:rPr>
              <a:t>intelligence</a:t>
            </a:r>
            <a:r>
              <a:rPr lang="en" sz="2450">
                <a:solidFill>
                  <a:srgbClr val="202122"/>
                </a:solidFill>
                <a:highlight>
                  <a:srgbClr val="FFFFFF"/>
                </a:highlight>
              </a:rPr>
              <a:t> to take actions that maximize their chances of achieving defined goals.</a:t>
            </a:r>
            <a:endParaRPr b="1" sz="5144">
              <a:solidFill>
                <a:schemeClr val="lt1"/>
              </a:solidFill>
              <a:latin typeface="Nunito"/>
              <a:ea typeface="Nunito"/>
              <a:cs typeface="Nunito"/>
              <a:sym typeface="Nunito"/>
            </a:endParaRPr>
          </a:p>
          <a:p>
            <a:pPr indent="0" lvl="0" marL="1371600" rtl="0" algn="l">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16" name="Google Shape;216;p2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44" u="sng">
                <a:solidFill>
                  <a:schemeClr val="accent5"/>
                </a:solidFill>
                <a:latin typeface="Nunito"/>
                <a:ea typeface="Nunito"/>
                <a:cs typeface="Nunito"/>
                <a:sym typeface="Nunito"/>
                <a:hlinkClick r:id="rId3">
                  <a:extLst>
                    <a:ext uri="{A12FA001-AC4F-418D-AE19-62706E023703}">
                      <ahyp:hlinkClr val="tx"/>
                    </a:ext>
                  </a:extLst>
                </a:hlinkClick>
              </a:rPr>
              <a:t>Machine Learning</a:t>
            </a:r>
            <a:endParaRPr b="1" sz="3744">
              <a:solidFill>
                <a:schemeClr val="lt1"/>
              </a:solidFill>
              <a:latin typeface="Nunito"/>
              <a:ea typeface="Nunito"/>
              <a:cs typeface="Nunito"/>
              <a:sym typeface="Nunito"/>
            </a:endParaRPr>
          </a:p>
          <a:p>
            <a:pPr indent="0" lvl="0" marL="0" rtl="0" algn="just">
              <a:spcBef>
                <a:spcPts val="0"/>
              </a:spcBef>
              <a:spcAft>
                <a:spcPts val="0"/>
              </a:spcAft>
              <a:buNone/>
            </a:pPr>
            <a:r>
              <a:rPr b="1" lang="en" sz="3050">
                <a:solidFill>
                  <a:srgbClr val="202122"/>
                </a:solidFill>
                <a:highlight>
                  <a:srgbClr val="FFFFFF"/>
                </a:highlight>
              </a:rPr>
              <a:t>Machine learning</a:t>
            </a:r>
            <a:r>
              <a:rPr lang="en" sz="3050">
                <a:solidFill>
                  <a:srgbClr val="202122"/>
                </a:solidFill>
                <a:highlight>
                  <a:srgbClr val="FFFFFF"/>
                </a:highlight>
              </a:rPr>
              <a:t> (</a:t>
            </a:r>
            <a:r>
              <a:rPr b="1" lang="en" sz="3050">
                <a:solidFill>
                  <a:srgbClr val="202122"/>
                </a:solidFill>
                <a:highlight>
                  <a:srgbClr val="FFFFFF"/>
                </a:highlight>
              </a:rPr>
              <a:t>ML</a:t>
            </a:r>
            <a:r>
              <a:rPr lang="en" sz="3050">
                <a:solidFill>
                  <a:srgbClr val="202122"/>
                </a:solidFill>
                <a:highlight>
                  <a:srgbClr val="FFFFFF"/>
                </a:highlight>
              </a:rPr>
              <a:t>) is a </a:t>
            </a:r>
            <a:r>
              <a:rPr lang="en" sz="3050">
                <a:solidFill>
                  <a:schemeClr val="hlink"/>
                </a:solidFill>
                <a:highlight>
                  <a:srgbClr val="FFFFFF"/>
                </a:highlight>
                <a:uFill>
                  <a:noFill/>
                </a:uFill>
                <a:hlinkClick r:id="rId4"/>
              </a:rPr>
              <a:t>field of study</a:t>
            </a:r>
            <a:r>
              <a:rPr lang="en" sz="3050">
                <a:solidFill>
                  <a:srgbClr val="202122"/>
                </a:solidFill>
                <a:highlight>
                  <a:srgbClr val="FFFFFF"/>
                </a:highlight>
              </a:rPr>
              <a:t> in </a:t>
            </a:r>
            <a:r>
              <a:rPr lang="en" sz="3050">
                <a:solidFill>
                  <a:schemeClr val="hlink"/>
                </a:solidFill>
                <a:highlight>
                  <a:srgbClr val="FFFFFF"/>
                </a:highlight>
                <a:uFill>
                  <a:noFill/>
                </a:uFill>
                <a:hlinkClick r:id="rId5"/>
              </a:rPr>
              <a:t>artificial intelligence</a:t>
            </a:r>
            <a:r>
              <a:rPr lang="en" sz="3050">
                <a:solidFill>
                  <a:srgbClr val="202122"/>
                </a:solidFill>
                <a:highlight>
                  <a:srgbClr val="FFFFFF"/>
                </a:highlight>
              </a:rPr>
              <a:t> concerned with the development and study of </a:t>
            </a:r>
            <a:r>
              <a:rPr lang="en" sz="3050">
                <a:solidFill>
                  <a:schemeClr val="hlink"/>
                </a:solidFill>
                <a:highlight>
                  <a:srgbClr val="00FF00"/>
                </a:highlight>
                <a:uFill>
                  <a:noFill/>
                </a:uFill>
                <a:hlinkClick r:id="rId6"/>
              </a:rPr>
              <a:t>statistical algorithms</a:t>
            </a:r>
            <a:r>
              <a:rPr lang="en" sz="3050">
                <a:solidFill>
                  <a:srgbClr val="202122"/>
                </a:solidFill>
                <a:highlight>
                  <a:srgbClr val="00FF00"/>
                </a:highlight>
              </a:rPr>
              <a:t> that can </a:t>
            </a:r>
            <a:r>
              <a:rPr b="1" lang="en" sz="3050">
                <a:solidFill>
                  <a:srgbClr val="FF0000"/>
                </a:solidFill>
                <a:highlight>
                  <a:srgbClr val="00FF00"/>
                </a:highlight>
              </a:rPr>
              <a:t>learn</a:t>
            </a:r>
            <a:r>
              <a:rPr lang="en" sz="3050">
                <a:solidFill>
                  <a:srgbClr val="202122"/>
                </a:solidFill>
                <a:highlight>
                  <a:srgbClr val="00FF00"/>
                </a:highlight>
              </a:rPr>
              <a:t> from </a:t>
            </a:r>
            <a:r>
              <a:rPr lang="en" sz="3050">
                <a:solidFill>
                  <a:schemeClr val="hlink"/>
                </a:solidFill>
                <a:highlight>
                  <a:srgbClr val="00FF00"/>
                </a:highlight>
                <a:uFill>
                  <a:noFill/>
                </a:uFill>
                <a:hlinkClick r:id="rId7"/>
              </a:rPr>
              <a:t>data</a:t>
            </a:r>
            <a:r>
              <a:rPr lang="en" sz="3050">
                <a:solidFill>
                  <a:srgbClr val="202122"/>
                </a:solidFill>
                <a:highlight>
                  <a:srgbClr val="FFFFFF"/>
                </a:highlight>
              </a:rPr>
              <a:t> and </a:t>
            </a:r>
            <a:r>
              <a:rPr lang="en" sz="3050">
                <a:solidFill>
                  <a:schemeClr val="hlink"/>
                </a:solidFill>
                <a:highlight>
                  <a:srgbClr val="FFFFFF"/>
                </a:highlight>
                <a:uFill>
                  <a:noFill/>
                </a:uFill>
                <a:hlinkClick r:id="rId8"/>
              </a:rPr>
              <a:t>generalize</a:t>
            </a:r>
            <a:r>
              <a:rPr lang="en" sz="3050">
                <a:solidFill>
                  <a:srgbClr val="202122"/>
                </a:solidFill>
                <a:highlight>
                  <a:srgbClr val="FFFFFF"/>
                </a:highlight>
              </a:rPr>
              <a:t> to unseen data, and thus perform </a:t>
            </a:r>
            <a:r>
              <a:rPr lang="en" sz="3050">
                <a:solidFill>
                  <a:schemeClr val="hlink"/>
                </a:solidFill>
                <a:highlight>
                  <a:srgbClr val="FFFFFF"/>
                </a:highlight>
                <a:uFill>
                  <a:noFill/>
                </a:uFill>
                <a:hlinkClick r:id="rId9"/>
              </a:rPr>
              <a:t>tasks</a:t>
            </a:r>
            <a:r>
              <a:rPr lang="en" sz="3050">
                <a:solidFill>
                  <a:srgbClr val="202122"/>
                </a:solidFill>
                <a:highlight>
                  <a:srgbClr val="FFFFFF"/>
                </a:highlight>
              </a:rPr>
              <a:t> without explicit </a:t>
            </a:r>
            <a:r>
              <a:rPr lang="en" sz="3050">
                <a:solidFill>
                  <a:schemeClr val="hlink"/>
                </a:solidFill>
                <a:highlight>
                  <a:srgbClr val="FFFFFF"/>
                </a:highlight>
                <a:uFill>
                  <a:noFill/>
                </a:uFill>
                <a:hlinkClick r:id="rId10"/>
              </a:rPr>
              <a:t>instructions</a:t>
            </a:r>
            <a:r>
              <a:rPr lang="en" sz="3050">
                <a:solidFill>
                  <a:srgbClr val="202122"/>
                </a:solidFill>
                <a:highlight>
                  <a:srgbClr val="FFFFFF"/>
                </a:highlight>
              </a:rPr>
              <a:t>.</a:t>
            </a:r>
            <a:endParaRPr b="1" sz="5744">
              <a:solidFill>
                <a:schemeClr val="lt1"/>
              </a:solidFill>
              <a:latin typeface="Nunito"/>
              <a:ea typeface="Nunito"/>
              <a:cs typeface="Nunito"/>
              <a:sym typeface="Nunito"/>
            </a:endParaRPr>
          </a:p>
          <a:p>
            <a:pPr indent="0" lvl="0" marL="1371600" rtl="0" algn="l">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22" name="Google Shape;222;p2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44" u="sng">
                <a:solidFill>
                  <a:schemeClr val="accent5"/>
                </a:solidFill>
                <a:latin typeface="Nunito"/>
                <a:ea typeface="Nunito"/>
                <a:cs typeface="Nunito"/>
                <a:sym typeface="Nunito"/>
                <a:hlinkClick r:id="rId3">
                  <a:extLst>
                    <a:ext uri="{A12FA001-AC4F-418D-AE19-62706E023703}">
                      <ahyp:hlinkClr val="tx"/>
                    </a:ext>
                  </a:extLst>
                </a:hlinkClick>
              </a:rPr>
              <a:t>Deep Learning</a:t>
            </a:r>
            <a:endParaRPr b="1" sz="3744">
              <a:solidFill>
                <a:schemeClr val="lt1"/>
              </a:solidFill>
              <a:latin typeface="Nunito"/>
              <a:ea typeface="Nunito"/>
              <a:cs typeface="Nunito"/>
              <a:sym typeface="Nunito"/>
            </a:endParaRPr>
          </a:p>
          <a:p>
            <a:pPr indent="0" lvl="0" marL="0" rtl="0" algn="just">
              <a:spcBef>
                <a:spcPts val="0"/>
              </a:spcBef>
              <a:spcAft>
                <a:spcPts val="0"/>
              </a:spcAft>
              <a:buNone/>
            </a:pPr>
            <a:r>
              <a:rPr b="1" lang="en" sz="2850">
                <a:solidFill>
                  <a:srgbClr val="202122"/>
                </a:solidFill>
                <a:highlight>
                  <a:srgbClr val="FFFFFF"/>
                </a:highlight>
              </a:rPr>
              <a:t>Deep learning (DL)</a:t>
            </a:r>
            <a:r>
              <a:rPr lang="en" sz="2850">
                <a:solidFill>
                  <a:srgbClr val="202122"/>
                </a:solidFill>
                <a:highlight>
                  <a:srgbClr val="FFFFFF"/>
                </a:highlight>
              </a:rPr>
              <a:t> is the subset of </a:t>
            </a:r>
            <a:r>
              <a:rPr lang="en" sz="2850">
                <a:solidFill>
                  <a:schemeClr val="hlink"/>
                </a:solidFill>
                <a:highlight>
                  <a:srgbClr val="FFFFFF"/>
                </a:highlight>
                <a:uFill>
                  <a:noFill/>
                </a:uFill>
                <a:hlinkClick r:id="rId4"/>
              </a:rPr>
              <a:t>machine learning</a:t>
            </a:r>
            <a:r>
              <a:rPr lang="en" sz="2850">
                <a:solidFill>
                  <a:srgbClr val="202122"/>
                </a:solidFill>
                <a:highlight>
                  <a:srgbClr val="FFFFFF"/>
                </a:highlight>
              </a:rPr>
              <a:t> methods based on </a:t>
            </a:r>
            <a:r>
              <a:rPr b="1" lang="en" sz="2850">
                <a:solidFill>
                  <a:schemeClr val="dk2"/>
                </a:solidFill>
                <a:highlight>
                  <a:srgbClr val="00FF00"/>
                </a:highlight>
                <a:uFill>
                  <a:noFill/>
                </a:uFill>
                <a:hlinkClick r:id="rId5">
                  <a:extLst>
                    <a:ext uri="{A12FA001-AC4F-418D-AE19-62706E023703}">
                      <ahyp:hlinkClr val="tx"/>
                    </a:ext>
                  </a:extLst>
                </a:hlinkClick>
              </a:rPr>
              <a:t>neural networks</a:t>
            </a:r>
            <a:r>
              <a:rPr lang="en" sz="2850">
                <a:solidFill>
                  <a:srgbClr val="202122"/>
                </a:solidFill>
                <a:highlight>
                  <a:srgbClr val="FFFFFF"/>
                </a:highlight>
              </a:rPr>
              <a:t> with </a:t>
            </a:r>
            <a:r>
              <a:rPr lang="en" sz="2850">
                <a:solidFill>
                  <a:schemeClr val="hlink"/>
                </a:solidFill>
                <a:highlight>
                  <a:srgbClr val="FFFFFF"/>
                </a:highlight>
                <a:uFill>
                  <a:noFill/>
                </a:uFill>
                <a:hlinkClick r:id="rId6"/>
              </a:rPr>
              <a:t>representation learning</a:t>
            </a:r>
            <a:r>
              <a:rPr lang="en" sz="2850">
                <a:solidFill>
                  <a:srgbClr val="202122"/>
                </a:solidFill>
                <a:highlight>
                  <a:srgbClr val="FFFFFF"/>
                </a:highlight>
              </a:rPr>
              <a:t>. The adjective "</a:t>
            </a:r>
            <a:r>
              <a:rPr b="1" lang="en" sz="2850">
                <a:solidFill>
                  <a:srgbClr val="FF0000"/>
                </a:solidFill>
                <a:highlight>
                  <a:srgbClr val="FFFFFF"/>
                </a:highlight>
              </a:rPr>
              <a:t>deep</a:t>
            </a:r>
            <a:r>
              <a:rPr lang="en" sz="2850">
                <a:solidFill>
                  <a:srgbClr val="202122"/>
                </a:solidFill>
                <a:highlight>
                  <a:srgbClr val="FFFFFF"/>
                </a:highlight>
              </a:rPr>
              <a:t>" refers to the use of multiple layers in the network. Methods used can be either </a:t>
            </a:r>
            <a:r>
              <a:rPr lang="en" sz="2850">
                <a:solidFill>
                  <a:schemeClr val="hlink"/>
                </a:solidFill>
                <a:highlight>
                  <a:srgbClr val="FFFFFF"/>
                </a:highlight>
                <a:uFill>
                  <a:noFill/>
                </a:uFill>
                <a:hlinkClick r:id="rId7"/>
              </a:rPr>
              <a:t>supervised</a:t>
            </a:r>
            <a:r>
              <a:rPr lang="en" sz="2850">
                <a:solidFill>
                  <a:srgbClr val="202122"/>
                </a:solidFill>
                <a:highlight>
                  <a:srgbClr val="FFFFFF"/>
                </a:highlight>
              </a:rPr>
              <a:t>, </a:t>
            </a:r>
            <a:r>
              <a:rPr lang="en" sz="2850">
                <a:solidFill>
                  <a:schemeClr val="hlink"/>
                </a:solidFill>
                <a:highlight>
                  <a:srgbClr val="FFFFFF"/>
                </a:highlight>
                <a:uFill>
                  <a:noFill/>
                </a:uFill>
                <a:hlinkClick r:id="rId8"/>
              </a:rPr>
              <a:t>semi-supervised</a:t>
            </a:r>
            <a:r>
              <a:rPr lang="en" sz="2850">
                <a:solidFill>
                  <a:srgbClr val="202122"/>
                </a:solidFill>
                <a:highlight>
                  <a:srgbClr val="FFFFFF"/>
                </a:highlight>
              </a:rPr>
              <a:t> or </a:t>
            </a:r>
            <a:r>
              <a:rPr lang="en" sz="2850">
                <a:solidFill>
                  <a:schemeClr val="hlink"/>
                </a:solidFill>
                <a:highlight>
                  <a:srgbClr val="FFFFFF"/>
                </a:highlight>
                <a:uFill>
                  <a:noFill/>
                </a:uFill>
                <a:hlinkClick r:id="rId9"/>
              </a:rPr>
              <a:t>unsupervised</a:t>
            </a:r>
            <a:endParaRPr b="1" sz="5544">
              <a:solidFill>
                <a:schemeClr val="lt1"/>
              </a:solidFill>
              <a:latin typeface="Nunito"/>
              <a:ea typeface="Nunito"/>
              <a:cs typeface="Nunito"/>
              <a:sym typeface="Nunito"/>
            </a:endParaRPr>
          </a:p>
          <a:p>
            <a:pPr indent="0" lvl="0" marL="1371600" rtl="0" algn="l">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28" name="Google Shape;228;p2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44" u="sng">
                <a:solidFill>
                  <a:schemeClr val="accent5"/>
                </a:solidFill>
                <a:latin typeface="Nunito"/>
                <a:ea typeface="Nunito"/>
                <a:cs typeface="Nunito"/>
                <a:sym typeface="Nunito"/>
                <a:hlinkClick r:id="rId3">
                  <a:extLst>
                    <a:ext uri="{A12FA001-AC4F-418D-AE19-62706E023703}">
                      <ahyp:hlinkClr val="tx"/>
                    </a:ext>
                  </a:extLst>
                </a:hlinkClick>
              </a:rPr>
              <a:t>Large Language Model</a:t>
            </a:r>
            <a:endParaRPr b="1" sz="3744">
              <a:solidFill>
                <a:schemeClr val="lt1"/>
              </a:solidFill>
              <a:latin typeface="Nunito"/>
              <a:ea typeface="Nunito"/>
              <a:cs typeface="Nunito"/>
              <a:sym typeface="Nunito"/>
            </a:endParaRPr>
          </a:p>
          <a:p>
            <a:pPr indent="0" lvl="0" marL="0" rtl="0" algn="just">
              <a:spcBef>
                <a:spcPts val="0"/>
              </a:spcBef>
              <a:spcAft>
                <a:spcPts val="0"/>
              </a:spcAft>
              <a:buNone/>
            </a:pPr>
            <a:r>
              <a:rPr lang="en" sz="2250">
                <a:solidFill>
                  <a:srgbClr val="202122"/>
                </a:solidFill>
                <a:highlight>
                  <a:srgbClr val="FFFFFF"/>
                </a:highlight>
              </a:rPr>
              <a:t>A </a:t>
            </a:r>
            <a:r>
              <a:rPr b="1" lang="en" sz="2250">
                <a:solidFill>
                  <a:srgbClr val="202122"/>
                </a:solidFill>
                <a:highlight>
                  <a:srgbClr val="FFFFFF"/>
                </a:highlight>
              </a:rPr>
              <a:t>large language model</a:t>
            </a:r>
            <a:r>
              <a:rPr lang="en" sz="2250">
                <a:solidFill>
                  <a:srgbClr val="202122"/>
                </a:solidFill>
                <a:highlight>
                  <a:srgbClr val="FFFFFF"/>
                </a:highlight>
              </a:rPr>
              <a:t> (</a:t>
            </a:r>
            <a:r>
              <a:rPr b="1" lang="en" sz="2250">
                <a:solidFill>
                  <a:srgbClr val="202122"/>
                </a:solidFill>
                <a:highlight>
                  <a:srgbClr val="FFFFFF"/>
                </a:highlight>
              </a:rPr>
              <a:t>LLM</a:t>
            </a:r>
            <a:r>
              <a:rPr lang="en" sz="2250">
                <a:solidFill>
                  <a:srgbClr val="202122"/>
                </a:solidFill>
                <a:highlight>
                  <a:srgbClr val="FFFFFF"/>
                </a:highlight>
              </a:rPr>
              <a:t>) is a </a:t>
            </a:r>
            <a:r>
              <a:rPr lang="en" sz="2250">
                <a:solidFill>
                  <a:schemeClr val="hlink"/>
                </a:solidFill>
                <a:highlight>
                  <a:srgbClr val="FFFFFF"/>
                </a:highlight>
                <a:uFill>
                  <a:noFill/>
                </a:uFill>
                <a:hlinkClick r:id="rId4"/>
              </a:rPr>
              <a:t>language model</a:t>
            </a:r>
            <a:r>
              <a:rPr lang="en" sz="2250">
                <a:solidFill>
                  <a:srgbClr val="202122"/>
                </a:solidFill>
                <a:highlight>
                  <a:srgbClr val="FFFFFF"/>
                </a:highlight>
              </a:rPr>
              <a:t> notable for its ability to achieve </a:t>
            </a:r>
            <a:r>
              <a:rPr b="1" lang="en" sz="2250">
                <a:solidFill>
                  <a:srgbClr val="202122"/>
                </a:solidFill>
                <a:highlight>
                  <a:srgbClr val="00FF00"/>
                </a:highlight>
              </a:rPr>
              <a:t>general-purpose </a:t>
            </a:r>
            <a:r>
              <a:rPr b="1" lang="en" sz="2250">
                <a:solidFill>
                  <a:srgbClr val="FF0000"/>
                </a:solidFill>
                <a:highlight>
                  <a:srgbClr val="00FF00"/>
                </a:highlight>
              </a:rPr>
              <a:t>language</a:t>
            </a:r>
            <a:r>
              <a:rPr b="1" lang="en" sz="2250">
                <a:solidFill>
                  <a:srgbClr val="202122"/>
                </a:solidFill>
                <a:highlight>
                  <a:srgbClr val="00FF00"/>
                </a:highlight>
              </a:rPr>
              <a:t> understanding and generation</a:t>
            </a:r>
            <a:r>
              <a:rPr lang="en" sz="2250">
                <a:solidFill>
                  <a:srgbClr val="202122"/>
                </a:solidFill>
                <a:highlight>
                  <a:srgbClr val="FFFFFF"/>
                </a:highlight>
              </a:rPr>
              <a:t>. LLMs acquire these abilities by learning statistical relationships from text documents during a computationally intensive </a:t>
            </a:r>
            <a:r>
              <a:rPr lang="en" sz="2250">
                <a:solidFill>
                  <a:schemeClr val="hlink"/>
                </a:solidFill>
                <a:highlight>
                  <a:srgbClr val="FFFFFF"/>
                </a:highlight>
                <a:uFill>
                  <a:noFill/>
                </a:uFill>
                <a:hlinkClick r:id="rId5"/>
              </a:rPr>
              <a:t>self-supervised</a:t>
            </a:r>
            <a:r>
              <a:rPr lang="en" sz="2250">
                <a:solidFill>
                  <a:srgbClr val="202122"/>
                </a:solidFill>
                <a:highlight>
                  <a:srgbClr val="FFFFFF"/>
                </a:highlight>
              </a:rPr>
              <a:t> and </a:t>
            </a:r>
            <a:r>
              <a:rPr lang="en" sz="2250">
                <a:solidFill>
                  <a:schemeClr val="hlink"/>
                </a:solidFill>
                <a:highlight>
                  <a:srgbClr val="FFFFFF"/>
                </a:highlight>
                <a:uFill>
                  <a:noFill/>
                </a:uFill>
                <a:hlinkClick r:id="rId6"/>
              </a:rPr>
              <a:t>semi-supervised</a:t>
            </a:r>
            <a:r>
              <a:rPr lang="en" sz="2250">
                <a:solidFill>
                  <a:srgbClr val="202122"/>
                </a:solidFill>
                <a:highlight>
                  <a:srgbClr val="FFFFFF"/>
                </a:highlight>
              </a:rPr>
              <a:t> training process.</a:t>
            </a:r>
            <a:r>
              <a:rPr baseline="30000" lang="en" sz="2600">
                <a:solidFill>
                  <a:schemeClr val="hlink"/>
                </a:solidFill>
                <a:highlight>
                  <a:srgbClr val="FFFFFF"/>
                </a:highlight>
                <a:uFill>
                  <a:noFill/>
                </a:uFill>
                <a:hlinkClick r:id="rId7"/>
              </a:rPr>
              <a:t>[1]</a:t>
            </a:r>
            <a:r>
              <a:rPr lang="en" sz="2250">
                <a:solidFill>
                  <a:srgbClr val="202122"/>
                </a:solidFill>
                <a:highlight>
                  <a:srgbClr val="FFFFFF"/>
                </a:highlight>
              </a:rPr>
              <a:t> LLMs can be used for text generation, a form of </a:t>
            </a:r>
            <a:r>
              <a:rPr lang="en" sz="2250">
                <a:solidFill>
                  <a:schemeClr val="hlink"/>
                </a:solidFill>
                <a:highlight>
                  <a:srgbClr val="FFFFFF"/>
                </a:highlight>
                <a:uFill>
                  <a:noFill/>
                </a:uFill>
                <a:hlinkClick r:id="rId8"/>
              </a:rPr>
              <a:t>generative AI</a:t>
            </a:r>
            <a:r>
              <a:rPr lang="en" sz="2250">
                <a:solidFill>
                  <a:srgbClr val="202122"/>
                </a:solidFill>
                <a:highlight>
                  <a:srgbClr val="FFFFFF"/>
                </a:highlight>
              </a:rPr>
              <a:t>, by taking an input text and repeatedly predicting the next token or word.</a:t>
            </a:r>
            <a:endParaRPr b="1" sz="4944">
              <a:solidFill>
                <a:schemeClr val="lt1"/>
              </a:solidFill>
              <a:latin typeface="Nunito"/>
              <a:ea typeface="Nunito"/>
              <a:cs typeface="Nunito"/>
              <a:sym typeface="Nunito"/>
            </a:endParaRPr>
          </a:p>
          <a:p>
            <a:pPr indent="0" lvl="0" marL="1371600" rtl="0" algn="l">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34" name="Google Shape;234;p2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nvSpPr>
        <p:spPr>
          <a:xfrm>
            <a:off x="603350" y="725025"/>
            <a:ext cx="7873500" cy="39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44" u="sng">
                <a:solidFill>
                  <a:schemeClr val="accent5"/>
                </a:solidFill>
                <a:latin typeface="Nunito"/>
                <a:ea typeface="Nunito"/>
                <a:cs typeface="Nunito"/>
                <a:sym typeface="Nunito"/>
                <a:hlinkClick r:id="rId3">
                  <a:extLst>
                    <a:ext uri="{A12FA001-AC4F-418D-AE19-62706E023703}">
                      <ahyp:hlinkClr val="tx"/>
                    </a:ext>
                  </a:extLst>
                </a:hlinkClick>
              </a:rPr>
              <a:t>Generative AI</a:t>
            </a:r>
            <a:endParaRPr b="1" sz="3744">
              <a:solidFill>
                <a:schemeClr val="lt1"/>
              </a:solidFill>
              <a:latin typeface="Nunito"/>
              <a:ea typeface="Nunito"/>
              <a:cs typeface="Nunito"/>
              <a:sym typeface="Nunito"/>
            </a:endParaRPr>
          </a:p>
          <a:p>
            <a:pPr indent="0" lvl="0" marL="0" rtl="0" algn="just">
              <a:spcBef>
                <a:spcPts val="0"/>
              </a:spcBef>
              <a:spcAft>
                <a:spcPts val="0"/>
              </a:spcAft>
              <a:buNone/>
            </a:pPr>
            <a:r>
              <a:rPr b="1" lang="en" sz="2550">
                <a:solidFill>
                  <a:srgbClr val="202122"/>
                </a:solidFill>
                <a:highlight>
                  <a:srgbClr val="FFFFFF"/>
                </a:highlight>
              </a:rPr>
              <a:t>Generative artificial intelligence (Gen AI) </a:t>
            </a:r>
            <a:r>
              <a:rPr lang="en" sz="2550">
                <a:solidFill>
                  <a:srgbClr val="202122"/>
                </a:solidFill>
                <a:highlight>
                  <a:srgbClr val="FFFFFF"/>
                </a:highlight>
              </a:rPr>
              <a:t>is </a:t>
            </a:r>
            <a:r>
              <a:rPr lang="en" sz="2550">
                <a:solidFill>
                  <a:schemeClr val="hlink"/>
                </a:solidFill>
                <a:highlight>
                  <a:srgbClr val="FFFFFF"/>
                </a:highlight>
                <a:uFill>
                  <a:noFill/>
                </a:uFill>
                <a:hlinkClick r:id="rId4"/>
              </a:rPr>
              <a:t>artificial intelligence</a:t>
            </a:r>
            <a:r>
              <a:rPr lang="en" sz="2550">
                <a:solidFill>
                  <a:srgbClr val="202122"/>
                </a:solidFill>
                <a:highlight>
                  <a:srgbClr val="FFFFFF"/>
                </a:highlight>
              </a:rPr>
              <a:t> capable of </a:t>
            </a:r>
            <a:r>
              <a:rPr b="1" lang="en" sz="2550">
                <a:solidFill>
                  <a:srgbClr val="202122"/>
                </a:solidFill>
                <a:highlight>
                  <a:schemeClr val="dk1"/>
                </a:highlight>
              </a:rPr>
              <a:t>generating</a:t>
            </a:r>
            <a:r>
              <a:rPr lang="en" sz="2550">
                <a:solidFill>
                  <a:srgbClr val="202122"/>
                </a:solidFill>
                <a:highlight>
                  <a:srgbClr val="FFFFFF"/>
                </a:highlight>
              </a:rPr>
              <a:t> text, images, videos, or other data using </a:t>
            </a:r>
            <a:r>
              <a:rPr lang="en" sz="2550">
                <a:solidFill>
                  <a:schemeClr val="hlink"/>
                </a:solidFill>
                <a:highlight>
                  <a:srgbClr val="FFFFFF"/>
                </a:highlight>
                <a:uFill>
                  <a:noFill/>
                </a:uFill>
                <a:hlinkClick r:id="rId5"/>
              </a:rPr>
              <a:t>generative models</a:t>
            </a:r>
            <a:r>
              <a:rPr lang="en" sz="2550">
                <a:solidFill>
                  <a:srgbClr val="202122"/>
                </a:solidFill>
                <a:highlight>
                  <a:srgbClr val="FFFFFF"/>
                </a:highlight>
              </a:rPr>
              <a:t>, often in response to </a:t>
            </a:r>
            <a:r>
              <a:rPr lang="en" sz="2550">
                <a:solidFill>
                  <a:schemeClr val="hlink"/>
                </a:solidFill>
                <a:highlight>
                  <a:srgbClr val="FFFFFF"/>
                </a:highlight>
                <a:uFill>
                  <a:noFill/>
                </a:uFill>
                <a:hlinkClick r:id="rId6"/>
              </a:rPr>
              <a:t>prompts</a:t>
            </a:r>
            <a:r>
              <a:rPr lang="en" sz="2550">
                <a:solidFill>
                  <a:srgbClr val="202122"/>
                </a:solidFill>
                <a:highlight>
                  <a:srgbClr val="FFFFFF"/>
                </a:highlight>
              </a:rPr>
              <a:t>. Generative AI models </a:t>
            </a:r>
            <a:r>
              <a:rPr lang="en" sz="2550">
                <a:solidFill>
                  <a:schemeClr val="hlink"/>
                </a:solidFill>
                <a:highlight>
                  <a:srgbClr val="FFFFFF"/>
                </a:highlight>
                <a:uFill>
                  <a:noFill/>
                </a:uFill>
                <a:hlinkClick r:id="rId7"/>
              </a:rPr>
              <a:t>learn</a:t>
            </a:r>
            <a:r>
              <a:rPr lang="en" sz="2550">
                <a:solidFill>
                  <a:srgbClr val="202122"/>
                </a:solidFill>
                <a:highlight>
                  <a:srgbClr val="FFFFFF"/>
                </a:highlight>
              </a:rPr>
              <a:t> the patterns and structure of their input </a:t>
            </a:r>
            <a:r>
              <a:rPr b="1" lang="en" sz="2550">
                <a:solidFill>
                  <a:schemeClr val="hlink"/>
                </a:solidFill>
                <a:highlight>
                  <a:srgbClr val="00FF00"/>
                </a:highlight>
                <a:uFill>
                  <a:noFill/>
                </a:uFill>
                <a:hlinkClick r:id="rId8"/>
              </a:rPr>
              <a:t>training data</a:t>
            </a:r>
            <a:r>
              <a:rPr lang="en" sz="2550">
                <a:solidFill>
                  <a:srgbClr val="202122"/>
                </a:solidFill>
                <a:highlight>
                  <a:srgbClr val="FFFFFF"/>
                </a:highlight>
              </a:rPr>
              <a:t> and then </a:t>
            </a:r>
            <a:r>
              <a:rPr b="1" lang="en" sz="2550">
                <a:solidFill>
                  <a:srgbClr val="FF0000"/>
                </a:solidFill>
                <a:highlight>
                  <a:srgbClr val="00FF00"/>
                </a:highlight>
              </a:rPr>
              <a:t>generate </a:t>
            </a:r>
            <a:r>
              <a:rPr b="1" lang="en" sz="2550" u="sng">
                <a:solidFill>
                  <a:srgbClr val="FF0000"/>
                </a:solidFill>
                <a:highlight>
                  <a:srgbClr val="00FF00"/>
                </a:highlight>
              </a:rPr>
              <a:t>new</a:t>
            </a:r>
            <a:r>
              <a:rPr b="1" lang="en" sz="2550">
                <a:solidFill>
                  <a:srgbClr val="FF0000"/>
                </a:solidFill>
                <a:highlight>
                  <a:srgbClr val="00FF00"/>
                </a:highlight>
              </a:rPr>
              <a:t> data/response</a:t>
            </a:r>
            <a:r>
              <a:rPr lang="en" sz="2550">
                <a:solidFill>
                  <a:srgbClr val="202122"/>
                </a:solidFill>
                <a:highlight>
                  <a:srgbClr val="FFFFFF"/>
                </a:highlight>
              </a:rPr>
              <a:t> that has </a:t>
            </a:r>
            <a:r>
              <a:rPr b="1" lang="en" sz="2550" u="sng">
                <a:solidFill>
                  <a:srgbClr val="202122"/>
                </a:solidFill>
                <a:highlight>
                  <a:srgbClr val="FFFFFF"/>
                </a:highlight>
              </a:rPr>
              <a:t>similar</a:t>
            </a:r>
            <a:r>
              <a:rPr lang="en" sz="2550">
                <a:solidFill>
                  <a:srgbClr val="202122"/>
                </a:solidFill>
                <a:highlight>
                  <a:srgbClr val="FFFFFF"/>
                </a:highlight>
              </a:rPr>
              <a:t> characteristics.</a:t>
            </a:r>
            <a:endParaRPr b="1" sz="5244">
              <a:solidFill>
                <a:schemeClr val="lt1"/>
              </a:solidFill>
              <a:latin typeface="Nunito"/>
              <a:ea typeface="Nunito"/>
              <a:cs typeface="Nunito"/>
              <a:sym typeface="Nunito"/>
            </a:endParaRPr>
          </a:p>
          <a:p>
            <a:pPr indent="0" lvl="0" marL="1371600" rtl="0" algn="l">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ctr">
              <a:spcBef>
                <a:spcPts val="0"/>
              </a:spcBef>
              <a:spcAft>
                <a:spcPts val="0"/>
              </a:spcAft>
              <a:buNone/>
            </a:pPr>
            <a:r>
              <a:t/>
            </a:r>
            <a:endParaRPr b="1" sz="3744">
              <a:solidFill>
                <a:schemeClr val="lt1"/>
              </a:solidFill>
              <a:latin typeface="Nunito"/>
              <a:ea typeface="Nunito"/>
              <a:cs typeface="Nunito"/>
              <a:sym typeface="Nunito"/>
            </a:endParaRPr>
          </a:p>
          <a:p>
            <a:pPr indent="0" lvl="0" marL="457200" rtl="0" algn="l">
              <a:spcBef>
                <a:spcPts val="0"/>
              </a:spcBef>
              <a:spcAft>
                <a:spcPts val="0"/>
              </a:spcAft>
              <a:buNone/>
            </a:pPr>
            <a:r>
              <a:t/>
            </a:r>
            <a:endParaRPr sz="2400">
              <a:solidFill>
                <a:schemeClr val="dk2"/>
              </a:solidFill>
            </a:endParaRPr>
          </a:p>
        </p:txBody>
      </p:sp>
      <p:sp>
        <p:nvSpPr>
          <p:cNvPr id="240" name="Google Shape;240;p3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p:nvPr/>
        </p:nvSpPr>
        <p:spPr>
          <a:xfrm>
            <a:off x="2380225" y="465150"/>
            <a:ext cx="4185900" cy="35157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6" name="Google Shape;246;p31"/>
          <p:cNvSpPr/>
          <p:nvPr/>
        </p:nvSpPr>
        <p:spPr>
          <a:xfrm>
            <a:off x="2887375" y="616625"/>
            <a:ext cx="3171600" cy="30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7" name="Google Shape;247;p31"/>
          <p:cNvSpPr/>
          <p:nvPr/>
        </p:nvSpPr>
        <p:spPr>
          <a:xfrm>
            <a:off x="3188725" y="979625"/>
            <a:ext cx="2568900" cy="2349900"/>
          </a:xfrm>
          <a:prstGeom prst="ellipse">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248" name="Google Shape;248;p31"/>
          <p:cNvSpPr/>
          <p:nvPr/>
        </p:nvSpPr>
        <p:spPr>
          <a:xfrm>
            <a:off x="3477925" y="1455300"/>
            <a:ext cx="1829700" cy="15354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700">
                <a:latin typeface="Calibri"/>
                <a:ea typeface="Calibri"/>
                <a:cs typeface="Calibri"/>
                <a:sym typeface="Calibri"/>
              </a:rPr>
              <a:t>LLM/Gen AI</a:t>
            </a:r>
            <a:endParaRPr b="1" sz="2700">
              <a:latin typeface="Calibri"/>
              <a:ea typeface="Calibri"/>
              <a:cs typeface="Calibri"/>
              <a:sym typeface="Calibri"/>
            </a:endParaRPr>
          </a:p>
        </p:txBody>
      </p:sp>
      <p:sp>
        <p:nvSpPr>
          <p:cNvPr id="249" name="Google Shape;249;p31"/>
          <p:cNvSpPr txBox="1"/>
          <p:nvPr/>
        </p:nvSpPr>
        <p:spPr>
          <a:xfrm>
            <a:off x="7044950" y="979625"/>
            <a:ext cx="957600" cy="519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2000">
                <a:latin typeface="Calibri"/>
                <a:ea typeface="Calibri"/>
                <a:cs typeface="Calibri"/>
                <a:sym typeface="Calibri"/>
              </a:rPr>
              <a:t>AI</a:t>
            </a:r>
            <a:endParaRPr b="1" sz="2000">
              <a:solidFill>
                <a:schemeClr val="dk2"/>
              </a:solidFill>
            </a:endParaRPr>
          </a:p>
        </p:txBody>
      </p:sp>
      <p:sp>
        <p:nvSpPr>
          <p:cNvPr id="250" name="Google Shape;250;p31"/>
          <p:cNvSpPr txBox="1"/>
          <p:nvPr/>
        </p:nvSpPr>
        <p:spPr>
          <a:xfrm>
            <a:off x="7044950" y="2571750"/>
            <a:ext cx="957600" cy="5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latin typeface="Calibri"/>
                <a:ea typeface="Calibri"/>
                <a:cs typeface="Calibri"/>
                <a:sym typeface="Calibri"/>
              </a:rPr>
              <a:t>ML</a:t>
            </a:r>
            <a:endParaRPr>
              <a:latin typeface="Calibri"/>
              <a:ea typeface="Calibri"/>
              <a:cs typeface="Calibri"/>
              <a:sym typeface="Calibri"/>
            </a:endParaRPr>
          </a:p>
        </p:txBody>
      </p:sp>
      <p:sp>
        <p:nvSpPr>
          <p:cNvPr id="251" name="Google Shape;251;p31"/>
          <p:cNvSpPr txBox="1"/>
          <p:nvPr/>
        </p:nvSpPr>
        <p:spPr>
          <a:xfrm>
            <a:off x="863650" y="979625"/>
            <a:ext cx="957600" cy="5199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latin typeface="Calibri"/>
                <a:ea typeface="Calibri"/>
                <a:cs typeface="Calibri"/>
                <a:sym typeface="Calibri"/>
              </a:rPr>
              <a:t>DL</a:t>
            </a:r>
            <a:endParaRPr>
              <a:latin typeface="Calibri"/>
              <a:ea typeface="Calibri"/>
              <a:cs typeface="Calibri"/>
              <a:sym typeface="Calibri"/>
            </a:endParaRPr>
          </a:p>
        </p:txBody>
      </p:sp>
      <p:sp>
        <p:nvSpPr>
          <p:cNvPr id="252" name="Google Shape;252;p31"/>
          <p:cNvSpPr txBox="1"/>
          <p:nvPr/>
        </p:nvSpPr>
        <p:spPr>
          <a:xfrm>
            <a:off x="863650" y="2809625"/>
            <a:ext cx="957600" cy="5199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latin typeface="Calibri"/>
                <a:ea typeface="Calibri"/>
                <a:cs typeface="Calibri"/>
                <a:sym typeface="Calibri"/>
              </a:rPr>
              <a:t>LLM</a:t>
            </a:r>
            <a:endParaRPr>
              <a:latin typeface="Calibri"/>
              <a:ea typeface="Calibri"/>
              <a:cs typeface="Calibri"/>
              <a:sym typeface="Calibri"/>
            </a:endParaRPr>
          </a:p>
        </p:txBody>
      </p:sp>
      <p:sp>
        <p:nvSpPr>
          <p:cNvPr id="253" name="Google Shape;253;p31"/>
          <p:cNvSpPr txBox="1"/>
          <p:nvPr/>
        </p:nvSpPr>
        <p:spPr>
          <a:xfrm>
            <a:off x="558800" y="4152900"/>
            <a:ext cx="79374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chemeClr val="dk2"/>
                </a:solidFill>
                <a:latin typeface="Calibri"/>
                <a:ea typeface="Calibri"/>
                <a:cs typeface="Calibri"/>
                <a:sym typeface="Calibri"/>
              </a:rPr>
              <a:t> Generative AI uses LLM based upon DL algorithms which is subset of ML which is further a subset of overall AI</a:t>
            </a:r>
            <a:endParaRPr b="1" sz="1300" u="sng">
              <a:solidFill>
                <a:schemeClr val="dk2"/>
              </a:solidFill>
              <a:latin typeface="Calibri"/>
              <a:ea typeface="Calibri"/>
              <a:cs typeface="Calibri"/>
              <a:sym typeface="Calibri"/>
            </a:endParaRPr>
          </a:p>
        </p:txBody>
      </p:sp>
      <p:sp>
        <p:nvSpPr>
          <p:cNvPr id="254" name="Google Shape;254;p3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25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60" name="Google Shape;260;p32"/>
          <p:cNvGraphicFramePr/>
          <p:nvPr/>
        </p:nvGraphicFramePr>
        <p:xfrm>
          <a:off x="640775" y="753338"/>
          <a:ext cx="3000000" cy="3000000"/>
        </p:xfrm>
        <a:graphic>
          <a:graphicData uri="http://schemas.openxmlformats.org/drawingml/2006/table">
            <a:tbl>
              <a:tblPr>
                <a:noFill/>
                <a:tableStyleId>{A5F71DC0-B734-49B0-82BF-47BBF8BC9791}</a:tableStyleId>
              </a:tblPr>
              <a:tblGrid>
                <a:gridCol w="1371100"/>
                <a:gridCol w="6250600"/>
              </a:tblGrid>
              <a:tr h="404450">
                <a:tc>
                  <a:txBody>
                    <a:bodyPr/>
                    <a:lstStyle/>
                    <a:p>
                      <a:pPr indent="0" lvl="0" marL="0" rtl="0" algn="l">
                        <a:spcBef>
                          <a:spcPts val="0"/>
                        </a:spcBef>
                        <a:spcAft>
                          <a:spcPts val="0"/>
                        </a:spcAft>
                        <a:buNone/>
                      </a:pPr>
                      <a:r>
                        <a:rPr b="1" lang="en" sz="2000"/>
                        <a:t>Category</a:t>
                      </a:r>
                      <a:endParaRPr b="1" sz="2000"/>
                    </a:p>
                  </a:txBody>
                  <a:tcPr marT="91425" marB="91425" marR="91425" marL="91425"/>
                </a:tc>
                <a:tc>
                  <a:txBody>
                    <a:bodyPr/>
                    <a:lstStyle/>
                    <a:p>
                      <a:pPr indent="0" lvl="0" marL="0" rtl="0" algn="l">
                        <a:spcBef>
                          <a:spcPts val="0"/>
                        </a:spcBef>
                        <a:spcAft>
                          <a:spcPts val="0"/>
                        </a:spcAft>
                        <a:buNone/>
                      </a:pPr>
                      <a:r>
                        <a:rPr b="1" lang="en" sz="2000"/>
                        <a:t>Examples</a:t>
                      </a:r>
                      <a:endParaRPr b="1" sz="2000"/>
                    </a:p>
                  </a:txBody>
                  <a:tcPr marT="91425" marB="91425" marR="91425" marL="91425"/>
                </a:tc>
              </a:tr>
              <a:tr h="800250">
                <a:tc>
                  <a:txBody>
                    <a:bodyPr/>
                    <a:lstStyle/>
                    <a:p>
                      <a:pPr indent="0" lvl="0" marL="0" rtl="0" algn="l">
                        <a:spcBef>
                          <a:spcPts val="0"/>
                        </a:spcBef>
                        <a:spcAft>
                          <a:spcPts val="0"/>
                        </a:spcAft>
                        <a:buNone/>
                      </a:pPr>
                      <a:r>
                        <a:rPr b="1" lang="en" sz="1600"/>
                        <a:t>AI</a:t>
                      </a:r>
                      <a:endParaRPr b="1" sz="1600"/>
                    </a:p>
                  </a:txBody>
                  <a:tcPr marT="91425" marB="91425" marR="91425" marL="91425"/>
                </a:tc>
                <a:tc>
                  <a:txBody>
                    <a:bodyPr/>
                    <a:lstStyle/>
                    <a:p>
                      <a:pPr indent="0" lvl="0" marL="0" rtl="0" algn="l">
                        <a:spcBef>
                          <a:spcPts val="0"/>
                        </a:spcBef>
                        <a:spcAft>
                          <a:spcPts val="0"/>
                        </a:spcAft>
                        <a:buNone/>
                      </a:pPr>
                      <a:r>
                        <a:rPr b="1" lang="en" sz="1600"/>
                        <a:t>Expert Systems, Robotics, Natural Language Processing (NLP), Computer Vision, Autonomous Vehicles</a:t>
                      </a:r>
                      <a:endParaRPr b="1" sz="1600"/>
                    </a:p>
                  </a:txBody>
                  <a:tcPr marT="91425" marB="91425" marR="91425" marL="91425"/>
                </a:tc>
              </a:tr>
              <a:tr h="840050">
                <a:tc>
                  <a:txBody>
                    <a:bodyPr/>
                    <a:lstStyle/>
                    <a:p>
                      <a:pPr indent="0" lvl="0" marL="0" rtl="0" algn="l">
                        <a:spcBef>
                          <a:spcPts val="0"/>
                        </a:spcBef>
                        <a:spcAft>
                          <a:spcPts val="0"/>
                        </a:spcAft>
                        <a:buNone/>
                      </a:pPr>
                      <a:r>
                        <a:rPr b="1" lang="en" sz="1600"/>
                        <a:t>ML</a:t>
                      </a:r>
                      <a:endParaRPr b="1" sz="1600"/>
                    </a:p>
                  </a:txBody>
                  <a:tcPr marT="91425" marB="91425" marR="91425" marL="91425"/>
                </a:tc>
                <a:tc>
                  <a:txBody>
                    <a:bodyPr/>
                    <a:lstStyle/>
                    <a:p>
                      <a:pPr indent="0" lvl="0" marL="0" rtl="0" algn="l">
                        <a:spcBef>
                          <a:spcPts val="0"/>
                        </a:spcBef>
                        <a:spcAft>
                          <a:spcPts val="0"/>
                        </a:spcAft>
                        <a:buNone/>
                      </a:pPr>
                      <a:r>
                        <a:rPr b="1" lang="en" sz="1600"/>
                        <a:t>Recommendation Systems, Fraud Detection, Predictive Maintenance, Email Spam Filtering, Customer Churn Prediction</a:t>
                      </a:r>
                      <a:endParaRPr b="1" sz="1600"/>
                    </a:p>
                  </a:txBody>
                  <a:tcPr marT="91425" marB="91425" marR="91425" marL="91425"/>
                </a:tc>
              </a:tr>
              <a:tr h="840050">
                <a:tc>
                  <a:txBody>
                    <a:bodyPr/>
                    <a:lstStyle/>
                    <a:p>
                      <a:pPr indent="0" lvl="0" marL="0" rtl="0" algn="l">
                        <a:spcBef>
                          <a:spcPts val="0"/>
                        </a:spcBef>
                        <a:spcAft>
                          <a:spcPts val="0"/>
                        </a:spcAft>
                        <a:buNone/>
                      </a:pPr>
                      <a:r>
                        <a:rPr b="1" lang="en" sz="1600"/>
                        <a:t>DL</a:t>
                      </a:r>
                      <a:endParaRPr b="1" sz="1600"/>
                    </a:p>
                  </a:txBody>
                  <a:tcPr marT="91425" marB="91425" marR="91425" marL="91425"/>
                </a:tc>
                <a:tc>
                  <a:txBody>
                    <a:bodyPr/>
                    <a:lstStyle/>
                    <a:p>
                      <a:pPr indent="0" lvl="0" marL="0" rtl="0" algn="l">
                        <a:spcBef>
                          <a:spcPts val="0"/>
                        </a:spcBef>
                        <a:spcAft>
                          <a:spcPts val="0"/>
                        </a:spcAft>
                        <a:buNone/>
                      </a:pPr>
                      <a:r>
                        <a:rPr b="1" lang="en" sz="1600"/>
                        <a:t>Image Classification, Speech Recognition, Language Translation, Generative Adversarial Networks (GANs), Self-Driving Cars</a:t>
                      </a:r>
                      <a:endParaRPr b="1" sz="1600"/>
                    </a:p>
                  </a:txBody>
                  <a:tcPr marT="91425" marB="91425" marR="91425" marL="91425"/>
                </a:tc>
              </a:tr>
              <a:tr h="404450">
                <a:tc>
                  <a:txBody>
                    <a:bodyPr/>
                    <a:lstStyle/>
                    <a:p>
                      <a:pPr indent="0" lvl="0" marL="0" rtl="0" algn="l">
                        <a:spcBef>
                          <a:spcPts val="0"/>
                        </a:spcBef>
                        <a:spcAft>
                          <a:spcPts val="0"/>
                        </a:spcAft>
                        <a:buNone/>
                      </a:pPr>
                      <a:r>
                        <a:rPr b="1" lang="en" sz="1600"/>
                        <a:t>LLM</a:t>
                      </a:r>
                      <a:endParaRPr b="1" sz="1600"/>
                    </a:p>
                  </a:txBody>
                  <a:tcPr marT="91425" marB="91425" marR="91425" marL="91425"/>
                </a:tc>
                <a:tc>
                  <a:txBody>
                    <a:bodyPr/>
                    <a:lstStyle/>
                    <a:p>
                      <a:pPr indent="0" lvl="0" marL="0" rtl="0" algn="l">
                        <a:spcBef>
                          <a:spcPts val="0"/>
                        </a:spcBef>
                        <a:spcAft>
                          <a:spcPts val="0"/>
                        </a:spcAft>
                        <a:buNone/>
                      </a:pPr>
                      <a:r>
                        <a:rPr b="1" lang="en" sz="1600"/>
                        <a:t>GPT-3, BERT, T5, RoBERTa, XLNet</a:t>
                      </a:r>
                      <a:endParaRPr b="1" sz="1600"/>
                    </a:p>
                  </a:txBody>
                  <a:tcPr marT="91425" marB="91425" marR="91425" marL="91425"/>
                </a:tc>
              </a:tr>
              <a:tr h="404450">
                <a:tc>
                  <a:txBody>
                    <a:bodyPr/>
                    <a:lstStyle/>
                    <a:p>
                      <a:pPr indent="0" lvl="0" marL="0" rtl="0" algn="l">
                        <a:spcBef>
                          <a:spcPts val="0"/>
                        </a:spcBef>
                        <a:spcAft>
                          <a:spcPts val="0"/>
                        </a:spcAft>
                        <a:buNone/>
                      </a:pPr>
                      <a:r>
                        <a:rPr b="1" lang="en" sz="1600"/>
                        <a:t>Gen AI </a:t>
                      </a:r>
                      <a:endParaRPr b="1" sz="1600"/>
                    </a:p>
                  </a:txBody>
                  <a:tcPr marT="91425" marB="91425" marR="91425" marL="91425"/>
                </a:tc>
                <a:tc>
                  <a:txBody>
                    <a:bodyPr/>
                    <a:lstStyle/>
                    <a:p>
                      <a:pPr indent="0" lvl="0" marL="0" rtl="0" algn="l">
                        <a:spcBef>
                          <a:spcPts val="0"/>
                        </a:spcBef>
                        <a:spcAft>
                          <a:spcPts val="0"/>
                        </a:spcAft>
                        <a:buNone/>
                      </a:pPr>
                      <a:r>
                        <a:rPr b="1" lang="en" sz="1600"/>
                        <a:t>DALL-E, ChatGPT, DeepArt, Jukedeck, Runway ML</a:t>
                      </a:r>
                      <a:endParaRPr b="1" sz="1600"/>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Challenges</a:t>
            </a:r>
            <a:endParaRPr/>
          </a:p>
        </p:txBody>
      </p:sp>
      <p:sp>
        <p:nvSpPr>
          <p:cNvPr id="266" name="Google Shape;266;p33"/>
          <p:cNvSpPr txBox="1"/>
          <p:nvPr>
            <p:ph idx="1" type="body"/>
          </p:nvPr>
        </p:nvSpPr>
        <p:spPr>
          <a:xfrm>
            <a:off x="819150" y="1506275"/>
            <a:ext cx="7213800" cy="2932500"/>
          </a:xfrm>
          <a:prstGeom prst="rect">
            <a:avLst/>
          </a:prstGeom>
        </p:spPr>
        <p:txBody>
          <a:bodyPr anchorCtr="0" anchor="t" bIns="91425" lIns="91425" spcFirstLastPara="1" rIns="91425" wrap="square" tIns="91425">
            <a:normAutofit/>
          </a:bodyPr>
          <a:lstStyle/>
          <a:p>
            <a:pPr indent="-425450" lvl="0" marL="457200" rtl="0" algn="l">
              <a:spcBef>
                <a:spcPts val="0"/>
              </a:spcBef>
              <a:spcAft>
                <a:spcPts val="0"/>
              </a:spcAft>
              <a:buSzPts val="3100"/>
              <a:buChar char="●"/>
            </a:pPr>
            <a:r>
              <a:rPr b="1" lang="en" sz="3100"/>
              <a:t>Speed</a:t>
            </a:r>
            <a:endParaRPr b="1" sz="3100"/>
          </a:p>
          <a:p>
            <a:pPr indent="-425450" lvl="0" marL="457200" rtl="0" algn="l">
              <a:spcBef>
                <a:spcPts val="0"/>
              </a:spcBef>
              <a:spcAft>
                <a:spcPts val="0"/>
              </a:spcAft>
              <a:buSzPts val="3100"/>
              <a:buChar char="●"/>
            </a:pPr>
            <a:r>
              <a:rPr b="1" lang="en" sz="3100"/>
              <a:t>Cost</a:t>
            </a:r>
            <a:endParaRPr b="1" sz="3100"/>
          </a:p>
          <a:p>
            <a:pPr indent="-425450" lvl="0" marL="457200" rtl="0" algn="l">
              <a:spcBef>
                <a:spcPts val="0"/>
              </a:spcBef>
              <a:spcAft>
                <a:spcPts val="0"/>
              </a:spcAft>
              <a:buSzPts val="3100"/>
              <a:buChar char="●"/>
            </a:pPr>
            <a:r>
              <a:rPr b="1" lang="en" sz="3100"/>
              <a:t>Accuracy</a:t>
            </a:r>
            <a:endParaRPr b="1" sz="3100"/>
          </a:p>
          <a:p>
            <a:pPr indent="-425450" lvl="0" marL="457200" rtl="0" algn="l">
              <a:spcBef>
                <a:spcPts val="0"/>
              </a:spcBef>
              <a:spcAft>
                <a:spcPts val="0"/>
              </a:spcAft>
              <a:buSzPts val="3100"/>
              <a:buChar char="●"/>
            </a:pPr>
            <a:r>
              <a:rPr b="1" lang="en" sz="3100"/>
              <a:t>Security</a:t>
            </a:r>
            <a:endParaRPr b="1" sz="3100"/>
          </a:p>
          <a:p>
            <a:pPr indent="-425450" lvl="0" marL="457200" rtl="0" algn="l">
              <a:spcBef>
                <a:spcPts val="0"/>
              </a:spcBef>
              <a:spcAft>
                <a:spcPts val="0"/>
              </a:spcAft>
              <a:buSzPts val="3100"/>
              <a:buChar char="●"/>
            </a:pPr>
            <a:r>
              <a:rPr b="1" lang="en" sz="3100"/>
              <a:t>Ethics.</a:t>
            </a:r>
            <a:endParaRPr b="1" sz="3100"/>
          </a:p>
        </p:txBody>
      </p:sp>
      <p:sp>
        <p:nvSpPr>
          <p:cNvPr id="267" name="Google Shape;267;p3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649450" y="303400"/>
            <a:ext cx="6421200" cy="6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Challenges</a:t>
            </a:r>
            <a:endParaRPr/>
          </a:p>
        </p:txBody>
      </p:sp>
      <p:sp>
        <p:nvSpPr>
          <p:cNvPr id="273" name="Google Shape;273;p3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4" name="Google Shape;274;p34"/>
          <p:cNvPicPr preferRelativeResize="0"/>
          <p:nvPr/>
        </p:nvPicPr>
        <p:blipFill>
          <a:blip r:embed="rId3">
            <a:alphaModFix/>
          </a:blip>
          <a:stretch>
            <a:fillRect/>
          </a:stretch>
        </p:blipFill>
        <p:spPr>
          <a:xfrm>
            <a:off x="649450" y="934000"/>
            <a:ext cx="7532750" cy="3832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649450" y="303400"/>
            <a:ext cx="6421200" cy="6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Challenges</a:t>
            </a:r>
            <a:endParaRPr/>
          </a:p>
        </p:txBody>
      </p:sp>
      <p:sp>
        <p:nvSpPr>
          <p:cNvPr id="280" name="Google Shape;280;p3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1" name="Google Shape;281;p35"/>
          <p:cNvPicPr preferRelativeResize="0"/>
          <p:nvPr/>
        </p:nvPicPr>
        <p:blipFill>
          <a:blip r:embed="rId3">
            <a:alphaModFix/>
          </a:blip>
          <a:stretch>
            <a:fillRect/>
          </a:stretch>
        </p:blipFill>
        <p:spPr>
          <a:xfrm>
            <a:off x="649451" y="1086400"/>
            <a:ext cx="7588874" cy="3735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649450" y="303400"/>
            <a:ext cx="6421200" cy="6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Challenges</a:t>
            </a:r>
            <a:endParaRPr/>
          </a:p>
        </p:txBody>
      </p:sp>
      <p:sp>
        <p:nvSpPr>
          <p:cNvPr id="287" name="Google Shape;287;p3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8" name="Google Shape;288;p36"/>
          <p:cNvPicPr preferRelativeResize="0"/>
          <p:nvPr/>
        </p:nvPicPr>
        <p:blipFill>
          <a:blip r:embed="rId3">
            <a:alphaModFix/>
          </a:blip>
          <a:stretch>
            <a:fillRect/>
          </a:stretch>
        </p:blipFill>
        <p:spPr>
          <a:xfrm>
            <a:off x="782900" y="934000"/>
            <a:ext cx="6421200" cy="39047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649450" y="303400"/>
            <a:ext cx="6421200" cy="6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Challenges</a:t>
            </a:r>
            <a:endParaRPr/>
          </a:p>
        </p:txBody>
      </p:sp>
      <p:sp>
        <p:nvSpPr>
          <p:cNvPr id="294" name="Google Shape;294;p3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5" name="Google Shape;295;p37"/>
          <p:cNvPicPr preferRelativeResize="0"/>
          <p:nvPr/>
        </p:nvPicPr>
        <p:blipFill>
          <a:blip r:embed="rId3">
            <a:alphaModFix/>
          </a:blip>
          <a:stretch>
            <a:fillRect/>
          </a:stretch>
        </p:blipFill>
        <p:spPr>
          <a:xfrm>
            <a:off x="533300" y="1086400"/>
            <a:ext cx="7705025" cy="3569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ctrTitle"/>
          </p:nvPr>
        </p:nvSpPr>
        <p:spPr>
          <a:xfrm>
            <a:off x="652674" y="1821700"/>
            <a:ext cx="65673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3744"/>
              <a:t>Sample LLM BOT </a:t>
            </a:r>
            <a:r>
              <a:rPr b="1" lang="en" sz="3744" u="sng">
                <a:solidFill>
                  <a:schemeClr val="hlink"/>
                </a:solidFill>
                <a:hlinkClick r:id="rId3"/>
              </a:rPr>
              <a:t>Code</a:t>
            </a:r>
            <a:endParaRPr b="1" sz="3744"/>
          </a:p>
          <a:p>
            <a:pPr indent="0" lvl="0" marL="0" rtl="0" algn="ctr">
              <a:spcBef>
                <a:spcPts val="0"/>
              </a:spcBef>
              <a:spcAft>
                <a:spcPts val="0"/>
              </a:spcAft>
              <a:buNone/>
            </a:pPr>
            <a:r>
              <a:rPr b="1" lang="en" sz="1800"/>
              <a:t>This is an example how - A simple 100 lines code can do so much magic - At this stage do not worry about what the code is-just think about we can develop such applications</a:t>
            </a:r>
            <a:endParaRPr b="1" sz="1800"/>
          </a:p>
          <a:p>
            <a:pPr indent="0" lvl="0" marL="0" rtl="0" algn="ctr">
              <a:spcBef>
                <a:spcPts val="0"/>
              </a:spcBef>
              <a:spcAft>
                <a:spcPts val="0"/>
              </a:spcAft>
              <a:buNone/>
            </a:pPr>
            <a:r>
              <a:t/>
            </a:r>
            <a:endParaRPr b="1" sz="2022"/>
          </a:p>
        </p:txBody>
      </p:sp>
      <p:sp>
        <p:nvSpPr>
          <p:cNvPr id="301" name="Google Shape;301;p3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ctrTitle"/>
          </p:nvPr>
        </p:nvSpPr>
        <p:spPr>
          <a:xfrm>
            <a:off x="1858700" y="977897"/>
            <a:ext cx="5361300" cy="1079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Chat with PDF demo</a:t>
            </a:r>
            <a:endParaRPr/>
          </a:p>
        </p:txBody>
      </p:sp>
      <p:pic>
        <p:nvPicPr>
          <p:cNvPr id="307" name="Google Shape;307;p39" title="service-cloud-chat.mp4">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
        <p:nvSpPr>
          <p:cNvPr id="308" name="Google Shape;308;p39"/>
          <p:cNvSpPr/>
          <p:nvPr/>
        </p:nvSpPr>
        <p:spPr>
          <a:xfrm>
            <a:off x="422100" y="1908200"/>
            <a:ext cx="1774440" cy="1327104"/>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Calibri"/>
                <a:ea typeface="Calibri"/>
                <a:cs typeface="Calibri"/>
                <a:sym typeface="Calibri"/>
              </a:rPr>
              <a:t>Chat with PDF demo</a:t>
            </a:r>
            <a:endParaRPr b="1" sz="1600">
              <a:latin typeface="Calibri"/>
              <a:ea typeface="Calibri"/>
              <a:cs typeface="Calibri"/>
              <a:sym typeface="Calibri"/>
            </a:endParaRPr>
          </a:p>
        </p:txBody>
      </p:sp>
      <p:sp>
        <p:nvSpPr>
          <p:cNvPr id="309" name="Google Shape;309;p39"/>
          <p:cNvSpPr txBox="1"/>
          <p:nvPr/>
        </p:nvSpPr>
        <p:spPr>
          <a:xfrm>
            <a:off x="7010850" y="977900"/>
            <a:ext cx="1774500" cy="330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a:solidFill>
                  <a:srgbClr val="FF0000"/>
                </a:solidFill>
                <a:latin typeface="Calibri"/>
                <a:ea typeface="Calibri"/>
                <a:cs typeface="Calibri"/>
                <a:sym typeface="Calibri"/>
              </a:rPr>
              <a:t>This demo explains an use cases where an LLm used private PDF data and by using LLM RAG model, customers can chat with contents in PDF through conversational BOT. using Python code this is developed. Thai shows power of Python in Gen AI LLM</a:t>
            </a:r>
            <a:endParaRPr b="1">
              <a:solidFill>
                <a:srgbClr val="FF0000"/>
              </a:solidFill>
              <a:latin typeface="Calibri"/>
              <a:ea typeface="Calibri"/>
              <a:cs typeface="Calibri"/>
              <a:sym typeface="Calibri"/>
            </a:endParaRPr>
          </a:p>
        </p:txBody>
      </p:sp>
      <p:sp>
        <p:nvSpPr>
          <p:cNvPr id="310" name="Google Shape;310;p3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612725" y="393675"/>
            <a:ext cx="2657400" cy="412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Architecture</a:t>
            </a:r>
            <a:endParaRPr/>
          </a:p>
        </p:txBody>
      </p:sp>
      <p:pic>
        <p:nvPicPr>
          <p:cNvPr id="316" name="Google Shape;316;p40"/>
          <p:cNvPicPr preferRelativeResize="0"/>
          <p:nvPr/>
        </p:nvPicPr>
        <p:blipFill>
          <a:blip r:embed="rId3">
            <a:alphaModFix/>
          </a:blip>
          <a:stretch>
            <a:fillRect/>
          </a:stretch>
        </p:blipFill>
        <p:spPr>
          <a:xfrm>
            <a:off x="660400" y="3600450"/>
            <a:ext cx="1371600" cy="1304925"/>
          </a:xfrm>
          <a:prstGeom prst="rect">
            <a:avLst/>
          </a:prstGeom>
          <a:noFill/>
          <a:ln>
            <a:noFill/>
          </a:ln>
        </p:spPr>
      </p:pic>
      <p:pic>
        <p:nvPicPr>
          <p:cNvPr id="317" name="Google Shape;317;p40"/>
          <p:cNvPicPr preferRelativeResize="0"/>
          <p:nvPr/>
        </p:nvPicPr>
        <p:blipFill>
          <a:blip r:embed="rId4">
            <a:alphaModFix/>
          </a:blip>
          <a:stretch>
            <a:fillRect/>
          </a:stretch>
        </p:blipFill>
        <p:spPr>
          <a:xfrm>
            <a:off x="5157663" y="1997113"/>
            <a:ext cx="1390650" cy="1409700"/>
          </a:xfrm>
          <a:prstGeom prst="rect">
            <a:avLst/>
          </a:prstGeom>
          <a:noFill/>
          <a:ln>
            <a:noFill/>
          </a:ln>
        </p:spPr>
      </p:pic>
      <p:pic>
        <p:nvPicPr>
          <p:cNvPr id="318" name="Google Shape;318;p40"/>
          <p:cNvPicPr preferRelativeResize="0"/>
          <p:nvPr/>
        </p:nvPicPr>
        <p:blipFill>
          <a:blip r:embed="rId5">
            <a:alphaModFix/>
          </a:blip>
          <a:stretch>
            <a:fillRect/>
          </a:stretch>
        </p:blipFill>
        <p:spPr>
          <a:xfrm>
            <a:off x="501650" y="1104088"/>
            <a:ext cx="2530475" cy="1689075"/>
          </a:xfrm>
          <a:prstGeom prst="rect">
            <a:avLst/>
          </a:prstGeom>
          <a:noFill/>
          <a:ln>
            <a:noFill/>
          </a:ln>
        </p:spPr>
      </p:pic>
      <p:pic>
        <p:nvPicPr>
          <p:cNvPr id="319" name="Google Shape;319;p40"/>
          <p:cNvPicPr preferRelativeResize="0"/>
          <p:nvPr/>
        </p:nvPicPr>
        <p:blipFill>
          <a:blip r:embed="rId6">
            <a:alphaModFix/>
          </a:blip>
          <a:stretch>
            <a:fillRect/>
          </a:stretch>
        </p:blipFill>
        <p:spPr>
          <a:xfrm>
            <a:off x="6746875" y="592150"/>
            <a:ext cx="1901575" cy="1689075"/>
          </a:xfrm>
          <a:prstGeom prst="rect">
            <a:avLst/>
          </a:prstGeom>
          <a:noFill/>
          <a:ln>
            <a:noFill/>
          </a:ln>
        </p:spPr>
      </p:pic>
      <p:sp>
        <p:nvSpPr>
          <p:cNvPr id="320" name="Google Shape;320;p40"/>
          <p:cNvSpPr txBox="1"/>
          <p:nvPr/>
        </p:nvSpPr>
        <p:spPr>
          <a:xfrm>
            <a:off x="5864025" y="1774013"/>
            <a:ext cx="11397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alibri"/>
                <a:ea typeface="Calibri"/>
                <a:cs typeface="Calibri"/>
                <a:sym typeface="Calibri"/>
              </a:rPr>
              <a:t>Python</a:t>
            </a:r>
            <a:endParaRPr b="1" sz="1300">
              <a:solidFill>
                <a:schemeClr val="dk2"/>
              </a:solidFill>
              <a:latin typeface="Calibri"/>
              <a:ea typeface="Calibri"/>
              <a:cs typeface="Calibri"/>
              <a:sym typeface="Calibri"/>
            </a:endParaRPr>
          </a:p>
        </p:txBody>
      </p:sp>
      <p:sp>
        <p:nvSpPr>
          <p:cNvPr id="321" name="Google Shape;321;p40"/>
          <p:cNvSpPr/>
          <p:nvPr/>
        </p:nvSpPr>
        <p:spPr>
          <a:xfrm>
            <a:off x="4113975" y="252125"/>
            <a:ext cx="1139700" cy="903600"/>
          </a:xfrm>
          <a:prstGeom prst="flowChartMagneticTap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Is patient at Heart risk ?</a:t>
            </a:r>
            <a:endParaRPr>
              <a:latin typeface="Calibri"/>
              <a:ea typeface="Calibri"/>
              <a:cs typeface="Calibri"/>
              <a:sym typeface="Calibri"/>
            </a:endParaRPr>
          </a:p>
        </p:txBody>
      </p:sp>
      <p:cxnSp>
        <p:nvCxnSpPr>
          <p:cNvPr id="322" name="Google Shape;322;p40"/>
          <p:cNvCxnSpPr>
            <a:stCxn id="318" idx="3"/>
            <a:endCxn id="321" idx="1"/>
          </p:cNvCxnSpPr>
          <p:nvPr/>
        </p:nvCxnSpPr>
        <p:spPr>
          <a:xfrm flipH="1" rot="10800000">
            <a:off x="3032125" y="703925"/>
            <a:ext cx="1081800" cy="1244700"/>
          </a:xfrm>
          <a:prstGeom prst="bentConnector3">
            <a:avLst>
              <a:gd fmla="val 50002" name="adj1"/>
            </a:avLst>
          </a:prstGeom>
          <a:noFill/>
          <a:ln cap="flat" cmpd="sng" w="9525">
            <a:solidFill>
              <a:schemeClr val="dk2"/>
            </a:solidFill>
            <a:prstDash val="solid"/>
            <a:round/>
            <a:headEnd len="med" w="med" type="none"/>
            <a:tailEnd len="med" w="med" type="triangle"/>
          </a:ln>
        </p:spPr>
      </p:cxnSp>
      <p:cxnSp>
        <p:nvCxnSpPr>
          <p:cNvPr id="323" name="Google Shape;323;p40"/>
          <p:cNvCxnSpPr>
            <a:stCxn id="321" idx="3"/>
            <a:endCxn id="317" idx="1"/>
          </p:cNvCxnSpPr>
          <p:nvPr/>
        </p:nvCxnSpPr>
        <p:spPr>
          <a:xfrm flipH="1">
            <a:off x="5157675" y="703925"/>
            <a:ext cx="96000" cy="1998000"/>
          </a:xfrm>
          <a:prstGeom prst="bentConnector5">
            <a:avLst>
              <a:gd fmla="val -248047" name="adj1"/>
              <a:gd fmla="val 43668" name="adj2"/>
              <a:gd fmla="val 348060" name="adj3"/>
            </a:avLst>
          </a:prstGeom>
          <a:noFill/>
          <a:ln cap="flat" cmpd="sng" w="9525">
            <a:solidFill>
              <a:schemeClr val="dk2"/>
            </a:solidFill>
            <a:prstDash val="solid"/>
            <a:round/>
            <a:headEnd len="med" w="med" type="none"/>
            <a:tailEnd len="med" w="med" type="stealth"/>
          </a:ln>
        </p:spPr>
      </p:cxnSp>
      <p:cxnSp>
        <p:nvCxnSpPr>
          <p:cNvPr id="324" name="Google Shape;324;p40"/>
          <p:cNvCxnSpPr>
            <a:stCxn id="319" idx="2"/>
            <a:endCxn id="316" idx="3"/>
          </p:cNvCxnSpPr>
          <p:nvPr/>
        </p:nvCxnSpPr>
        <p:spPr>
          <a:xfrm rot="5400000">
            <a:off x="3878962" y="434125"/>
            <a:ext cx="1971600" cy="5665800"/>
          </a:xfrm>
          <a:prstGeom prst="bentConnector2">
            <a:avLst/>
          </a:prstGeom>
          <a:noFill/>
          <a:ln cap="flat" cmpd="sng" w="9525">
            <a:solidFill>
              <a:schemeClr val="dk2"/>
            </a:solidFill>
            <a:prstDash val="solid"/>
            <a:round/>
            <a:headEnd len="med" w="med" type="none"/>
            <a:tailEnd len="med" w="med" type="triangle"/>
          </a:ln>
        </p:spPr>
      </p:cxnSp>
      <p:sp>
        <p:nvSpPr>
          <p:cNvPr id="325" name="Google Shape;325;p40"/>
          <p:cNvSpPr/>
          <p:nvPr/>
        </p:nvSpPr>
        <p:spPr>
          <a:xfrm>
            <a:off x="3642500" y="1952275"/>
            <a:ext cx="904800" cy="903600"/>
          </a:xfrm>
          <a:prstGeom prst="flowChartMagneticTap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Not really but …</a:t>
            </a:r>
            <a:endParaRPr>
              <a:latin typeface="Calibri"/>
              <a:ea typeface="Calibri"/>
              <a:cs typeface="Calibri"/>
              <a:sym typeface="Calibri"/>
            </a:endParaRPr>
          </a:p>
        </p:txBody>
      </p:sp>
      <p:cxnSp>
        <p:nvCxnSpPr>
          <p:cNvPr id="326" name="Google Shape;326;p40"/>
          <p:cNvCxnSpPr>
            <a:stCxn id="319" idx="1"/>
          </p:cNvCxnSpPr>
          <p:nvPr/>
        </p:nvCxnSpPr>
        <p:spPr>
          <a:xfrm flipH="1">
            <a:off x="5730775" y="1436687"/>
            <a:ext cx="1016100" cy="1023900"/>
          </a:xfrm>
          <a:prstGeom prst="bentConnector2">
            <a:avLst/>
          </a:prstGeom>
          <a:noFill/>
          <a:ln cap="flat" cmpd="sng" w="9525">
            <a:solidFill>
              <a:schemeClr val="dk2"/>
            </a:solidFill>
            <a:prstDash val="solid"/>
            <a:round/>
            <a:headEnd len="med" w="med" type="triangle"/>
            <a:tailEnd len="med" w="med" type="none"/>
          </a:ln>
        </p:spPr>
      </p:cxnSp>
      <p:cxnSp>
        <p:nvCxnSpPr>
          <p:cNvPr id="327" name="Google Shape;327;p40"/>
          <p:cNvCxnSpPr>
            <a:stCxn id="316" idx="1"/>
            <a:endCxn id="317" idx="3"/>
          </p:cNvCxnSpPr>
          <p:nvPr/>
        </p:nvCxnSpPr>
        <p:spPr>
          <a:xfrm flipH="1" rot="10800000">
            <a:off x="660400" y="2701913"/>
            <a:ext cx="5887800" cy="1551000"/>
          </a:xfrm>
          <a:prstGeom prst="bentConnector5">
            <a:avLst>
              <a:gd fmla="val -4044" name="adj1"/>
              <a:gd fmla="val 48310" name="adj2"/>
              <a:gd fmla="val 104046" name="adj3"/>
            </a:avLst>
          </a:prstGeom>
          <a:noFill/>
          <a:ln cap="flat" cmpd="sng" w="9525">
            <a:solidFill>
              <a:schemeClr val="dk2"/>
            </a:solidFill>
            <a:prstDash val="solid"/>
            <a:round/>
            <a:headEnd len="med" w="med" type="none"/>
            <a:tailEnd len="med" w="med" type="triangle"/>
          </a:ln>
        </p:spPr>
      </p:cxnSp>
      <p:cxnSp>
        <p:nvCxnSpPr>
          <p:cNvPr id="328" name="Google Shape;328;p40"/>
          <p:cNvCxnSpPr>
            <a:stCxn id="317" idx="2"/>
            <a:endCxn id="325" idx="2"/>
          </p:cNvCxnSpPr>
          <p:nvPr/>
        </p:nvCxnSpPr>
        <p:spPr>
          <a:xfrm flipH="1" rot="5400000">
            <a:off x="4698588" y="2252413"/>
            <a:ext cx="550800" cy="1758000"/>
          </a:xfrm>
          <a:prstGeom prst="bentConnector3">
            <a:avLst>
              <a:gd fmla="val -43233" name="adj1"/>
            </a:avLst>
          </a:prstGeom>
          <a:noFill/>
          <a:ln cap="flat" cmpd="sng" w="9525">
            <a:solidFill>
              <a:schemeClr val="dk2"/>
            </a:solidFill>
            <a:prstDash val="solid"/>
            <a:round/>
            <a:headEnd len="med" w="med" type="none"/>
            <a:tailEnd len="med" w="med" type="none"/>
          </a:ln>
        </p:spPr>
      </p:cxnSp>
      <p:cxnSp>
        <p:nvCxnSpPr>
          <p:cNvPr id="329" name="Google Shape;329;p40"/>
          <p:cNvCxnSpPr>
            <a:stCxn id="325" idx="1"/>
            <a:endCxn id="318" idx="3"/>
          </p:cNvCxnSpPr>
          <p:nvPr/>
        </p:nvCxnSpPr>
        <p:spPr>
          <a:xfrm rot="10800000">
            <a:off x="3032000" y="1948675"/>
            <a:ext cx="610500" cy="455400"/>
          </a:xfrm>
          <a:prstGeom prst="bentConnector3">
            <a:avLst>
              <a:gd fmla="val 49990" name="adj1"/>
            </a:avLst>
          </a:prstGeom>
          <a:noFill/>
          <a:ln cap="flat" cmpd="sng" w="9525">
            <a:solidFill>
              <a:schemeClr val="dk2"/>
            </a:solidFill>
            <a:prstDash val="solid"/>
            <a:round/>
            <a:headEnd len="med" w="med" type="none"/>
            <a:tailEnd len="med" w="med" type="none"/>
          </a:ln>
        </p:spPr>
      </p:cxnSp>
      <p:sp>
        <p:nvSpPr>
          <p:cNvPr id="330" name="Google Shape;330;p40"/>
          <p:cNvSpPr txBox="1"/>
          <p:nvPr/>
        </p:nvSpPr>
        <p:spPr>
          <a:xfrm>
            <a:off x="2159000" y="4381500"/>
            <a:ext cx="64278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chemeClr val="dk2"/>
                </a:solidFill>
                <a:latin typeface="Calibri"/>
                <a:ea typeface="Calibri"/>
                <a:cs typeface="Calibri"/>
                <a:sym typeface="Calibri"/>
              </a:rPr>
              <a:t>Application requests goes to RAG DB and sends details to LLM and LLM responds to chat BOT - </a:t>
            </a:r>
            <a:r>
              <a:rPr b="1" lang="en" sz="1300" u="sng">
                <a:solidFill>
                  <a:srgbClr val="FF0000"/>
                </a:solidFill>
                <a:latin typeface="Calibri"/>
                <a:ea typeface="Calibri"/>
                <a:cs typeface="Calibri"/>
                <a:sym typeface="Calibri"/>
              </a:rPr>
              <a:t>Python</a:t>
            </a:r>
            <a:r>
              <a:rPr b="1" lang="en" sz="1300" u="sng">
                <a:solidFill>
                  <a:schemeClr val="dk2"/>
                </a:solidFill>
                <a:latin typeface="Calibri"/>
                <a:ea typeface="Calibri"/>
                <a:cs typeface="Calibri"/>
                <a:sym typeface="Calibri"/>
              </a:rPr>
              <a:t> is involved</a:t>
            </a:r>
            <a:endParaRPr b="1" sz="1300" u="sng">
              <a:solidFill>
                <a:schemeClr val="dk2"/>
              </a:solidFill>
              <a:latin typeface="Calibri"/>
              <a:ea typeface="Calibri"/>
              <a:cs typeface="Calibri"/>
              <a:sym typeface="Calibri"/>
            </a:endParaRPr>
          </a:p>
        </p:txBody>
      </p:sp>
      <p:sp>
        <p:nvSpPr>
          <p:cNvPr id="331" name="Google Shape;331;p4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1"/>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import streamlit as st</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dotenv import load_dotenv</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PyPDF2 import PdfReader</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langchain.text_splitter import CharacterTextSplitter</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langchain.embeddings import OpenAIEmbeddings, HuggingFaceInstructEmbeddings</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langchain.vectorstores import FAISS</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langchain.chat_models import ChatOpenAI</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langchain.memory import ConversationBufferMemory</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langchain.chains import ConversationalRetrievalChain</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htmlTemplates import css, bot_template, user_template</a:t>
            </a:r>
            <a:endParaRPr b="1" sz="1300">
              <a:solidFill>
                <a:schemeClr val="accent6"/>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300">
                <a:solidFill>
                  <a:schemeClr val="accent6"/>
                </a:solidFill>
                <a:highlight>
                  <a:schemeClr val="dk1"/>
                </a:highlight>
                <a:latin typeface="Courier New"/>
                <a:ea typeface="Courier New"/>
                <a:cs typeface="Courier New"/>
                <a:sym typeface="Courier New"/>
              </a:rPr>
              <a:t>from langchain.llms import HuggingFaceHub</a:t>
            </a:r>
            <a:endParaRPr b="1" sz="1300">
              <a:solidFill>
                <a:schemeClr val="accent6"/>
              </a:solidFill>
              <a:highlight>
                <a:schemeClr val="dk1"/>
              </a:highlight>
              <a:latin typeface="Courier New"/>
              <a:ea typeface="Courier New"/>
              <a:cs typeface="Courier New"/>
              <a:sym typeface="Courier New"/>
            </a:endParaRPr>
          </a:p>
          <a:p>
            <a:pPr indent="0" lvl="0" marL="457200" rtl="0" algn="l">
              <a:spcBef>
                <a:spcPts val="0"/>
              </a:spcBef>
              <a:spcAft>
                <a:spcPts val="0"/>
              </a:spcAft>
              <a:buNone/>
            </a:pPr>
            <a:r>
              <a:t/>
            </a:r>
            <a:endParaRPr sz="1700">
              <a:solidFill>
                <a:schemeClr val="accent6"/>
              </a:solidFill>
              <a:highlight>
                <a:schemeClr val="dk1"/>
              </a:highlight>
            </a:endParaRPr>
          </a:p>
        </p:txBody>
      </p:sp>
      <p:sp>
        <p:nvSpPr>
          <p:cNvPr id="337" name="Google Shape;337;p41"/>
          <p:cNvSpPr/>
          <p:nvPr/>
        </p:nvSpPr>
        <p:spPr>
          <a:xfrm>
            <a:off x="6692900" y="2044700"/>
            <a:ext cx="1803300" cy="1155600"/>
          </a:xfrm>
          <a:prstGeom prst="wedgeRectCallout">
            <a:avLst>
              <a:gd fmla="val -20833" name="adj1"/>
              <a:gd fmla="val 625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Import Libraries</a:t>
            </a:r>
            <a:endParaRPr>
              <a:latin typeface="Calibri"/>
              <a:ea typeface="Calibri"/>
              <a:cs typeface="Calibri"/>
              <a:sym typeface="Calibri"/>
            </a:endParaRPr>
          </a:p>
        </p:txBody>
      </p:sp>
      <p:sp>
        <p:nvSpPr>
          <p:cNvPr id="338" name="Google Shape;338;p4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2"/>
          <p:cNvSpPr txBox="1"/>
          <p:nvPr/>
        </p:nvSpPr>
        <p:spPr>
          <a:xfrm>
            <a:off x="902850" y="362850"/>
            <a:ext cx="3003900" cy="4267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900">
                <a:solidFill>
                  <a:srgbClr val="FF0000"/>
                </a:solidFill>
                <a:highlight>
                  <a:schemeClr val="dk1"/>
                </a:highlight>
                <a:latin typeface="Courier New"/>
                <a:ea typeface="Courier New"/>
                <a:cs typeface="Courier New"/>
                <a:sym typeface="Courier New"/>
              </a:rPr>
              <a:t>def get_pdf_text(pdf_docs):</a:t>
            </a:r>
            <a:endParaRPr b="1" sz="900">
              <a:solidFill>
                <a:srgbClr val="FF0000"/>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text = ""</a:t>
            </a:r>
            <a:endParaRPr b="1" sz="900">
              <a:solidFill>
                <a:srgbClr val="1F1F1F"/>
              </a:solidFill>
              <a:highlight>
                <a:schemeClr val="dk1"/>
              </a:highlight>
              <a:latin typeface="Courier New"/>
              <a:ea typeface="Courier New"/>
              <a:cs typeface="Courier New"/>
              <a:sym typeface="Courier New"/>
            </a:endParaRPr>
          </a:p>
          <a:p>
            <a:pPr indent="0" lvl="0" marL="0" marR="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a:t>
            </a:r>
            <a:r>
              <a:rPr b="1" lang="en" sz="900">
                <a:solidFill>
                  <a:srgbClr val="FF0000"/>
                </a:solidFill>
                <a:highlight>
                  <a:schemeClr val="dk1"/>
                </a:highlight>
                <a:latin typeface="Courier New"/>
                <a:ea typeface="Courier New"/>
                <a:cs typeface="Courier New"/>
                <a:sym typeface="Courier New"/>
              </a:rPr>
              <a:t>for pdf in</a:t>
            </a:r>
            <a:r>
              <a:rPr b="1" lang="en" sz="1300">
                <a:solidFill>
                  <a:srgbClr val="FF0000"/>
                </a:solidFill>
                <a:highlight>
                  <a:schemeClr val="dk1"/>
                </a:highlight>
                <a:latin typeface="Courier New"/>
                <a:ea typeface="Courier New"/>
                <a:cs typeface="Courier New"/>
                <a:sym typeface="Courier New"/>
              </a:rPr>
              <a:t> </a:t>
            </a:r>
            <a:r>
              <a:rPr b="1" lang="en" sz="900">
                <a:solidFill>
                  <a:srgbClr val="FF0000"/>
                </a:solidFill>
                <a:highlight>
                  <a:schemeClr val="dk1"/>
                </a:highlight>
                <a:latin typeface="Courier New"/>
                <a:ea typeface="Courier New"/>
                <a:cs typeface="Courier New"/>
                <a:sym typeface="Courier New"/>
              </a:rPr>
              <a:t>pdf_docs</a:t>
            </a:r>
            <a:r>
              <a:rPr b="1" lang="en" sz="900">
                <a:solidFill>
                  <a:srgbClr val="1F1F1F"/>
                </a:solidFill>
                <a:highlight>
                  <a:schemeClr val="dk1"/>
                </a:highlight>
                <a:latin typeface="Courier New"/>
                <a:ea typeface="Courier New"/>
                <a:cs typeface="Courier New"/>
                <a:sym typeface="Courier New"/>
              </a:rPr>
              <a: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pdf_reader = PdfReader(pdf)</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for page in pdf_reader.pages: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text += page.extract_text()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return 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get_text_chunks(text):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text_splitter = CharacterTextSplitter(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separator="\n",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chunk_size=1000,</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chunk_overlap=200,</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length_function=len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chunks = text_splitter.split_text(text)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return 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457200" rtl="0" algn="l">
              <a:spcBef>
                <a:spcPts val="0"/>
              </a:spcBef>
              <a:spcAft>
                <a:spcPts val="0"/>
              </a:spcAft>
              <a:buNone/>
            </a:pPr>
            <a:r>
              <a:t/>
            </a:r>
            <a:endParaRPr b="1" sz="2000">
              <a:solidFill>
                <a:srgbClr val="1F1F1F"/>
              </a:solidFill>
              <a:highlight>
                <a:schemeClr val="dk1"/>
              </a:highlight>
            </a:endParaRPr>
          </a:p>
        </p:txBody>
      </p:sp>
      <p:sp>
        <p:nvSpPr>
          <p:cNvPr id="344" name="Google Shape;344;p42"/>
          <p:cNvSpPr txBox="1"/>
          <p:nvPr/>
        </p:nvSpPr>
        <p:spPr>
          <a:xfrm>
            <a:off x="3816150" y="271500"/>
            <a:ext cx="4675800" cy="465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get_vectorstore(text_chunks):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import pdb;pdb.set_trace()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embeddings = OpenAIEmbeddings()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embeddings = HuggingFaceInstructEmbeddings(model_name="hkunlp/instructor-xl")</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vectorstore = FAISS.from_texts(texts=text_chunks, embedding=embeddings)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return vectorstore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get_conversation_chain(vectorstore):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llm = ChatOpenAI()</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llm = HuggingFaceHub(repo_id="google/flan-t5-xxl", model_kwargs={"temperature":0.5, "max_length":512})</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memory = ConversationBufferMemory(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memory_key='chat_history', return_messages=True)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conversation_chain = ConversationalRetrievalChain.from_llm(</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llm=llm,</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retriever=vectorstore.as_retriever(),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memory=memory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return conversation_chain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handle_userinput(user_question):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response = st.session_state.conversation({'question': 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st.session_state.chat_history = response['chat_history']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for i, message in enumerate(st.session_state.chat_history):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i % 2 == 0:</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st.write(user_template.replace(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"{{MSG}}", message.content),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else: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st.write(bot_template.replace(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"{{MSG}}", message.content),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main():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load_dotenv()</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st.set_page_config(page_title="Chat with multiple PDFs",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page_icon=":books:")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st.write(css,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"conversation" not in st.session_state: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st.session_state.conversation = None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"chat_history" not in st.session_state: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st.session_state.chat_history = None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st.header("Chat with multiple PDFs :books:")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user_question = st.text_input("Ask a question about your documents:")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handle_userinput(user_question)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with st.sidebar: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st.subheader("Your documents")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pdf_docs = st.file_uploader(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"Upload your PDFs here and click on 'Process'", accept_multiple_files=True)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st.button("Process"):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with st.spinner("Processing"):</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get pdf 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raw_text = get_pdf_text(pdf_docs)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get the text 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text_chunks = get_text_chunks(raw_text)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create vector store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vectorstore = get_vectorstore(text_chunks)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create conversation chain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st.session_state.conversation = get_conversation_chain(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vectorstore)</a:t>
            </a:r>
            <a:endParaRPr sz="1300">
              <a:solidFill>
                <a:schemeClr val="dk2"/>
              </a:solidFill>
              <a:latin typeface="Calibri"/>
              <a:ea typeface="Calibri"/>
              <a:cs typeface="Calibri"/>
              <a:sym typeface="Calibri"/>
            </a:endParaRPr>
          </a:p>
        </p:txBody>
      </p:sp>
      <p:sp>
        <p:nvSpPr>
          <p:cNvPr id="345" name="Google Shape;345;p42"/>
          <p:cNvSpPr/>
          <p:nvPr/>
        </p:nvSpPr>
        <p:spPr>
          <a:xfrm>
            <a:off x="2489200" y="1892300"/>
            <a:ext cx="1130400" cy="482700"/>
          </a:xfrm>
          <a:prstGeom prst="wedgeRoundRectCallout">
            <a:avLst>
              <a:gd fmla="val -20833" name="adj1"/>
              <a:gd fmla="val 62500" name="adj2"/>
              <a:gd fmla="val 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Functions</a:t>
            </a:r>
            <a:endParaRPr>
              <a:latin typeface="Calibri"/>
              <a:ea typeface="Calibri"/>
              <a:cs typeface="Calibri"/>
              <a:sym typeface="Calibri"/>
            </a:endParaRPr>
          </a:p>
        </p:txBody>
      </p:sp>
      <p:sp>
        <p:nvSpPr>
          <p:cNvPr id="346" name="Google Shape;346;p42"/>
          <p:cNvSpPr/>
          <p:nvPr/>
        </p:nvSpPr>
        <p:spPr>
          <a:xfrm>
            <a:off x="7064200" y="1721225"/>
            <a:ext cx="1631700" cy="1524000"/>
          </a:xfrm>
          <a:prstGeom prst="flowChartMagneticTap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libri"/>
                <a:ea typeface="Calibri"/>
                <a:cs typeface="Calibri"/>
                <a:sym typeface="Calibri"/>
              </a:rPr>
              <a:t>Do not worry if you do not understand full code </a:t>
            </a:r>
            <a:endParaRPr b="1">
              <a:latin typeface="Calibri"/>
              <a:ea typeface="Calibri"/>
              <a:cs typeface="Calibri"/>
              <a:sym typeface="Calibri"/>
            </a:endParaRPr>
          </a:p>
        </p:txBody>
      </p:sp>
      <p:sp>
        <p:nvSpPr>
          <p:cNvPr id="347" name="Google Shape;347;p4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nvSpPr>
        <p:spPr>
          <a:xfrm>
            <a:off x="588250" y="362850"/>
            <a:ext cx="3846300" cy="4267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handle_userinput(user_question):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response = st.session_state.conversation({'question': 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st.session_state.chat_history = response['chat_history']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for i, message in enumerate(st.session_state.chat_history):</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i % 2 == 0:</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st.write(user_template.replace(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"{{MSG}}", message.content),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else: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st.write(bot_template.replace(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"{{MSG}}", message.content),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def main():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load_dotenv()</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st.set_page_config(page_title="Chat with multiple PDFs",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page_icon=":books:")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st.write(css, unsafe_allow_html=True)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"conversation" not in st.session_state: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st.session_state.conversation = None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"chat_history" not in st.session_state: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st.session_state.chat_history = None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457200" rtl="0" algn="l">
              <a:spcBef>
                <a:spcPts val="0"/>
              </a:spcBef>
              <a:spcAft>
                <a:spcPts val="0"/>
              </a:spcAft>
              <a:buNone/>
            </a:pPr>
            <a:r>
              <a:t/>
            </a:r>
            <a:endParaRPr b="1" sz="2000">
              <a:solidFill>
                <a:srgbClr val="1F1F1F"/>
              </a:solidFill>
              <a:highlight>
                <a:schemeClr val="dk1"/>
              </a:highlight>
            </a:endParaRPr>
          </a:p>
        </p:txBody>
      </p:sp>
      <p:sp>
        <p:nvSpPr>
          <p:cNvPr id="353" name="Google Shape;353;p43"/>
          <p:cNvSpPr txBox="1"/>
          <p:nvPr/>
        </p:nvSpPr>
        <p:spPr>
          <a:xfrm>
            <a:off x="4520600" y="301675"/>
            <a:ext cx="3846300" cy="462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st.header("Chat with multiple PDFs :books:")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user_question = st.text_input("Ask a question about your documents:")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handle_userinput(user_question)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with st.sidebar: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st.subheader("Your documents")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pdf_docs = st.file_uploader(</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"Upload your PDFs here and click on 'Process'", accept_multiple_files=True)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if st.button("Process"):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with st.spinner("Processing"):</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get pdf 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raw_text = get_pdf_text(pdf_docs)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get the text 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text_chunks = get_text_chunks(raw_text)</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create vector store</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vectorstore = get_vectorstore(text_chunks)</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 create conversation chain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st.session_state.conversation = get_conversation_chain(</a:t>
            </a:r>
            <a:endParaRPr b="1" sz="900">
              <a:solidFill>
                <a:srgbClr val="1F1F1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900">
                <a:solidFill>
                  <a:srgbClr val="1F1F1F"/>
                </a:solidFill>
                <a:highlight>
                  <a:schemeClr val="dk1"/>
                </a:highlight>
                <a:latin typeface="Courier New"/>
                <a:ea typeface="Courier New"/>
                <a:cs typeface="Courier New"/>
                <a:sym typeface="Courier New"/>
              </a:rPr>
              <a:t>         vectorstore)</a:t>
            </a:r>
            <a:endParaRPr sz="1300">
              <a:solidFill>
                <a:schemeClr val="dk2"/>
              </a:solidFill>
              <a:latin typeface="Calibri"/>
              <a:ea typeface="Calibri"/>
              <a:cs typeface="Calibri"/>
              <a:sym typeface="Calibri"/>
            </a:endParaRPr>
          </a:p>
        </p:txBody>
      </p:sp>
      <p:sp>
        <p:nvSpPr>
          <p:cNvPr id="354" name="Google Shape;354;p4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Generative Use Case (Medical Field)</a:t>
            </a:r>
            <a:endParaRPr/>
          </a:p>
        </p:txBody>
      </p:sp>
      <p:sp>
        <p:nvSpPr>
          <p:cNvPr id="360" name="Google Shape;360;p4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lnSpc>
                <a:spcPct val="160000"/>
              </a:lnSpc>
              <a:spcBef>
                <a:spcPts val="0"/>
              </a:spcBef>
              <a:spcAft>
                <a:spcPts val="0"/>
              </a:spcAft>
              <a:buNone/>
            </a:pPr>
            <a:r>
              <a:rPr b="1" lang="en" sz="1650">
                <a:solidFill>
                  <a:srgbClr val="0D0D0D"/>
                </a:solidFill>
                <a:highlight>
                  <a:srgbClr val="FFFFFF"/>
                </a:highlight>
                <a:latin typeface="Roboto"/>
                <a:ea typeface="Roboto"/>
                <a:cs typeface="Roboto"/>
                <a:sym typeface="Roboto"/>
              </a:rPr>
              <a:t>Generative AI Use Case in Medical Field: Predicting Heart Disease Risk and Providing Preventative Measures</a:t>
            </a:r>
            <a:endParaRPr b="1" sz="1650">
              <a:solidFill>
                <a:srgbClr val="0D0D0D"/>
              </a:solidFill>
              <a:highlight>
                <a:srgbClr val="FFFFFF"/>
              </a:highlight>
              <a:latin typeface="Roboto"/>
              <a:ea typeface="Roboto"/>
              <a:cs typeface="Roboto"/>
              <a:sym typeface="Roboto"/>
            </a:endParaRPr>
          </a:p>
          <a:p>
            <a:pPr indent="0" lvl="0" marL="0" rtl="0" algn="l">
              <a:lnSpc>
                <a:spcPct val="150000"/>
              </a:lnSpc>
              <a:spcBef>
                <a:spcPts val="1200"/>
              </a:spcBef>
              <a:spcAft>
                <a:spcPts val="0"/>
              </a:spcAft>
              <a:buNone/>
            </a:pPr>
            <a:r>
              <a:rPr b="1" lang="en" sz="1200">
                <a:solidFill>
                  <a:srgbClr val="0D0D0D"/>
                </a:solidFill>
                <a:highlight>
                  <a:srgbClr val="FFFFFF"/>
                </a:highlight>
                <a:latin typeface="Roboto"/>
                <a:ea typeface="Roboto"/>
                <a:cs typeface="Roboto"/>
                <a:sym typeface="Roboto"/>
              </a:rPr>
              <a:t>Use Case Description</a:t>
            </a:r>
            <a:endParaRPr b="1" sz="1200">
              <a:solidFill>
                <a:srgbClr val="0D0D0D"/>
              </a:solidFill>
              <a:highlight>
                <a:srgbClr val="FFFFFF"/>
              </a:highlight>
              <a:latin typeface="Roboto"/>
              <a:ea typeface="Roboto"/>
              <a:cs typeface="Roboto"/>
              <a:sym typeface="Roboto"/>
            </a:endParaRPr>
          </a:p>
          <a:p>
            <a:pPr indent="0" lvl="0" marL="0" rtl="0" algn="l">
              <a:spcBef>
                <a:spcPts val="200"/>
              </a:spcBef>
              <a:spcAft>
                <a:spcPts val="0"/>
              </a:spcAft>
              <a:buNone/>
            </a:pPr>
            <a:r>
              <a:rPr lang="en" sz="1200">
                <a:solidFill>
                  <a:srgbClr val="0D0D0D"/>
                </a:solidFill>
                <a:highlight>
                  <a:srgbClr val="FFFFFF"/>
                </a:highlight>
                <a:latin typeface="Roboto"/>
                <a:ea typeface="Roboto"/>
                <a:cs typeface="Roboto"/>
                <a:sym typeface="Roboto"/>
              </a:rPr>
              <a:t>Objective: To develop an AI-powered medical assistant that uses a large language model (LLM) trained with medical data to predict a patient's risk of developing heart disease and provide personalized preventative measures based on the patient's medical history.</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61" name="Google Shape;361;p4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Generative Use Case (Use Case)</a:t>
            </a:r>
            <a:endParaRPr/>
          </a:p>
        </p:txBody>
      </p:sp>
      <p:sp>
        <p:nvSpPr>
          <p:cNvPr id="367" name="Google Shape;367;p45"/>
          <p:cNvSpPr txBox="1"/>
          <p:nvPr>
            <p:ph idx="1" type="body"/>
          </p:nvPr>
        </p:nvSpPr>
        <p:spPr>
          <a:xfrm>
            <a:off x="819150" y="1526800"/>
            <a:ext cx="7505700" cy="2911800"/>
          </a:xfrm>
          <a:prstGeom prst="rect">
            <a:avLst/>
          </a:prstGeom>
        </p:spPr>
        <p:txBody>
          <a:bodyPr anchorCtr="0" anchor="t" bIns="91425" lIns="91425" spcFirstLastPara="1" rIns="91425" wrap="square" tIns="91425">
            <a:normAutofit fontScale="70000" lnSpcReduction="20000"/>
          </a:bodyPr>
          <a:lstStyle/>
          <a:p>
            <a:pPr indent="0" lvl="0" marL="0" rtl="0" algn="l">
              <a:spcBef>
                <a:spcPts val="1500"/>
              </a:spcBef>
              <a:spcAft>
                <a:spcPts val="0"/>
              </a:spcAft>
              <a:buNone/>
            </a:pPr>
            <a:r>
              <a:rPr b="1" lang="en" sz="2281">
                <a:solidFill>
                  <a:srgbClr val="0D0D0D"/>
                </a:solidFill>
                <a:highlight>
                  <a:srgbClr val="FFFFFF"/>
                </a:highlight>
                <a:latin typeface="Roboto"/>
                <a:ea typeface="Roboto"/>
                <a:cs typeface="Roboto"/>
                <a:sym typeface="Roboto"/>
              </a:rPr>
              <a:t>Use Case:</a:t>
            </a:r>
            <a:endParaRPr b="1" sz="2281">
              <a:solidFill>
                <a:srgbClr val="0D0D0D"/>
              </a:solidFill>
              <a:highlight>
                <a:srgbClr val="FFFFFF"/>
              </a:highlight>
              <a:latin typeface="Roboto"/>
              <a:ea typeface="Roboto"/>
              <a:cs typeface="Roboto"/>
              <a:sym typeface="Roboto"/>
            </a:endParaRPr>
          </a:p>
          <a:p>
            <a:pPr indent="-330011" lvl="0" marL="457200" rtl="0" algn="l">
              <a:spcBef>
                <a:spcPts val="2100"/>
              </a:spcBef>
              <a:spcAft>
                <a:spcPts val="0"/>
              </a:spcAft>
              <a:buClr>
                <a:srgbClr val="0D0D0D"/>
              </a:buClr>
              <a:buSzPct val="100000"/>
              <a:buFont typeface="Roboto"/>
              <a:buAutoNum type="arabicPeriod"/>
            </a:pPr>
            <a:r>
              <a:rPr b="1" lang="en" sz="2281">
                <a:solidFill>
                  <a:srgbClr val="0D0D0D"/>
                </a:solidFill>
                <a:highlight>
                  <a:srgbClr val="FFFFFF"/>
                </a:highlight>
                <a:latin typeface="Roboto"/>
                <a:ea typeface="Roboto"/>
                <a:cs typeface="Roboto"/>
                <a:sym typeface="Roboto"/>
              </a:rPr>
              <a:t>Patient Data Collection: Gather past medical history and lifestyle data of the patient.</a:t>
            </a:r>
            <a:endParaRPr b="1" sz="2281">
              <a:solidFill>
                <a:srgbClr val="0D0D0D"/>
              </a:solidFill>
              <a:highlight>
                <a:srgbClr val="FFFFFF"/>
              </a:highlight>
              <a:latin typeface="Roboto"/>
              <a:ea typeface="Roboto"/>
              <a:cs typeface="Roboto"/>
              <a:sym typeface="Roboto"/>
            </a:endParaRPr>
          </a:p>
          <a:p>
            <a:pPr indent="-330011" lvl="0" marL="457200" rtl="0" algn="l">
              <a:spcBef>
                <a:spcPts val="0"/>
              </a:spcBef>
              <a:spcAft>
                <a:spcPts val="0"/>
              </a:spcAft>
              <a:buClr>
                <a:srgbClr val="0D0D0D"/>
              </a:buClr>
              <a:buSzPct val="100000"/>
              <a:buFont typeface="Roboto"/>
              <a:buAutoNum type="arabicPeriod"/>
            </a:pPr>
            <a:r>
              <a:rPr b="1" lang="en" sz="2281">
                <a:solidFill>
                  <a:srgbClr val="0D0D0D"/>
                </a:solidFill>
                <a:highlight>
                  <a:srgbClr val="FFFFFF"/>
                </a:highlight>
                <a:latin typeface="Roboto"/>
                <a:ea typeface="Roboto"/>
                <a:cs typeface="Roboto"/>
                <a:sym typeface="Roboto"/>
              </a:rPr>
              <a:t>Risk Assessment: Use an instruction-trained LLM to analyze the collected data and predict the risk of heart disease.</a:t>
            </a:r>
            <a:endParaRPr b="1" sz="2281">
              <a:solidFill>
                <a:srgbClr val="0D0D0D"/>
              </a:solidFill>
              <a:highlight>
                <a:srgbClr val="FFFFFF"/>
              </a:highlight>
              <a:latin typeface="Roboto"/>
              <a:ea typeface="Roboto"/>
              <a:cs typeface="Roboto"/>
              <a:sym typeface="Roboto"/>
            </a:endParaRPr>
          </a:p>
          <a:p>
            <a:pPr indent="-330011" lvl="0" marL="457200" rtl="0" algn="l">
              <a:spcBef>
                <a:spcPts val="0"/>
              </a:spcBef>
              <a:spcAft>
                <a:spcPts val="0"/>
              </a:spcAft>
              <a:buClr>
                <a:srgbClr val="0D0D0D"/>
              </a:buClr>
              <a:buSzPct val="100000"/>
              <a:buFont typeface="Roboto"/>
              <a:buAutoNum type="arabicPeriod"/>
            </a:pPr>
            <a:r>
              <a:rPr b="1" lang="en" sz="2281">
                <a:solidFill>
                  <a:srgbClr val="0D0D0D"/>
                </a:solidFill>
                <a:highlight>
                  <a:srgbClr val="FFFFFF"/>
                </a:highlight>
                <a:latin typeface="Roboto"/>
                <a:ea typeface="Roboto"/>
                <a:cs typeface="Roboto"/>
                <a:sym typeface="Roboto"/>
              </a:rPr>
              <a:t>Personalized Recommendations: Provide customized preventive measures to mitigate the identified risks.</a:t>
            </a:r>
            <a:endParaRPr b="1" sz="2281">
              <a:solidFill>
                <a:srgbClr val="0D0D0D"/>
              </a:solidFill>
              <a:highlight>
                <a:srgbClr val="FFFFFF"/>
              </a:highlight>
              <a:latin typeface="Roboto"/>
              <a:ea typeface="Roboto"/>
              <a:cs typeface="Roboto"/>
              <a:sym typeface="Roboto"/>
            </a:endParaRPr>
          </a:p>
          <a:p>
            <a:pPr indent="0" lvl="0" marL="0" rtl="0" algn="l">
              <a:spcBef>
                <a:spcPts val="21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68" name="Google Shape;368;p4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Generative Use Case (Solution)</a:t>
            </a:r>
            <a:endParaRPr/>
          </a:p>
        </p:txBody>
      </p:sp>
      <p:sp>
        <p:nvSpPr>
          <p:cNvPr id="374" name="Google Shape;374;p46"/>
          <p:cNvSpPr txBox="1"/>
          <p:nvPr>
            <p:ph idx="1" type="body"/>
          </p:nvPr>
        </p:nvSpPr>
        <p:spPr>
          <a:xfrm>
            <a:off x="819150" y="1600200"/>
            <a:ext cx="6978600" cy="283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D0D0D"/>
                </a:solidFill>
                <a:highlight>
                  <a:srgbClr val="FFFFFF"/>
                </a:highlight>
                <a:latin typeface="Roboto"/>
                <a:ea typeface="Roboto"/>
                <a:cs typeface="Roboto"/>
                <a:sym typeface="Roboto"/>
              </a:rPr>
              <a:t>Compone</a:t>
            </a:r>
            <a:r>
              <a:rPr b="1" lang="en" sz="1200">
                <a:solidFill>
                  <a:srgbClr val="0D0D0D"/>
                </a:solidFill>
                <a:highlight>
                  <a:srgbClr val="FFFFFF"/>
                </a:highlight>
                <a:latin typeface="Arial"/>
                <a:ea typeface="Arial"/>
                <a:cs typeface="Arial"/>
                <a:sym typeface="Arial"/>
              </a:rPr>
              <a:t>nts:</a:t>
            </a:r>
            <a:endParaRPr b="1" sz="1200">
              <a:solidFill>
                <a:srgbClr val="0D0D0D"/>
              </a:solidFill>
              <a:highlight>
                <a:srgbClr val="FFFFFF"/>
              </a:highlight>
              <a:latin typeface="Arial"/>
              <a:ea typeface="Arial"/>
              <a:cs typeface="Arial"/>
              <a:sym typeface="Arial"/>
            </a:endParaRPr>
          </a:p>
          <a:p>
            <a:pPr indent="-304800" lvl="0" marL="457200" rtl="0" algn="l">
              <a:spcBef>
                <a:spcPts val="210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Pre-trained Base LLM: An open-source language model such as GPT-3 or GPT-4.</a:t>
            </a:r>
            <a:endParaRPr b="1" sz="1200">
              <a:solidFill>
                <a:srgbClr val="0D0D0D"/>
              </a:solidFill>
              <a:highlight>
                <a:srgbClr val="FFFFFF"/>
              </a:highlight>
              <a:latin typeface="Arial"/>
              <a:ea typeface="Arial"/>
              <a:cs typeface="Arial"/>
              <a:sym typeface="Arial"/>
            </a:endParaRPr>
          </a:p>
          <a:p>
            <a:pPr indent="-304800" lvl="0" marL="457200" rtl="0" algn="l">
              <a:spcBef>
                <a:spcPts val="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Instruction-Tuned Model: A model fine-tuned with medical data and instructions to provide accurate medical advice.</a:t>
            </a:r>
            <a:endParaRPr b="1" sz="1200">
              <a:solidFill>
                <a:srgbClr val="0D0D0D"/>
              </a:solidFill>
              <a:highlight>
                <a:srgbClr val="FFFFFF"/>
              </a:highlight>
              <a:latin typeface="Arial"/>
              <a:ea typeface="Arial"/>
              <a:cs typeface="Arial"/>
              <a:sym typeface="Arial"/>
            </a:endParaRPr>
          </a:p>
          <a:p>
            <a:pPr indent="-304800" lvl="0" marL="457200" rtl="0" algn="l">
              <a:spcBef>
                <a:spcPts val="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Retrieval-Augmented Generation (RAG): Enhances the LLM by retrieving relevant information from a vector database for personalized and context-specific responses.</a:t>
            </a:r>
            <a:endParaRPr b="1" sz="1200">
              <a:solidFill>
                <a:srgbClr val="0D0D0D"/>
              </a:solidFill>
              <a:highlight>
                <a:srgbClr val="FFFFFF"/>
              </a:highlight>
              <a:latin typeface="Arial"/>
              <a:ea typeface="Arial"/>
              <a:cs typeface="Arial"/>
              <a:sym typeface="Arial"/>
            </a:endParaRPr>
          </a:p>
          <a:p>
            <a:pPr indent="-304800" lvl="0" marL="457200" rtl="0" algn="l">
              <a:spcBef>
                <a:spcPts val="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Vector Database: An open-source vector database like FAISS or Milvus to store and retrieve patient-specific data efficiently.</a:t>
            </a:r>
            <a:endParaRPr b="1" sz="1200">
              <a:solidFill>
                <a:srgbClr val="0D0D0D"/>
              </a:solidFill>
              <a:highlight>
                <a:srgbClr val="FFFFFF"/>
              </a:highlight>
              <a:latin typeface="Arial"/>
              <a:ea typeface="Arial"/>
              <a:cs typeface="Arial"/>
              <a:sym typeface="Arial"/>
            </a:endParaRPr>
          </a:p>
          <a:p>
            <a:pPr indent="-304800" lvl="0" marL="457200" rtl="0" algn="l">
              <a:spcBef>
                <a:spcPts val="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Data Pipeline: Collects and preprocesses patient data for analysis.</a:t>
            </a:r>
            <a:endParaRPr b="1" sz="1200">
              <a:solidFill>
                <a:srgbClr val="0D0D0D"/>
              </a:solidFill>
              <a:highlight>
                <a:srgbClr val="FFFFFF"/>
              </a:highlight>
              <a:latin typeface="Arial"/>
              <a:ea typeface="Arial"/>
              <a:cs typeface="Arial"/>
              <a:sym typeface="Arial"/>
            </a:endParaRPr>
          </a:p>
          <a:p>
            <a:pPr indent="-304800" lvl="0" marL="457200" rtl="0" algn="l">
              <a:spcBef>
                <a:spcPts val="0"/>
              </a:spcBef>
              <a:spcAft>
                <a:spcPts val="0"/>
              </a:spcAft>
              <a:buClr>
                <a:srgbClr val="0D0D0D"/>
              </a:buClr>
              <a:buSzPts val="1200"/>
              <a:buFont typeface="Arial"/>
              <a:buAutoNum type="arabicPeriod"/>
            </a:pPr>
            <a:r>
              <a:rPr b="1" lang="en" sz="1200">
                <a:solidFill>
                  <a:srgbClr val="0D0D0D"/>
                </a:solidFill>
                <a:highlight>
                  <a:srgbClr val="FFFFFF"/>
                </a:highlight>
                <a:latin typeface="Arial"/>
                <a:ea typeface="Arial"/>
                <a:cs typeface="Arial"/>
                <a:sym typeface="Arial"/>
              </a:rPr>
              <a:t>User Interface: A web or mobile application for patient interaction.</a:t>
            </a:r>
            <a:endParaRPr b="1" sz="1200">
              <a:solidFill>
                <a:srgbClr val="0D0D0D"/>
              </a:solidFill>
              <a:highlight>
                <a:srgbClr val="FFFFFF"/>
              </a:highlight>
              <a:latin typeface="Arial"/>
              <a:ea typeface="Arial"/>
              <a:cs typeface="Arial"/>
              <a:sym typeface="Arial"/>
            </a:endParaRPr>
          </a:p>
          <a:p>
            <a:pPr indent="0" lvl="0" marL="457200" rtl="0" algn="l">
              <a:spcBef>
                <a:spcPts val="21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21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sz="1200"/>
          </a:p>
        </p:txBody>
      </p:sp>
      <p:sp>
        <p:nvSpPr>
          <p:cNvPr id="375" name="Google Shape;375;p4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7"/>
          <p:cNvSpPr txBox="1"/>
          <p:nvPr>
            <p:ph type="title"/>
          </p:nvPr>
        </p:nvSpPr>
        <p:spPr>
          <a:xfrm>
            <a:off x="819150" y="342900"/>
            <a:ext cx="6902400" cy="60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use cases</a:t>
            </a:r>
            <a:endParaRPr/>
          </a:p>
        </p:txBody>
      </p:sp>
      <p:sp>
        <p:nvSpPr>
          <p:cNvPr id="381" name="Google Shape;381;p47"/>
          <p:cNvSpPr txBox="1"/>
          <p:nvPr>
            <p:ph idx="1" type="body"/>
          </p:nvPr>
        </p:nvSpPr>
        <p:spPr>
          <a:xfrm>
            <a:off x="819150" y="952500"/>
            <a:ext cx="3651300" cy="16890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1. Finance</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Use Case: Fraud Detection and Prevention</a:t>
            </a:r>
            <a:endParaRPr sz="1200">
              <a:solidFill>
                <a:srgbClr val="0D0D0D"/>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0D0D0D"/>
                </a:solidFill>
                <a:highlight>
                  <a:srgbClr val="FFFFFF"/>
                </a:highlight>
                <a:latin typeface="Roboto"/>
                <a:ea typeface="Roboto"/>
                <a:cs typeface="Roboto"/>
                <a:sym typeface="Roboto"/>
              </a:rPr>
              <a:t>Description: Develop an AI system that analyzes transaction patterns and flags suspicious activities in real-time to prevent fraudulent transactions and reduce financial losses.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82" name="Google Shape;382;p47"/>
          <p:cNvSpPr txBox="1"/>
          <p:nvPr>
            <p:ph idx="1" type="body"/>
          </p:nvPr>
        </p:nvSpPr>
        <p:spPr>
          <a:xfrm>
            <a:off x="4470450" y="952500"/>
            <a:ext cx="3651300" cy="16890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SzPts val="440"/>
              <a:buNone/>
            </a:pPr>
            <a:r>
              <a:rPr b="1" lang="en" sz="1200">
                <a:solidFill>
                  <a:srgbClr val="0D0D0D"/>
                </a:solidFill>
                <a:highlight>
                  <a:srgbClr val="FFFFFF"/>
                </a:highlight>
                <a:latin typeface="Roboto"/>
                <a:ea typeface="Roboto"/>
                <a:cs typeface="Roboto"/>
                <a:sym typeface="Roboto"/>
              </a:rPr>
              <a:t>2. Healthcare</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SzPts val="440"/>
              <a:buNone/>
            </a:pPr>
            <a:r>
              <a:rPr lang="en" sz="1200">
                <a:solidFill>
                  <a:srgbClr val="0D0D0D"/>
                </a:solidFill>
                <a:highlight>
                  <a:srgbClr val="FFFFFF"/>
                </a:highlight>
                <a:latin typeface="Roboto"/>
                <a:ea typeface="Roboto"/>
                <a:cs typeface="Roboto"/>
                <a:sym typeface="Roboto"/>
              </a:rPr>
              <a:t>Use Case: Personalized Treatment Recommendations</a:t>
            </a:r>
            <a:endParaRPr sz="1200">
              <a:solidFill>
                <a:srgbClr val="0D0D0D"/>
              </a:solidFill>
              <a:highlight>
                <a:srgbClr val="FFFFFF"/>
              </a:highlight>
              <a:latin typeface="Roboto"/>
              <a:ea typeface="Roboto"/>
              <a:cs typeface="Roboto"/>
              <a:sym typeface="Roboto"/>
            </a:endParaRPr>
          </a:p>
          <a:p>
            <a:pPr indent="0" lvl="0" marL="0" rtl="0" algn="l">
              <a:spcBef>
                <a:spcPts val="1200"/>
              </a:spcBef>
              <a:spcAft>
                <a:spcPts val="0"/>
              </a:spcAft>
              <a:buSzPts val="440"/>
              <a:buNone/>
            </a:pPr>
            <a:r>
              <a:rPr lang="en" sz="1200">
                <a:solidFill>
                  <a:srgbClr val="0D0D0D"/>
                </a:solidFill>
                <a:highlight>
                  <a:srgbClr val="FFFFFF"/>
                </a:highlight>
                <a:latin typeface="Roboto"/>
                <a:ea typeface="Roboto"/>
                <a:cs typeface="Roboto"/>
                <a:sym typeface="Roboto"/>
              </a:rPr>
              <a:t>Description: Use an LLM to analyze patient records and genetic data to suggest personalized treatment plans and medication regimens tailored to individual patient needs.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SzPts val="440"/>
              <a:buNone/>
            </a:pPr>
            <a:r>
              <a:t/>
            </a:r>
            <a:endParaRPr sz="520"/>
          </a:p>
        </p:txBody>
      </p:sp>
      <p:sp>
        <p:nvSpPr>
          <p:cNvPr id="383" name="Google Shape;383;p47"/>
          <p:cNvSpPr txBox="1"/>
          <p:nvPr>
            <p:ph idx="1" type="body"/>
          </p:nvPr>
        </p:nvSpPr>
        <p:spPr>
          <a:xfrm>
            <a:off x="819150" y="2641600"/>
            <a:ext cx="3651300" cy="18543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3. Retail</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Use Case: Customer Sentiment Analysis</a:t>
            </a:r>
            <a:endParaRPr sz="1200">
              <a:solidFill>
                <a:srgbClr val="0D0D0D"/>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0D0D0D"/>
                </a:solidFill>
                <a:highlight>
                  <a:srgbClr val="FFFFFF"/>
                </a:highlight>
                <a:latin typeface="Roboto"/>
                <a:ea typeface="Roboto"/>
                <a:cs typeface="Roboto"/>
                <a:sym typeface="Roboto"/>
              </a:rPr>
              <a:t>Description: Implement a system to analyze customer reviews and feedback across multiple platforms, providing insights into customer sentiment and helping businesses improve products and services.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sz="1200"/>
          </a:p>
        </p:txBody>
      </p:sp>
      <p:sp>
        <p:nvSpPr>
          <p:cNvPr id="384" name="Google Shape;384;p47"/>
          <p:cNvSpPr txBox="1"/>
          <p:nvPr>
            <p:ph idx="1" type="body"/>
          </p:nvPr>
        </p:nvSpPr>
        <p:spPr>
          <a:xfrm>
            <a:off x="4470450" y="2844800"/>
            <a:ext cx="3651300" cy="16002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4. Manufacturing</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Use Case: Predictive Maintenance</a:t>
            </a:r>
            <a:endParaRPr sz="1200">
              <a:solidFill>
                <a:srgbClr val="0D0D0D"/>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0D0D0D"/>
                </a:solidFill>
                <a:highlight>
                  <a:srgbClr val="FFFFFF"/>
                </a:highlight>
                <a:latin typeface="Roboto"/>
                <a:ea typeface="Roboto"/>
                <a:cs typeface="Roboto"/>
                <a:sym typeface="Roboto"/>
              </a:rPr>
              <a:t>Description: Use AI to monitor machinery data and predict potential failures before they occur, allowing for timely maintenance and reducing downtime.</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85" name="Google Shape;385;p4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8"/>
          <p:cNvSpPr txBox="1"/>
          <p:nvPr>
            <p:ph type="title"/>
          </p:nvPr>
        </p:nvSpPr>
        <p:spPr>
          <a:xfrm>
            <a:off x="819150" y="342900"/>
            <a:ext cx="6902400" cy="60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use cases</a:t>
            </a:r>
            <a:endParaRPr/>
          </a:p>
        </p:txBody>
      </p:sp>
      <p:sp>
        <p:nvSpPr>
          <p:cNvPr id="391" name="Google Shape;391;p48"/>
          <p:cNvSpPr txBox="1"/>
          <p:nvPr>
            <p:ph idx="1" type="body"/>
          </p:nvPr>
        </p:nvSpPr>
        <p:spPr>
          <a:xfrm>
            <a:off x="819150" y="9525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5. Education</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Use Case: Intelligent Tutoring Systems</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Description: Create an AI tutor that provides personalized learning experiences, adapts to student progress, and offers targeted help in areas where students struggle.</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92" name="Google Shape;392;p48"/>
          <p:cNvSpPr txBox="1"/>
          <p:nvPr>
            <p:ph idx="1" type="body"/>
          </p:nvPr>
        </p:nvSpPr>
        <p:spPr>
          <a:xfrm>
            <a:off x="4470450" y="9525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50">
                <a:solidFill>
                  <a:srgbClr val="0D0D0D"/>
                </a:solidFill>
                <a:highlight>
                  <a:srgbClr val="FFFFFF"/>
                </a:highlight>
                <a:latin typeface="Roboto"/>
                <a:ea typeface="Roboto"/>
                <a:cs typeface="Roboto"/>
                <a:sym typeface="Roboto"/>
              </a:rPr>
              <a:t>6. Security</a:t>
            </a:r>
            <a:endParaRPr b="1" sz="48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50">
                <a:solidFill>
                  <a:srgbClr val="0D0D0D"/>
                </a:solidFill>
                <a:highlight>
                  <a:srgbClr val="FFFFFF"/>
                </a:highlight>
                <a:latin typeface="Roboto"/>
                <a:ea typeface="Roboto"/>
                <a:cs typeface="Roboto"/>
                <a:sym typeface="Roboto"/>
              </a:rPr>
              <a:t>Use Case: Threat Intelligence Analysis</a:t>
            </a:r>
            <a:endParaRPr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50">
                <a:solidFill>
                  <a:srgbClr val="0D0D0D"/>
                </a:solidFill>
                <a:highlight>
                  <a:srgbClr val="FFFFFF"/>
                </a:highlight>
                <a:latin typeface="Roboto"/>
                <a:ea typeface="Roboto"/>
                <a:cs typeface="Roboto"/>
                <a:sym typeface="Roboto"/>
              </a:rPr>
              <a:t>Description: Develop a system that gathers and analyzes cybersecurity threat data to provide real-time alerts and insights, helping organizations mitigate potential security breaches.</a:t>
            </a:r>
            <a:endParaRPr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93" name="Google Shape;393;p48"/>
          <p:cNvSpPr txBox="1"/>
          <p:nvPr>
            <p:ph idx="1" type="body"/>
          </p:nvPr>
        </p:nvSpPr>
        <p:spPr>
          <a:xfrm>
            <a:off x="819150" y="26416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7. Transportation</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Use Case: Route Optimization for Logistics</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Description: Implement AI to optimize delivery routes for logistics companies, reducing travel time, fuel consumption, and operational costs.</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94" name="Google Shape;394;p48"/>
          <p:cNvSpPr txBox="1"/>
          <p:nvPr>
            <p:ph idx="1" type="body"/>
          </p:nvPr>
        </p:nvSpPr>
        <p:spPr>
          <a:xfrm>
            <a:off x="4470450" y="26416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50">
                <a:solidFill>
                  <a:srgbClr val="0D0D0D"/>
                </a:solidFill>
                <a:highlight>
                  <a:srgbClr val="FFFFFF"/>
                </a:highlight>
                <a:latin typeface="Roboto"/>
                <a:ea typeface="Roboto"/>
                <a:cs typeface="Roboto"/>
                <a:sym typeface="Roboto"/>
              </a:rPr>
              <a:t>8. Hospitality</a:t>
            </a:r>
            <a:endParaRPr b="1" sz="48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50">
                <a:solidFill>
                  <a:srgbClr val="0D0D0D"/>
                </a:solidFill>
                <a:highlight>
                  <a:srgbClr val="FFFFFF"/>
                </a:highlight>
                <a:latin typeface="Roboto"/>
                <a:ea typeface="Roboto"/>
                <a:cs typeface="Roboto"/>
                <a:sym typeface="Roboto"/>
              </a:rPr>
              <a:t>Use Case: Personalized Travel Recommendations</a:t>
            </a:r>
            <a:endParaRPr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50">
                <a:solidFill>
                  <a:srgbClr val="0D0D0D"/>
                </a:solidFill>
                <a:highlight>
                  <a:srgbClr val="FFFFFF"/>
                </a:highlight>
                <a:latin typeface="Roboto"/>
                <a:ea typeface="Roboto"/>
                <a:cs typeface="Roboto"/>
                <a:sym typeface="Roboto"/>
              </a:rPr>
              <a:t>Description: Use AI to analyze customer preferences and travel history to provide personalized travel itineraries and accommodation suggestions.</a:t>
            </a:r>
            <a:endParaRPr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395" name="Google Shape;395;p4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9"/>
          <p:cNvSpPr txBox="1"/>
          <p:nvPr>
            <p:ph type="title"/>
          </p:nvPr>
        </p:nvSpPr>
        <p:spPr>
          <a:xfrm>
            <a:off x="819150" y="342900"/>
            <a:ext cx="6902400" cy="60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use cases</a:t>
            </a:r>
            <a:endParaRPr/>
          </a:p>
        </p:txBody>
      </p:sp>
      <p:sp>
        <p:nvSpPr>
          <p:cNvPr id="401" name="Google Shape;401;p49"/>
          <p:cNvSpPr txBox="1"/>
          <p:nvPr>
            <p:ph idx="1" type="body"/>
          </p:nvPr>
        </p:nvSpPr>
        <p:spPr>
          <a:xfrm>
            <a:off x="819150" y="9525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9. Legal</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Use Case: Contract Analysis and Management</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Description: Develop a system that automates the analysis of legal contracts, identifying key terms and potential risks, and helping in contract management and compliance.</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402" name="Google Shape;402;p49"/>
          <p:cNvSpPr txBox="1"/>
          <p:nvPr>
            <p:ph idx="1" type="body"/>
          </p:nvPr>
        </p:nvSpPr>
        <p:spPr>
          <a:xfrm>
            <a:off x="4470450" y="9525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10. Energy</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Use Case: Energy Consumption Optimization</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Description: Use AI to analyze energy usage patterns and suggest optimizations for reducing energy consumption in homes and businesses, leading to cost savings and reduced environmental impact.</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403" name="Google Shape;403;p49"/>
          <p:cNvSpPr txBox="1"/>
          <p:nvPr>
            <p:ph idx="1" type="body"/>
          </p:nvPr>
        </p:nvSpPr>
        <p:spPr>
          <a:xfrm>
            <a:off x="819150" y="26416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11. Agriculture</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Use Case: Crop Disease Detection</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Description: Implement an AI system that uses image recognition to analyze photos of crops and detect early signs of diseases, enabling farmers to take timely actions to protect their yields.</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800">
                <a:solidFill>
                  <a:srgbClr val="0D0D0D"/>
                </a:solidFill>
                <a:highlight>
                  <a:srgbClr val="FFFFFF"/>
                </a:highlight>
                <a:latin typeface="Roboto"/>
                <a:ea typeface="Roboto"/>
                <a:cs typeface="Roboto"/>
                <a:sym typeface="Roboto"/>
              </a:rPr>
              <a:t>.</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404" name="Google Shape;404;p49"/>
          <p:cNvSpPr txBox="1"/>
          <p:nvPr>
            <p:ph idx="1" type="body"/>
          </p:nvPr>
        </p:nvSpPr>
        <p:spPr>
          <a:xfrm>
            <a:off x="4470450" y="26416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450">
                <a:solidFill>
                  <a:srgbClr val="0D0D0D"/>
                </a:solidFill>
                <a:highlight>
                  <a:srgbClr val="FFFFFF"/>
                </a:highlight>
                <a:latin typeface="Roboto"/>
                <a:ea typeface="Roboto"/>
                <a:cs typeface="Roboto"/>
                <a:sym typeface="Roboto"/>
              </a:rPr>
              <a:t>12. Real Estate</a:t>
            </a:r>
            <a:endParaRPr b="1" sz="44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450">
                <a:solidFill>
                  <a:srgbClr val="0D0D0D"/>
                </a:solidFill>
                <a:highlight>
                  <a:srgbClr val="FFFFFF"/>
                </a:highlight>
                <a:latin typeface="Roboto"/>
                <a:ea typeface="Roboto"/>
                <a:cs typeface="Roboto"/>
                <a:sym typeface="Roboto"/>
              </a:rPr>
              <a:t>Use Case: Property Valuation and Market Analysis</a:t>
            </a:r>
            <a:endParaRPr sz="44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4450">
                <a:solidFill>
                  <a:srgbClr val="0D0D0D"/>
                </a:solidFill>
                <a:highlight>
                  <a:srgbClr val="FFFFFF"/>
                </a:highlight>
                <a:latin typeface="Roboto"/>
                <a:ea typeface="Roboto"/>
                <a:cs typeface="Roboto"/>
                <a:sym typeface="Roboto"/>
              </a:rPr>
              <a:t>Description: Develop an AI tool that analyzes real estate market trends, historical sales data, and property features to provide accurate property valuations and market insights for buyers, sellers, and investors.</a:t>
            </a:r>
            <a:endParaRPr sz="445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sz="485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405" name="Google Shape;405;p4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ph type="title"/>
          </p:nvPr>
        </p:nvSpPr>
        <p:spPr>
          <a:xfrm>
            <a:off x="819150" y="342900"/>
            <a:ext cx="6902400" cy="60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in CRM</a:t>
            </a:r>
            <a:endParaRPr/>
          </a:p>
        </p:txBody>
      </p:sp>
      <p:sp>
        <p:nvSpPr>
          <p:cNvPr id="411" name="Google Shape;411;p50"/>
          <p:cNvSpPr txBox="1"/>
          <p:nvPr>
            <p:ph idx="1" type="body"/>
          </p:nvPr>
        </p:nvSpPr>
        <p:spPr>
          <a:xfrm>
            <a:off x="819150" y="952500"/>
            <a:ext cx="3651300" cy="152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b="1" lang="en" sz="4800">
                <a:solidFill>
                  <a:srgbClr val="0D0D0D"/>
                </a:solidFill>
                <a:highlight>
                  <a:srgbClr val="FFFFFF"/>
                </a:highlight>
                <a:latin typeface="Roboto"/>
                <a:ea typeface="Roboto"/>
                <a:cs typeface="Roboto"/>
                <a:sym typeface="Roboto"/>
              </a:rPr>
              <a:t>1. Automated Customer Support</a:t>
            </a:r>
            <a:endParaRPr b="1" sz="48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4800">
                <a:solidFill>
                  <a:srgbClr val="0D0D0D"/>
                </a:solidFill>
                <a:highlight>
                  <a:srgbClr val="FFFFFF"/>
                </a:highlight>
                <a:latin typeface="Roboto"/>
                <a:ea typeface="Roboto"/>
                <a:cs typeface="Roboto"/>
                <a:sym typeface="Roboto"/>
              </a:rPr>
              <a:t>Description: Develop a chatbot powered by generative AI to handle customer inquiries related to bill payments and fund transfers, providing quick and accurate responses 24/7.</a:t>
            </a:r>
            <a:endParaRPr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48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b="1" sz="165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412" name="Google Shape;412;p50"/>
          <p:cNvSpPr txBox="1"/>
          <p:nvPr>
            <p:ph idx="1" type="body"/>
          </p:nvPr>
        </p:nvSpPr>
        <p:spPr>
          <a:xfrm>
            <a:off x="4470450" y="952500"/>
            <a:ext cx="3651300" cy="15273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2. Interactive Voice Response (IVR) System</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Implement an AI-driven IVR system to guide customers through their queries and transactions over the phone, offering personalized assistance based on the customer's account history.</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sz="1200"/>
          </a:p>
        </p:txBody>
      </p:sp>
      <p:sp>
        <p:nvSpPr>
          <p:cNvPr id="413" name="Google Shape;413;p50"/>
          <p:cNvSpPr txBox="1"/>
          <p:nvPr>
            <p:ph idx="1" type="body"/>
          </p:nvPr>
        </p:nvSpPr>
        <p:spPr>
          <a:xfrm>
            <a:off x="819150" y="2641600"/>
            <a:ext cx="3651300" cy="15273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3. Sentiment Analysis on Customer Interactions</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Use AI to analyze the sentiment of customer interactions across emails, chat support, and social media, helping identify dissatisfied customers and improving service quality.</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1200">
                <a:solidFill>
                  <a:srgbClr val="0D0D0D"/>
                </a:solidFill>
                <a:highlight>
                  <a:srgbClr val="FFFFFF"/>
                </a:highlight>
                <a:latin typeface="Roboto"/>
                <a:ea typeface="Roboto"/>
                <a:cs typeface="Roboto"/>
                <a:sym typeface="Roboto"/>
              </a:rPr>
              <a:t>.</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sz="1200"/>
          </a:p>
        </p:txBody>
      </p:sp>
      <p:sp>
        <p:nvSpPr>
          <p:cNvPr id="414" name="Google Shape;414;p50"/>
          <p:cNvSpPr txBox="1"/>
          <p:nvPr>
            <p:ph idx="1" type="body"/>
          </p:nvPr>
        </p:nvSpPr>
        <p:spPr>
          <a:xfrm>
            <a:off x="4470450" y="2641600"/>
            <a:ext cx="3651300" cy="1527300"/>
          </a:xfrm>
          <a:prstGeom prst="rect">
            <a:avLst/>
          </a:prstGeom>
        </p:spPr>
        <p:txBody>
          <a:bodyPr anchorCtr="0" anchor="t" bIns="91425" lIns="91425" spcFirstLastPara="1" rIns="91425" wrap="square" tIns="91425">
            <a:noAutofit/>
          </a:bodyPr>
          <a:lstStyle/>
          <a:p>
            <a:pPr indent="0" lvl="0" marL="0" rtl="0" algn="l">
              <a:lnSpc>
                <a:spcPct val="160000"/>
              </a:lnSpc>
              <a:spcBef>
                <a:spcPts val="1400"/>
              </a:spcBef>
              <a:spcAft>
                <a:spcPts val="0"/>
              </a:spcAft>
              <a:buNone/>
            </a:pPr>
            <a:r>
              <a:rPr b="1" lang="en" sz="1200">
                <a:solidFill>
                  <a:srgbClr val="0D0D0D"/>
                </a:solidFill>
                <a:highlight>
                  <a:srgbClr val="FFFFFF"/>
                </a:highlight>
                <a:latin typeface="Roboto"/>
                <a:ea typeface="Roboto"/>
                <a:cs typeface="Roboto"/>
                <a:sym typeface="Roboto"/>
              </a:rPr>
              <a:t>4. Proactive Service Recommendations</a:t>
            </a:r>
            <a:endParaRPr b="1" sz="120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Create an AI system that analyzes transaction history and usage patterns to recommend personalized financial products or services, such as bill payment plans or fund transfer options.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b="1"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sz="1200"/>
          </a:p>
        </p:txBody>
      </p:sp>
      <p:sp>
        <p:nvSpPr>
          <p:cNvPr id="415" name="Google Shape;415;p5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1"/>
          <p:cNvSpPr txBox="1"/>
          <p:nvPr>
            <p:ph type="title"/>
          </p:nvPr>
        </p:nvSpPr>
        <p:spPr>
          <a:xfrm>
            <a:off x="819150" y="342900"/>
            <a:ext cx="6902400" cy="60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in CRM</a:t>
            </a:r>
            <a:endParaRPr/>
          </a:p>
        </p:txBody>
      </p:sp>
      <p:sp>
        <p:nvSpPr>
          <p:cNvPr id="421" name="Google Shape;421;p51"/>
          <p:cNvSpPr txBox="1"/>
          <p:nvPr>
            <p:ph idx="1" type="body"/>
          </p:nvPr>
        </p:nvSpPr>
        <p:spPr>
          <a:xfrm>
            <a:off x="819150" y="952500"/>
            <a:ext cx="3651300" cy="1527300"/>
          </a:xfrm>
          <a:prstGeom prst="rect">
            <a:avLst/>
          </a:prstGeom>
        </p:spPr>
        <p:txBody>
          <a:bodyPr anchorCtr="0" anchor="t" bIns="91425" lIns="91425" spcFirstLastPara="1" rIns="91425" wrap="square" tIns="91425">
            <a:normAutofit fontScale="92500" lnSpcReduction="20000"/>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5. Fraud Detection in Real-time</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Deploy an AI system to monitor fund transfer transactions in real-time, detecting and flagging suspicious activities to prevent fraud.</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b="1" sz="1650">
              <a:solidFill>
                <a:srgbClr val="0D0D0D"/>
              </a:solidFill>
              <a:highlight>
                <a:srgbClr val="FFFFFF"/>
              </a:highlight>
              <a:latin typeface="Roboto"/>
              <a:ea typeface="Roboto"/>
              <a:cs typeface="Roboto"/>
              <a:sym typeface="Roboto"/>
            </a:endParaRPr>
          </a:p>
        </p:txBody>
      </p:sp>
      <p:sp>
        <p:nvSpPr>
          <p:cNvPr id="422" name="Google Shape;422;p51"/>
          <p:cNvSpPr txBox="1"/>
          <p:nvPr>
            <p:ph idx="1" type="body"/>
          </p:nvPr>
        </p:nvSpPr>
        <p:spPr>
          <a:xfrm>
            <a:off x="4470450" y="952500"/>
            <a:ext cx="3651300" cy="1527300"/>
          </a:xfrm>
          <a:prstGeom prst="rect">
            <a:avLst/>
          </a:prstGeom>
        </p:spPr>
        <p:txBody>
          <a:bodyPr anchorCtr="0" anchor="t" bIns="91425" lIns="91425" spcFirstLastPara="1" rIns="91425" wrap="square" tIns="91425">
            <a:normAutofit fontScale="85000" lnSpcReduction="20000"/>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6. Customer Feedback Analysis</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Use AI to analyze feedback from surveys and follow-up interactions, extracting insights to improve services related to bill payments and fund transfers.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b="1" sz="1650">
              <a:solidFill>
                <a:srgbClr val="0D0D0D"/>
              </a:solidFill>
              <a:highlight>
                <a:srgbClr val="FFFFFF"/>
              </a:highlight>
              <a:latin typeface="Roboto"/>
              <a:ea typeface="Roboto"/>
              <a:cs typeface="Roboto"/>
              <a:sym typeface="Roboto"/>
            </a:endParaRPr>
          </a:p>
        </p:txBody>
      </p:sp>
      <p:sp>
        <p:nvSpPr>
          <p:cNvPr id="423" name="Google Shape;423;p51"/>
          <p:cNvSpPr txBox="1"/>
          <p:nvPr>
            <p:ph idx="1" type="body"/>
          </p:nvPr>
        </p:nvSpPr>
        <p:spPr>
          <a:xfrm>
            <a:off x="819150" y="2641600"/>
            <a:ext cx="3651300" cy="1527300"/>
          </a:xfrm>
          <a:prstGeom prst="rect">
            <a:avLst/>
          </a:prstGeom>
        </p:spPr>
        <p:txBody>
          <a:bodyPr anchorCtr="0" anchor="t" bIns="91425" lIns="91425" spcFirstLastPara="1" rIns="91425" wrap="square" tIns="91425">
            <a:normAutofit fontScale="85000" lnSpcReduction="20000"/>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7. Personalized Product Recommendations</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Implement an AI tool that suggests relevant financial products or services to customers based on their past bill payments and transfer behaviors, enhancing the customer experience.</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b="1" sz="1650">
              <a:solidFill>
                <a:srgbClr val="0D0D0D"/>
              </a:solidFill>
              <a:highlight>
                <a:srgbClr val="FFFFFF"/>
              </a:highlight>
              <a:latin typeface="Roboto"/>
              <a:ea typeface="Roboto"/>
              <a:cs typeface="Roboto"/>
              <a:sym typeface="Roboto"/>
            </a:endParaRPr>
          </a:p>
        </p:txBody>
      </p:sp>
      <p:sp>
        <p:nvSpPr>
          <p:cNvPr id="424" name="Google Shape;424;p51"/>
          <p:cNvSpPr txBox="1"/>
          <p:nvPr>
            <p:ph idx="1" type="body"/>
          </p:nvPr>
        </p:nvSpPr>
        <p:spPr>
          <a:xfrm>
            <a:off x="4470450" y="2641600"/>
            <a:ext cx="3651300" cy="1527300"/>
          </a:xfrm>
          <a:prstGeom prst="rect">
            <a:avLst/>
          </a:prstGeom>
        </p:spPr>
        <p:txBody>
          <a:bodyPr anchorCtr="0" anchor="t" bIns="91425" lIns="91425" spcFirstLastPara="1" rIns="91425" wrap="square" tIns="91425">
            <a:normAutofit fontScale="85000" lnSpcReduction="20000"/>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8. Automated Survey Follow-up</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Description: Develop an AI-driven system to automatically follow up with customers after transactions or support interactions, gathering feedback and providing additional support if needed.</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b="1" sz="1650">
              <a:solidFill>
                <a:srgbClr val="0D0D0D"/>
              </a:solidFill>
              <a:highlight>
                <a:srgbClr val="FFFFFF"/>
              </a:highlight>
              <a:latin typeface="Roboto"/>
              <a:ea typeface="Roboto"/>
              <a:cs typeface="Roboto"/>
              <a:sym typeface="Roboto"/>
            </a:endParaRPr>
          </a:p>
        </p:txBody>
      </p:sp>
      <p:sp>
        <p:nvSpPr>
          <p:cNvPr id="425" name="Google Shape;425;p5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2"/>
          <p:cNvSpPr txBox="1"/>
          <p:nvPr>
            <p:ph type="ctrTitle"/>
          </p:nvPr>
        </p:nvSpPr>
        <p:spPr>
          <a:xfrm>
            <a:off x="652675" y="1821700"/>
            <a:ext cx="70944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5300"/>
              <a:t>Python Loading!!</a:t>
            </a:r>
            <a:endParaRPr b="1" sz="5300"/>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431" name="Google Shape;431;p5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3"/>
          <p:cNvSpPr txBox="1"/>
          <p:nvPr/>
        </p:nvSpPr>
        <p:spPr>
          <a:xfrm>
            <a:off x="902850" y="492125"/>
            <a:ext cx="7277400" cy="41385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Invented in 1980</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Invented by </a:t>
            </a:r>
            <a:r>
              <a:rPr lang="en" sz="1050" u="sng">
                <a:solidFill>
                  <a:schemeClr val="hlink"/>
                </a:solidFill>
                <a:highlight>
                  <a:srgbClr val="FFFFFF"/>
                </a:highlight>
                <a:hlinkClick r:id="rId3"/>
              </a:rPr>
              <a:t>Guido van Rossum</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Simple &amp; Easy to understand/Learn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Object Oriented</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Gaining more popularity </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Corporate supported (Google..)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Increased speed &amp; security</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Widespread community &amp; libraries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AI/ML/LLM  libraries widely available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Python </a:t>
            </a:r>
            <a:r>
              <a:rPr b="1" lang="en" sz="2000" u="sng">
                <a:solidFill>
                  <a:schemeClr val="dk2"/>
                </a:solidFill>
              </a:rPr>
              <a:t>must</a:t>
            </a:r>
            <a:r>
              <a:rPr lang="en" sz="2000">
                <a:solidFill>
                  <a:schemeClr val="dk2"/>
                </a:solidFill>
              </a:rPr>
              <a:t> for AI </a:t>
            </a:r>
            <a:r>
              <a:rPr b="1" lang="en" sz="2000" u="sng">
                <a:solidFill>
                  <a:schemeClr val="dk2"/>
                </a:solidFill>
                <a:hlinkClick r:id="rId4">
                  <a:extLst>
                    <a:ext uri="{A12FA001-AC4F-418D-AE19-62706E023703}">
                      <ahyp:hlinkClr val="tx"/>
                    </a:ext>
                  </a:extLst>
                </a:hlinkClick>
              </a:rPr>
              <a:t>jobs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Python is for: </a:t>
            </a:r>
            <a:r>
              <a:rPr b="1" lang="en" sz="1550" u="sng">
                <a:solidFill>
                  <a:schemeClr val="accent2"/>
                </a:solidFill>
                <a:highlight>
                  <a:srgbClr val="F8F9FA"/>
                </a:highlight>
                <a:hlinkClick r:id="rId5">
                  <a:extLst>
                    <a:ext uri="{A12FA001-AC4F-418D-AE19-62706E023703}">
                      <ahyp:hlinkClr val="tx"/>
                    </a:ext>
                  </a:extLst>
                </a:hlinkClick>
              </a:rPr>
              <a:t>Application, general, web, scripting, artificial intelligence, scientific computing</a:t>
            </a:r>
            <a:endParaRPr sz="2000">
              <a:solidFill>
                <a:schemeClr val="dk2"/>
              </a:solidFill>
            </a:endParaRPr>
          </a:p>
          <a:p>
            <a:pPr indent="0" lvl="0" marL="457200" rtl="0" algn="l">
              <a:spcBef>
                <a:spcPts val="0"/>
              </a:spcBef>
              <a:spcAft>
                <a:spcPts val="0"/>
              </a:spcAft>
              <a:buNone/>
            </a:pPr>
            <a:r>
              <a:t/>
            </a:r>
            <a:endParaRPr b="1" sz="2500" u="sng">
              <a:solidFill>
                <a:schemeClr val="accent2"/>
              </a:solidFill>
            </a:endParaRPr>
          </a:p>
        </p:txBody>
      </p:sp>
      <p:sp>
        <p:nvSpPr>
          <p:cNvPr id="437" name="Google Shape;437;p53"/>
          <p:cNvSpPr/>
          <p:nvPr/>
        </p:nvSpPr>
        <p:spPr>
          <a:xfrm>
            <a:off x="6438900" y="1701800"/>
            <a:ext cx="1741392" cy="1282716"/>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libri"/>
                <a:ea typeface="Calibri"/>
                <a:cs typeface="Calibri"/>
                <a:sym typeface="Calibri"/>
              </a:rPr>
              <a:t>Python </a:t>
            </a:r>
            <a:endParaRPr b="1">
              <a:latin typeface="Calibri"/>
              <a:ea typeface="Calibri"/>
              <a:cs typeface="Calibri"/>
              <a:sym typeface="Calibri"/>
            </a:endParaRPr>
          </a:p>
          <a:p>
            <a:pPr indent="0" lvl="0" marL="0" rtl="0" algn="ctr">
              <a:spcBef>
                <a:spcPts val="0"/>
              </a:spcBef>
              <a:spcAft>
                <a:spcPts val="0"/>
              </a:spcAft>
              <a:buNone/>
            </a:pPr>
            <a:r>
              <a:rPr b="1" lang="en">
                <a:latin typeface="Calibri"/>
                <a:ea typeface="Calibri"/>
                <a:cs typeface="Calibri"/>
                <a:sym typeface="Calibri"/>
              </a:rPr>
              <a:t>Background</a:t>
            </a:r>
            <a:endParaRPr b="1">
              <a:latin typeface="Calibri"/>
              <a:ea typeface="Calibri"/>
              <a:cs typeface="Calibri"/>
              <a:sym typeface="Calibri"/>
            </a:endParaRPr>
          </a:p>
        </p:txBody>
      </p:sp>
      <p:sp>
        <p:nvSpPr>
          <p:cNvPr id="438" name="Google Shape;438;p5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4"/>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Clr>
                <a:schemeClr val="accent2"/>
              </a:buClr>
              <a:buSzPts val="2500"/>
              <a:buChar char="●"/>
            </a:pPr>
            <a:r>
              <a:rPr b="1" lang="en" sz="2500" u="sng">
                <a:solidFill>
                  <a:schemeClr val="hlink"/>
                </a:solidFill>
                <a:hlinkClick r:id="rId3"/>
              </a:rPr>
              <a:t>Python official guide</a:t>
            </a:r>
            <a:endParaRPr b="1" sz="2500" u="sng">
              <a:solidFill>
                <a:schemeClr val="accent2"/>
              </a:solidFill>
            </a:endParaRPr>
          </a:p>
          <a:p>
            <a:pPr indent="-355600" lvl="0" marL="457200" rtl="0" algn="l">
              <a:spcBef>
                <a:spcPts val="0"/>
              </a:spcBef>
              <a:spcAft>
                <a:spcPts val="0"/>
              </a:spcAft>
              <a:buClr>
                <a:schemeClr val="dk2"/>
              </a:buClr>
              <a:buSzPts val="2000"/>
              <a:buChar char="●"/>
            </a:pPr>
            <a:r>
              <a:rPr b="1" lang="en" sz="2500" u="sng">
                <a:solidFill>
                  <a:schemeClr val="accent5"/>
                </a:solidFill>
                <a:hlinkClick r:id="rId4">
                  <a:extLst>
                    <a:ext uri="{A12FA001-AC4F-418D-AE19-62706E023703}">
                      <ahyp:hlinkClr val="tx"/>
                    </a:ext>
                  </a:extLst>
                </a:hlinkClick>
              </a:rPr>
              <a:t>Python University Course</a:t>
            </a:r>
            <a:endParaRPr b="1" sz="2500" u="sng">
              <a:solidFill>
                <a:schemeClr val="accent2"/>
              </a:solidFill>
            </a:endParaRPr>
          </a:p>
          <a:p>
            <a:pPr indent="-387350" lvl="0" marL="457200" rtl="0" algn="l">
              <a:spcBef>
                <a:spcPts val="0"/>
              </a:spcBef>
              <a:spcAft>
                <a:spcPts val="0"/>
              </a:spcAft>
              <a:buClr>
                <a:schemeClr val="accent2"/>
              </a:buClr>
              <a:buSzPts val="2500"/>
              <a:buChar char="●"/>
            </a:pPr>
            <a:r>
              <a:rPr b="1" lang="en" sz="2500" u="sng">
                <a:solidFill>
                  <a:schemeClr val="hlink"/>
                </a:solidFill>
                <a:hlinkClick r:id="rId5"/>
              </a:rPr>
              <a:t>O’reilly Python Ultimate Guide</a:t>
            </a:r>
            <a:endParaRPr b="1" sz="2500" u="sng">
              <a:solidFill>
                <a:schemeClr val="accent2"/>
              </a:solidFill>
            </a:endParaRPr>
          </a:p>
          <a:p>
            <a:pPr indent="-387350" lvl="0" marL="457200" rtl="0" algn="l">
              <a:spcBef>
                <a:spcPts val="0"/>
              </a:spcBef>
              <a:spcAft>
                <a:spcPts val="0"/>
              </a:spcAft>
              <a:buClr>
                <a:schemeClr val="accent2"/>
              </a:buClr>
              <a:buSzPts val="2500"/>
              <a:buChar char="●"/>
            </a:pPr>
            <a:r>
              <a:rPr b="1" lang="en" sz="2500" u="sng">
                <a:solidFill>
                  <a:schemeClr val="hlink"/>
                </a:solidFill>
                <a:hlinkClick r:id="rId6"/>
              </a:rPr>
              <a:t>Python downloads&amp;installs</a:t>
            </a:r>
            <a:endParaRPr b="1" sz="2500" u="sng">
              <a:solidFill>
                <a:schemeClr val="accent2"/>
              </a:solidFill>
            </a:endParaRPr>
          </a:p>
          <a:p>
            <a:pPr indent="-387350" lvl="0" marL="457200" rtl="0" algn="l">
              <a:spcBef>
                <a:spcPts val="0"/>
              </a:spcBef>
              <a:spcAft>
                <a:spcPts val="0"/>
              </a:spcAft>
              <a:buClr>
                <a:schemeClr val="accent2"/>
              </a:buClr>
              <a:buSzPts val="2500"/>
              <a:buChar char="●"/>
            </a:pPr>
            <a:r>
              <a:rPr b="1" lang="en" sz="2500" u="sng">
                <a:solidFill>
                  <a:schemeClr val="hlink"/>
                </a:solidFill>
                <a:hlinkClick r:id="rId7"/>
              </a:rPr>
              <a:t>Python online editor</a:t>
            </a:r>
            <a:endParaRPr b="1" sz="2500" u="sng">
              <a:solidFill>
                <a:schemeClr val="accent2"/>
              </a:solidFill>
            </a:endParaRPr>
          </a:p>
          <a:p>
            <a:pPr indent="-387350" lvl="0" marL="457200" rtl="0" algn="l">
              <a:spcBef>
                <a:spcPts val="0"/>
              </a:spcBef>
              <a:spcAft>
                <a:spcPts val="0"/>
              </a:spcAft>
              <a:buClr>
                <a:schemeClr val="accent2"/>
              </a:buClr>
              <a:buSzPts val="2500"/>
              <a:buChar char="●"/>
            </a:pPr>
            <a:r>
              <a:rPr b="1" lang="en" sz="2500" u="sng">
                <a:solidFill>
                  <a:schemeClr val="hlink"/>
                </a:solidFill>
                <a:hlinkClick r:id="rId8"/>
              </a:rPr>
              <a:t>Python Projects to Try</a:t>
            </a:r>
            <a:endParaRPr b="1" sz="2500" u="sng">
              <a:solidFill>
                <a:schemeClr val="accent2"/>
              </a:solidFill>
            </a:endParaRPr>
          </a:p>
          <a:p>
            <a:pPr indent="-387350" lvl="0" marL="457200" rtl="0" algn="l">
              <a:spcBef>
                <a:spcPts val="0"/>
              </a:spcBef>
              <a:spcAft>
                <a:spcPts val="0"/>
              </a:spcAft>
              <a:buClr>
                <a:schemeClr val="accent2"/>
              </a:buClr>
              <a:buSzPts val="2500"/>
              <a:buChar char="●"/>
            </a:pPr>
            <a:r>
              <a:rPr b="1" lang="en" sz="2500" u="sng">
                <a:solidFill>
                  <a:schemeClr val="accent2"/>
                </a:solidFill>
              </a:rPr>
              <a:t>Python </a:t>
            </a:r>
            <a:r>
              <a:rPr b="1" lang="en" sz="2500" u="sng">
                <a:solidFill>
                  <a:schemeClr val="hlink"/>
                </a:solidFill>
                <a:hlinkClick r:id="rId9"/>
              </a:rPr>
              <a:t>ML Projects to Try</a:t>
            </a:r>
            <a:endParaRPr b="1" sz="2500" u="sng">
              <a:solidFill>
                <a:schemeClr val="accent2"/>
              </a:solidFill>
            </a:endParaRPr>
          </a:p>
        </p:txBody>
      </p:sp>
      <p:sp>
        <p:nvSpPr>
          <p:cNvPr id="444" name="Google Shape;444;p54"/>
          <p:cNvSpPr/>
          <p:nvPr/>
        </p:nvSpPr>
        <p:spPr>
          <a:xfrm>
            <a:off x="6238876" y="1492251"/>
            <a:ext cx="1941408" cy="1492236"/>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latin typeface="Calibri"/>
                <a:ea typeface="Calibri"/>
                <a:cs typeface="Calibri"/>
                <a:sym typeface="Calibri"/>
              </a:rPr>
              <a:t>Python </a:t>
            </a:r>
            <a:endParaRPr b="1" sz="1900">
              <a:latin typeface="Calibri"/>
              <a:ea typeface="Calibri"/>
              <a:cs typeface="Calibri"/>
              <a:sym typeface="Calibri"/>
            </a:endParaRPr>
          </a:p>
          <a:p>
            <a:pPr indent="0" lvl="0" marL="0" rtl="0" algn="ctr">
              <a:spcBef>
                <a:spcPts val="0"/>
              </a:spcBef>
              <a:spcAft>
                <a:spcPts val="0"/>
              </a:spcAft>
              <a:buNone/>
            </a:pPr>
            <a:r>
              <a:rPr b="1" lang="en" sz="1900">
                <a:latin typeface="Calibri"/>
                <a:ea typeface="Calibri"/>
                <a:cs typeface="Calibri"/>
                <a:sym typeface="Calibri"/>
              </a:rPr>
              <a:t>Resources</a:t>
            </a:r>
            <a:endParaRPr b="1" sz="1900">
              <a:latin typeface="Calibri"/>
              <a:ea typeface="Calibri"/>
              <a:cs typeface="Calibri"/>
              <a:sym typeface="Calibri"/>
            </a:endParaRPr>
          </a:p>
        </p:txBody>
      </p:sp>
      <p:sp>
        <p:nvSpPr>
          <p:cNvPr id="445" name="Google Shape;445;p5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5"/>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2000">
              <a:solidFill>
                <a:schemeClr val="dk2"/>
              </a:solidFill>
            </a:endParaRPr>
          </a:p>
        </p:txBody>
      </p:sp>
      <p:pic>
        <p:nvPicPr>
          <p:cNvPr id="451" name="Google Shape;451;p55"/>
          <p:cNvPicPr preferRelativeResize="0"/>
          <p:nvPr/>
        </p:nvPicPr>
        <p:blipFill>
          <a:blip r:embed="rId3">
            <a:alphaModFix/>
          </a:blip>
          <a:stretch>
            <a:fillRect/>
          </a:stretch>
        </p:blipFill>
        <p:spPr>
          <a:xfrm>
            <a:off x="1073450" y="152400"/>
            <a:ext cx="6622148" cy="4564752"/>
          </a:xfrm>
          <a:prstGeom prst="rect">
            <a:avLst/>
          </a:prstGeom>
          <a:noFill/>
          <a:ln>
            <a:noFill/>
          </a:ln>
        </p:spPr>
      </p:pic>
      <p:sp>
        <p:nvSpPr>
          <p:cNvPr id="452" name="Google Shape;452;p5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58" name="Google Shape;458;p5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59" name="Google Shape;459;p56"/>
          <p:cNvPicPr preferRelativeResize="0"/>
          <p:nvPr/>
        </p:nvPicPr>
        <p:blipFill>
          <a:blip r:embed="rId3">
            <a:alphaModFix/>
          </a:blip>
          <a:stretch>
            <a:fillRect/>
          </a:stretch>
        </p:blipFill>
        <p:spPr>
          <a:xfrm>
            <a:off x="271500" y="199950"/>
            <a:ext cx="8250726" cy="4743600"/>
          </a:xfrm>
          <a:prstGeom prst="rect">
            <a:avLst/>
          </a:prstGeom>
          <a:noFill/>
          <a:ln>
            <a:noFill/>
          </a:ln>
        </p:spPr>
      </p:pic>
      <p:sp>
        <p:nvSpPr>
          <p:cNvPr id="460" name="Google Shape;460;p56"/>
          <p:cNvSpPr/>
          <p:nvPr/>
        </p:nvSpPr>
        <p:spPr>
          <a:xfrm>
            <a:off x="5956300" y="2501900"/>
            <a:ext cx="1346220" cy="78105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SIMPLE Syntax</a:t>
            </a:r>
            <a:endParaRPr>
              <a:latin typeface="Calibri"/>
              <a:ea typeface="Calibri"/>
              <a:cs typeface="Calibri"/>
              <a:sym typeface="Calibri"/>
            </a:endParaRPr>
          </a:p>
        </p:txBody>
      </p:sp>
      <p:sp>
        <p:nvSpPr>
          <p:cNvPr id="461" name="Google Shape;461;p5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7"/>
          <p:cNvSpPr txBox="1"/>
          <p:nvPr>
            <p:ph type="title"/>
          </p:nvPr>
        </p:nvSpPr>
        <p:spPr>
          <a:xfrm>
            <a:off x="609600" y="254000"/>
            <a:ext cx="7613700" cy="45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Program lang needs</a:t>
            </a:r>
            <a:endParaRPr/>
          </a:p>
        </p:txBody>
      </p:sp>
      <p:sp>
        <p:nvSpPr>
          <p:cNvPr id="467" name="Google Shape;467;p57"/>
          <p:cNvSpPr txBox="1"/>
          <p:nvPr>
            <p:ph idx="1" type="body"/>
          </p:nvPr>
        </p:nvSpPr>
        <p:spPr>
          <a:xfrm>
            <a:off x="711150" y="825500"/>
            <a:ext cx="7613700" cy="36132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b="1" lang="en" sz="2200"/>
              <a:t>Basic Data types ( byte,string, in,float) - handle data</a:t>
            </a:r>
            <a:endParaRPr b="1" sz="2200"/>
          </a:p>
          <a:p>
            <a:pPr indent="-368300" lvl="0" marL="457200" rtl="0" algn="l">
              <a:spcBef>
                <a:spcPts val="0"/>
              </a:spcBef>
              <a:spcAft>
                <a:spcPts val="0"/>
              </a:spcAft>
              <a:buSzPts val="2200"/>
              <a:buChar char="●"/>
            </a:pPr>
            <a:r>
              <a:rPr b="1" lang="en" sz="2200"/>
              <a:t>Arithmetics - To do math on data</a:t>
            </a:r>
            <a:endParaRPr b="1" sz="2200"/>
          </a:p>
          <a:p>
            <a:pPr indent="-368300" lvl="0" marL="457200" rtl="0" algn="l">
              <a:spcBef>
                <a:spcPts val="0"/>
              </a:spcBef>
              <a:spcAft>
                <a:spcPts val="0"/>
              </a:spcAft>
              <a:buSzPts val="2200"/>
              <a:buChar char="●"/>
            </a:pPr>
            <a:r>
              <a:rPr b="1" lang="en" sz="2200"/>
              <a:t>Collections (data structures) - To hold data</a:t>
            </a:r>
            <a:endParaRPr b="1" sz="2200"/>
          </a:p>
          <a:p>
            <a:pPr indent="-368300" lvl="0" marL="457200" rtl="0" algn="l">
              <a:spcBef>
                <a:spcPts val="0"/>
              </a:spcBef>
              <a:spcAft>
                <a:spcPts val="0"/>
              </a:spcAft>
              <a:buSzPts val="2200"/>
              <a:buChar char="●"/>
            </a:pPr>
            <a:r>
              <a:rPr b="1" lang="en" sz="2200"/>
              <a:t>Objects - To combine data with operations</a:t>
            </a:r>
            <a:endParaRPr b="1" sz="2200"/>
          </a:p>
          <a:p>
            <a:pPr indent="-368300" lvl="0" marL="457200" rtl="0" algn="l">
              <a:spcBef>
                <a:spcPts val="0"/>
              </a:spcBef>
              <a:spcAft>
                <a:spcPts val="0"/>
              </a:spcAft>
              <a:buSzPts val="2200"/>
              <a:buChar char="●"/>
            </a:pPr>
            <a:r>
              <a:rPr b="1" lang="en" sz="2200"/>
              <a:t>Control statements - To communicate between objects</a:t>
            </a:r>
            <a:endParaRPr b="1" sz="2200"/>
          </a:p>
          <a:p>
            <a:pPr indent="-368300" lvl="0" marL="457200" rtl="0" algn="l">
              <a:spcBef>
                <a:spcPts val="0"/>
              </a:spcBef>
              <a:spcAft>
                <a:spcPts val="0"/>
              </a:spcAft>
              <a:buSzPts val="2200"/>
              <a:buChar char="●"/>
            </a:pPr>
            <a:r>
              <a:rPr b="1" lang="en" sz="2200"/>
              <a:t>File handling - To communicate external files</a:t>
            </a:r>
            <a:endParaRPr b="1" sz="2200"/>
          </a:p>
          <a:p>
            <a:pPr indent="-368300" lvl="0" marL="457200" rtl="0" algn="l">
              <a:spcBef>
                <a:spcPts val="0"/>
              </a:spcBef>
              <a:spcAft>
                <a:spcPts val="0"/>
              </a:spcAft>
              <a:buSzPts val="2200"/>
              <a:buChar char="●"/>
            </a:pPr>
            <a:r>
              <a:rPr b="1" lang="en" sz="2200"/>
              <a:t>Error handling, Reuse libraries, Debugging, Deploy etc</a:t>
            </a:r>
            <a:endParaRPr b="1" sz="2200"/>
          </a:p>
        </p:txBody>
      </p:sp>
      <p:sp>
        <p:nvSpPr>
          <p:cNvPr id="468" name="Google Shape;468;p5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8"/>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Standard types and Variables (float,string,text)</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3"/>
              </a:rPr>
              <a:t>Data structures</a:t>
            </a:r>
            <a:r>
              <a:rPr lang="en" sz="2000">
                <a:solidFill>
                  <a:schemeClr val="dk2"/>
                </a:solidFill>
              </a:rPr>
              <a:t>(array,list,tuple,dictionary,set)</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4"/>
              </a:rPr>
              <a:t>Control flows</a:t>
            </a:r>
            <a:r>
              <a:rPr lang="en" sz="2000">
                <a:solidFill>
                  <a:schemeClr val="dk2"/>
                </a:solidFill>
              </a:rPr>
              <a:t>(if,for,while,pass,break,continue,match)</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5"/>
              </a:rPr>
              <a:t>Exceptions</a:t>
            </a:r>
            <a:r>
              <a:rPr lang="en" sz="2000">
                <a:solidFill>
                  <a:schemeClr val="dk2"/>
                </a:solidFill>
              </a:rPr>
              <a:t>(try,except,raise)</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6"/>
              </a:rPr>
              <a:t>Functions</a:t>
            </a:r>
            <a:r>
              <a:rPr lang="en" sz="2000">
                <a:solidFill>
                  <a:schemeClr val="dk2"/>
                </a:solidFill>
              </a:rPr>
              <a:t>,</a:t>
            </a:r>
            <a:r>
              <a:rPr lang="en" sz="2000" u="sng">
                <a:solidFill>
                  <a:schemeClr val="hlink"/>
                </a:solidFill>
                <a:hlinkClick r:id="rId7"/>
              </a:rPr>
              <a:t>Modules</a:t>
            </a:r>
            <a:r>
              <a:rPr lang="en" sz="2000">
                <a:solidFill>
                  <a:schemeClr val="dk2"/>
                </a:solidFill>
              </a:rPr>
              <a:t> &amp; </a:t>
            </a:r>
            <a:r>
              <a:rPr lang="en" sz="2000" u="sng">
                <a:solidFill>
                  <a:schemeClr val="hlink"/>
                </a:solidFill>
                <a:hlinkClick r:id="rId8"/>
              </a:rPr>
              <a:t>Packages</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9"/>
              </a:rPr>
              <a:t>File I/O</a:t>
            </a:r>
            <a:r>
              <a:rPr lang="en" sz="2000">
                <a:solidFill>
                  <a:schemeClr val="dk2"/>
                </a:solidFill>
              </a:rPr>
              <a:t> </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10"/>
              </a:rPr>
              <a:t>Class</a:t>
            </a:r>
            <a:r>
              <a:rPr lang="en" sz="2000">
                <a:solidFill>
                  <a:schemeClr val="dk2"/>
                </a:solidFill>
              </a:rPr>
              <a:t> (OOPs,</a:t>
            </a:r>
            <a:r>
              <a:rPr lang="en" sz="2000" u="sng">
                <a:solidFill>
                  <a:schemeClr val="accent5"/>
                </a:solidFill>
                <a:hlinkClick r:id="rId11">
                  <a:extLst>
                    <a:ext uri="{A12FA001-AC4F-418D-AE19-62706E023703}">
                      <ahyp:hlinkClr val="tx"/>
                    </a:ext>
                  </a:extLst>
                </a:hlinkClick>
              </a:rPr>
              <a:t>inheritance</a:t>
            </a:r>
            <a:r>
              <a:rPr lang="en" sz="2000">
                <a:solidFill>
                  <a:schemeClr val="dk2"/>
                </a:solidFill>
              </a:rPr>
              <a:t>,object,attributes,method,init)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Logging,</a:t>
            </a:r>
            <a:r>
              <a:rPr lang="en" sz="2000" u="sng">
                <a:solidFill>
                  <a:schemeClr val="hlink"/>
                </a:solidFill>
                <a:hlinkClick r:id="rId12"/>
              </a:rPr>
              <a:t>Template</a:t>
            </a:r>
            <a:r>
              <a:rPr lang="en" sz="2000">
                <a:solidFill>
                  <a:schemeClr val="dk2"/>
                </a:solidFill>
              </a:rPr>
              <a:t>,multiThread</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Environment </a:t>
            </a:r>
            <a:r>
              <a:rPr lang="en" sz="2000" u="sng">
                <a:solidFill>
                  <a:schemeClr val="hlink"/>
                </a:solidFill>
                <a:hlinkClick r:id="rId13"/>
              </a:rPr>
              <a:t>installs</a:t>
            </a:r>
            <a:r>
              <a:rPr lang="en" sz="2000">
                <a:solidFill>
                  <a:schemeClr val="dk2"/>
                </a:solidFill>
              </a:rPr>
              <a:t> (</a:t>
            </a:r>
            <a:r>
              <a:rPr lang="en" sz="2000" u="sng">
                <a:solidFill>
                  <a:schemeClr val="hlink"/>
                </a:solidFill>
                <a:hlinkClick r:id="rId14"/>
              </a:rPr>
              <a:t>Virtual</a:t>
            </a:r>
            <a:r>
              <a:rPr lang="en" sz="2000">
                <a:solidFill>
                  <a:schemeClr val="dk2"/>
                </a:solidFill>
              </a:rPr>
              <a:t>),IDE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Libraries-Next slide</a:t>
            </a:r>
            <a:endParaRPr sz="2000">
              <a:solidFill>
                <a:schemeClr val="dk2"/>
              </a:solidFill>
            </a:endParaRPr>
          </a:p>
          <a:p>
            <a:pPr indent="0" lvl="0" marL="457200" rtl="0" algn="l">
              <a:spcBef>
                <a:spcPts val="0"/>
              </a:spcBef>
              <a:spcAft>
                <a:spcPts val="0"/>
              </a:spcAft>
              <a:buNone/>
            </a:pPr>
            <a:r>
              <a:t/>
            </a:r>
            <a:endParaRPr sz="2000">
              <a:solidFill>
                <a:schemeClr val="dk2"/>
              </a:solidFill>
            </a:endParaRPr>
          </a:p>
        </p:txBody>
      </p:sp>
      <p:sp>
        <p:nvSpPr>
          <p:cNvPr id="474" name="Google Shape;474;p58"/>
          <p:cNvSpPr txBox="1"/>
          <p:nvPr/>
        </p:nvSpPr>
        <p:spPr>
          <a:xfrm>
            <a:off x="3136900" y="317500"/>
            <a:ext cx="23748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Calibri"/>
                <a:ea typeface="Calibri"/>
                <a:cs typeface="Calibri"/>
                <a:sym typeface="Calibri"/>
              </a:rPr>
              <a:t>Python Syllabus</a:t>
            </a:r>
            <a:endParaRPr b="1" sz="1900">
              <a:solidFill>
                <a:schemeClr val="dk2"/>
              </a:solidFill>
              <a:latin typeface="Calibri"/>
              <a:ea typeface="Calibri"/>
              <a:cs typeface="Calibri"/>
              <a:sym typeface="Calibri"/>
            </a:endParaRPr>
          </a:p>
        </p:txBody>
      </p:sp>
      <p:sp>
        <p:nvSpPr>
          <p:cNvPr id="475" name="Google Shape;475;p5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9"/>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u="sng">
                <a:solidFill>
                  <a:schemeClr val="hlink"/>
                </a:solidFill>
                <a:hlinkClick r:id="rId3"/>
              </a:rPr>
              <a:t>Inbuilt</a:t>
            </a:r>
            <a:r>
              <a:rPr lang="en" sz="2000">
                <a:solidFill>
                  <a:schemeClr val="dk2"/>
                </a:solidFill>
              </a:rPr>
              <a:t> (math,string etc)</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4"/>
              </a:rPr>
              <a:t>Pandas</a:t>
            </a:r>
            <a:r>
              <a:rPr lang="en" sz="2000">
                <a:solidFill>
                  <a:schemeClr val="dk2"/>
                </a:solidFill>
              </a:rPr>
              <a:t> (data manipulation)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5"/>
              </a:rPr>
              <a:t>Numpy</a:t>
            </a:r>
            <a:r>
              <a:rPr lang="en" sz="2000">
                <a:solidFill>
                  <a:schemeClr val="dk2"/>
                </a:solidFill>
              </a:rPr>
              <a:t> (ml)</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6"/>
              </a:rPr>
              <a:t>Matplotlib</a:t>
            </a:r>
            <a:r>
              <a:rPr lang="en" sz="2000">
                <a:solidFill>
                  <a:schemeClr val="dk2"/>
                </a:solidFill>
              </a:rPr>
              <a:t> (plots)</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7"/>
              </a:rPr>
              <a:t>Scipi</a:t>
            </a:r>
            <a:r>
              <a:rPr lang="en" sz="2000">
                <a:solidFill>
                  <a:schemeClr val="dk2"/>
                </a:solidFill>
              </a:rPr>
              <a:t> (statistics)</a:t>
            </a:r>
            <a:endParaRPr sz="2000">
              <a:solidFill>
                <a:schemeClr val="dk2"/>
              </a:solidFill>
            </a:endParaRPr>
          </a:p>
          <a:p>
            <a:pPr indent="-355600" lvl="0" marL="457200" rtl="0" algn="l">
              <a:lnSpc>
                <a:spcPct val="115000"/>
              </a:lnSpc>
              <a:spcBef>
                <a:spcPts val="0"/>
              </a:spcBef>
              <a:spcAft>
                <a:spcPts val="0"/>
              </a:spcAft>
              <a:buClr>
                <a:schemeClr val="dk2"/>
              </a:buClr>
              <a:buSzPts val="2000"/>
              <a:buChar char="●"/>
            </a:pPr>
            <a:r>
              <a:rPr lang="en" sz="2000" u="sng">
                <a:solidFill>
                  <a:schemeClr val="hlink"/>
                </a:solidFill>
                <a:hlinkClick r:id="rId8"/>
              </a:rPr>
              <a:t>Scikit-learn</a:t>
            </a:r>
            <a:r>
              <a:rPr lang="en" sz="2000">
                <a:solidFill>
                  <a:schemeClr val="dk2"/>
                </a:solidFill>
              </a:rPr>
              <a:t>/</a:t>
            </a:r>
            <a:r>
              <a:rPr lang="en" sz="2000" u="sng">
                <a:solidFill>
                  <a:schemeClr val="hlink"/>
                </a:solidFill>
                <a:hlinkClick r:id="rId9"/>
              </a:rPr>
              <a:t>TensorFlow</a:t>
            </a:r>
            <a:r>
              <a:rPr lang="en" sz="2000">
                <a:solidFill>
                  <a:schemeClr val="dk2"/>
                </a:solidFill>
              </a:rPr>
              <a:t>/</a:t>
            </a:r>
            <a:r>
              <a:rPr lang="en" sz="2000" u="sng">
                <a:solidFill>
                  <a:schemeClr val="hlink"/>
                </a:solidFill>
                <a:hlinkClick r:id="rId10"/>
              </a:rPr>
              <a:t>Pytorch</a:t>
            </a:r>
            <a:r>
              <a:rPr lang="en" sz="2000">
                <a:solidFill>
                  <a:schemeClr val="dk2"/>
                </a:solidFill>
              </a:rPr>
              <a:t>/</a:t>
            </a:r>
            <a:r>
              <a:rPr lang="en" sz="2000" u="sng">
                <a:solidFill>
                  <a:schemeClr val="hlink"/>
                </a:solidFill>
                <a:hlinkClick r:id="rId11"/>
              </a:rPr>
              <a:t>Keras</a:t>
            </a:r>
            <a:r>
              <a:rPr lang="en" sz="1350">
                <a:solidFill>
                  <a:srgbClr val="444444"/>
                </a:solidFill>
                <a:highlight>
                  <a:srgbClr val="FFFFFF"/>
                </a:highlight>
              </a:rPr>
              <a:t> (ML)</a:t>
            </a:r>
            <a:endParaRPr sz="1350">
              <a:solidFill>
                <a:srgbClr val="444444"/>
              </a:solidFill>
              <a:highlight>
                <a:srgbClr val="FFFFFF"/>
              </a:highlight>
            </a:endParaRPr>
          </a:p>
          <a:p>
            <a:pPr indent="-355600" lvl="0" marL="457200" rtl="0" algn="l">
              <a:lnSpc>
                <a:spcPct val="115000"/>
              </a:lnSpc>
              <a:spcBef>
                <a:spcPts val="0"/>
              </a:spcBef>
              <a:spcAft>
                <a:spcPts val="0"/>
              </a:spcAft>
              <a:buClr>
                <a:schemeClr val="dk2"/>
              </a:buClr>
              <a:buSzPts val="2000"/>
              <a:buChar char="●"/>
            </a:pPr>
            <a:r>
              <a:rPr lang="en" sz="2000" u="sng">
                <a:solidFill>
                  <a:schemeClr val="hlink"/>
                </a:solidFill>
                <a:hlinkClick r:id="rId12"/>
              </a:rPr>
              <a:t>Flask</a:t>
            </a:r>
            <a:r>
              <a:rPr lang="en" sz="2000">
                <a:solidFill>
                  <a:schemeClr val="dk2"/>
                </a:solidFill>
              </a:rPr>
              <a:t>/</a:t>
            </a:r>
            <a:r>
              <a:rPr lang="en" sz="2000" u="sng">
                <a:solidFill>
                  <a:schemeClr val="hlink"/>
                </a:solidFill>
                <a:hlinkClick r:id="rId13"/>
              </a:rPr>
              <a:t>Django</a:t>
            </a:r>
            <a:r>
              <a:rPr lang="en" sz="2000">
                <a:solidFill>
                  <a:schemeClr val="dk2"/>
                </a:solidFill>
              </a:rPr>
              <a:t>/</a:t>
            </a:r>
            <a:r>
              <a:rPr lang="en" sz="2000" u="sng">
                <a:solidFill>
                  <a:schemeClr val="hlink"/>
                </a:solidFill>
                <a:hlinkClick r:id="rId14"/>
              </a:rPr>
              <a:t>Streamlit</a:t>
            </a:r>
            <a:r>
              <a:rPr lang="en" sz="2000">
                <a:solidFill>
                  <a:schemeClr val="dk2"/>
                </a:solidFill>
              </a:rPr>
              <a:t> (web UI)</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15"/>
              </a:rPr>
              <a:t>Openai</a:t>
            </a:r>
            <a:r>
              <a:rPr lang="en" sz="2000">
                <a:solidFill>
                  <a:schemeClr val="dk2"/>
                </a:solidFill>
              </a:rPr>
              <a:t> (LLM)</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16"/>
              </a:rPr>
              <a:t>Langchain</a:t>
            </a:r>
            <a:r>
              <a:rPr lang="en" sz="2000">
                <a:solidFill>
                  <a:schemeClr val="dk2"/>
                </a:solidFill>
              </a:rPr>
              <a:t> (Framework)</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Huggingface/Transformers/datasets (Training datasets)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Pinecone/chromedb/elasticsearch (VecorDB)</a:t>
            </a:r>
            <a:endParaRPr sz="2000">
              <a:solidFill>
                <a:schemeClr val="dk2"/>
              </a:solidFill>
            </a:endParaRPr>
          </a:p>
          <a:p>
            <a:pPr indent="0" lvl="0" marL="457200" rtl="0" algn="l">
              <a:spcBef>
                <a:spcPts val="0"/>
              </a:spcBef>
              <a:spcAft>
                <a:spcPts val="0"/>
              </a:spcAft>
              <a:buNone/>
            </a:pPr>
            <a:r>
              <a:t/>
            </a:r>
            <a:endParaRPr sz="2000">
              <a:solidFill>
                <a:schemeClr val="dk2"/>
              </a:solidFill>
            </a:endParaRPr>
          </a:p>
        </p:txBody>
      </p:sp>
      <p:sp>
        <p:nvSpPr>
          <p:cNvPr id="481" name="Google Shape;481;p59"/>
          <p:cNvSpPr/>
          <p:nvPr/>
        </p:nvSpPr>
        <p:spPr>
          <a:xfrm>
            <a:off x="6159500" y="1244600"/>
            <a:ext cx="1774440" cy="1327104"/>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Calibri"/>
                <a:ea typeface="Calibri"/>
                <a:cs typeface="Calibri"/>
                <a:sym typeface="Calibri"/>
              </a:rPr>
              <a:t>Python Popular Libraries</a:t>
            </a:r>
            <a:endParaRPr b="1" sz="1600">
              <a:latin typeface="Calibri"/>
              <a:ea typeface="Calibri"/>
              <a:cs typeface="Calibri"/>
              <a:sym typeface="Calibri"/>
            </a:endParaRPr>
          </a:p>
        </p:txBody>
      </p:sp>
      <p:sp>
        <p:nvSpPr>
          <p:cNvPr id="482" name="Google Shape;482;p5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0"/>
          <p:cNvSpPr txBox="1"/>
          <p:nvPr>
            <p:ph type="title"/>
          </p:nvPr>
        </p:nvSpPr>
        <p:spPr>
          <a:xfrm>
            <a:off x="699225" y="402950"/>
            <a:ext cx="7625700" cy="6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Basic Data Types</a:t>
            </a:r>
            <a:endParaRPr/>
          </a:p>
        </p:txBody>
      </p:sp>
      <p:sp>
        <p:nvSpPr>
          <p:cNvPr id="488" name="Google Shape;488;p6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489" name="Google Shape;489;p60"/>
          <p:cNvGraphicFramePr/>
          <p:nvPr/>
        </p:nvGraphicFramePr>
        <p:xfrm>
          <a:off x="892575" y="1296625"/>
          <a:ext cx="3000000" cy="3000000"/>
        </p:xfrm>
        <a:graphic>
          <a:graphicData uri="http://schemas.openxmlformats.org/drawingml/2006/table">
            <a:tbl>
              <a:tblPr>
                <a:noFill/>
                <a:tableStyleId>{A5F71DC0-B734-49B0-82BF-47BBF8BC9791}</a:tableStyleId>
              </a:tblPr>
              <a:tblGrid>
                <a:gridCol w="2823100"/>
                <a:gridCol w="4415900"/>
              </a:tblGrid>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Text Type:</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str</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Numeric Types:</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int</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float</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complex</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Sequence Types:</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list</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tuple</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range</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Mapping Type:</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dict</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Set Types:</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set</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frozenset</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Boolean Type:</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bool</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Binary Types:</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bytes</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bytearray</a:t>
                      </a:r>
                      <a:r>
                        <a:rPr b="1" lang="en" sz="1450">
                          <a:highlight>
                            <a:srgbClr val="FFFFFF"/>
                          </a:highlight>
                          <a:latin typeface="Verdana"/>
                          <a:ea typeface="Verdana"/>
                          <a:cs typeface="Verdana"/>
                          <a:sym typeface="Verdana"/>
                        </a:rPr>
                        <a:t>, </a:t>
                      </a:r>
                      <a:r>
                        <a:rPr b="1" lang="en" sz="1500">
                          <a:solidFill>
                            <a:srgbClr val="DC143C"/>
                          </a:solidFill>
                          <a:highlight>
                            <a:srgbClr val="FFFFFF"/>
                          </a:highlight>
                          <a:latin typeface="Courier New"/>
                          <a:ea typeface="Courier New"/>
                          <a:cs typeface="Courier New"/>
                          <a:sym typeface="Courier New"/>
                        </a:rPr>
                        <a:t>memoryview</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r h="381000">
                <a:tc>
                  <a:txBody>
                    <a:bodyPr/>
                    <a:lstStyle/>
                    <a:p>
                      <a:pPr indent="0" lvl="0" marL="0" rtl="0" algn="l">
                        <a:spcBef>
                          <a:spcPts val="0"/>
                        </a:spcBef>
                        <a:spcAft>
                          <a:spcPts val="0"/>
                        </a:spcAft>
                        <a:buNone/>
                      </a:pPr>
                      <a:r>
                        <a:rPr b="1" lang="en" sz="1450">
                          <a:highlight>
                            <a:srgbClr val="FFFFFF"/>
                          </a:highlight>
                          <a:latin typeface="Verdana"/>
                          <a:ea typeface="Verdana"/>
                          <a:cs typeface="Verdana"/>
                          <a:sym typeface="Verdana"/>
                        </a:rPr>
                        <a:t>None Type:</a:t>
                      </a:r>
                      <a:endParaRPr b="1" sz="1450">
                        <a:highlight>
                          <a:srgbClr val="FFFFFF"/>
                        </a:highlight>
                        <a:latin typeface="Verdana"/>
                        <a:ea typeface="Verdana"/>
                        <a:cs typeface="Verdana"/>
                        <a:sym typeface="Verdana"/>
                      </a:endParaRPr>
                    </a:p>
                  </a:txBody>
                  <a:tcPr marT="76200" marB="76200" marR="76200" marL="152400"/>
                </a:tc>
                <a:tc>
                  <a:txBody>
                    <a:bodyPr/>
                    <a:lstStyle/>
                    <a:p>
                      <a:pPr indent="0" lvl="0" marL="0" rtl="0" algn="l">
                        <a:spcBef>
                          <a:spcPts val="0"/>
                        </a:spcBef>
                        <a:spcAft>
                          <a:spcPts val="0"/>
                        </a:spcAft>
                        <a:buNone/>
                      </a:pPr>
                      <a:r>
                        <a:rPr b="1" lang="en" sz="1500">
                          <a:solidFill>
                            <a:srgbClr val="DC143C"/>
                          </a:solidFill>
                          <a:highlight>
                            <a:srgbClr val="FFFFFF"/>
                          </a:highlight>
                          <a:latin typeface="Courier New"/>
                          <a:ea typeface="Courier New"/>
                          <a:cs typeface="Courier New"/>
                          <a:sym typeface="Courier New"/>
                        </a:rPr>
                        <a:t>NoneType</a:t>
                      </a:r>
                      <a:endParaRPr b="1" sz="1500">
                        <a:solidFill>
                          <a:srgbClr val="DC143C"/>
                        </a:solidFill>
                        <a:highlight>
                          <a:srgbClr val="FFFFFF"/>
                        </a:highlight>
                        <a:latin typeface="Courier New"/>
                        <a:ea typeface="Courier New"/>
                        <a:cs typeface="Courier New"/>
                        <a:sym typeface="Courier New"/>
                      </a:endParaRPr>
                    </a:p>
                  </a:txBody>
                  <a:tcPr marT="76200" marB="76200" marR="76200" marL="7620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type="title"/>
          </p:nvPr>
        </p:nvSpPr>
        <p:spPr>
          <a:xfrm>
            <a:off x="819150" y="241300"/>
            <a:ext cx="7505700" cy="54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Basic data types and Variables</a:t>
            </a:r>
            <a:endParaRPr/>
          </a:p>
        </p:txBody>
      </p:sp>
      <p:graphicFrame>
        <p:nvGraphicFramePr>
          <p:cNvPr id="495" name="Google Shape;495;p61"/>
          <p:cNvGraphicFramePr/>
          <p:nvPr/>
        </p:nvGraphicFramePr>
        <p:xfrm>
          <a:off x="889000" y="850700"/>
          <a:ext cx="3000000" cy="3000000"/>
        </p:xfrm>
        <a:graphic>
          <a:graphicData uri="http://schemas.openxmlformats.org/drawingml/2006/table">
            <a:tbl>
              <a:tblPr>
                <a:noFill/>
                <a:tableStyleId>{5A8DF423-57C0-4EDE-B31E-8917359C4159}</a:tableStyleId>
              </a:tblPr>
              <a:tblGrid>
                <a:gridCol w="5203600"/>
                <a:gridCol w="2403700"/>
              </a:tblGrid>
              <a:tr h="232975">
                <a:tc>
                  <a:txBody>
                    <a:bodyPr/>
                    <a:lstStyle/>
                    <a:p>
                      <a:pPr indent="0" lvl="0" marL="0" rtl="0" algn="l">
                        <a:lnSpc>
                          <a:spcPct val="115000"/>
                        </a:lnSpc>
                        <a:spcBef>
                          <a:spcPts val="0"/>
                        </a:spcBef>
                        <a:spcAft>
                          <a:spcPts val="0"/>
                        </a:spcAft>
                        <a:buNone/>
                      </a:pPr>
                      <a:r>
                        <a:rPr b="1" lang="en" sz="1100">
                          <a:latin typeface="Verdana"/>
                          <a:ea typeface="Verdana"/>
                          <a:cs typeface="Verdana"/>
                          <a:sym typeface="Verdana"/>
                        </a:rPr>
                        <a:t>Example</a:t>
                      </a:r>
                      <a:endParaRPr b="1"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latin typeface="Verdana"/>
                          <a:ea typeface="Verdana"/>
                          <a:cs typeface="Verdana"/>
                          <a:sym typeface="Verdana"/>
                        </a:rPr>
                        <a:t>Data Type</a:t>
                      </a:r>
                      <a:endParaRPr b="1"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"Hello World"</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str</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20</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int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20.5</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float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87875">
                <a:tc>
                  <a:txBody>
                    <a:bodyPr/>
                    <a:lstStyle/>
                    <a:p>
                      <a:pPr indent="0" lvl="0" marL="0" rtl="0" algn="l">
                        <a:lnSpc>
                          <a:spcPct val="115000"/>
                        </a:lnSpc>
                        <a:spcBef>
                          <a:spcPts val="0"/>
                        </a:spcBef>
                        <a:spcAft>
                          <a:spcPts val="0"/>
                        </a:spcAft>
                        <a:buNone/>
                      </a:pPr>
                      <a:r>
                        <a:rPr lang="en" sz="1200"/>
                        <a:t>x = 1j</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solidFill>
                            <a:srgbClr val="FF0000"/>
                          </a:solidFill>
                          <a:latin typeface="Verdana"/>
                          <a:ea typeface="Verdana"/>
                          <a:cs typeface="Verdana"/>
                          <a:sym typeface="Verdana"/>
                        </a:rPr>
                        <a:t>complex</a:t>
                      </a:r>
                      <a:endParaRPr sz="1100">
                        <a:solidFill>
                          <a:srgbClr val="FF0000"/>
                        </a:solidFill>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["apple", "banana", "cherry"]</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list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("apple", "banana", "cherry")</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tuple</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range(6)</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range</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{"name" : "John", "age" : 36}</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dict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{"apple", "banana", "cherry"}</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set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frozenset({"apple", "banana", "cherry"})</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frozenset</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True</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bool</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b"Hello"</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bytes</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bytearray(5)</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bytearray</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r h="252400">
                <a:tc>
                  <a:txBody>
                    <a:bodyPr/>
                    <a:lstStyle/>
                    <a:p>
                      <a:pPr indent="0" lvl="0" marL="0" rtl="0" algn="l">
                        <a:lnSpc>
                          <a:spcPct val="115000"/>
                        </a:lnSpc>
                        <a:spcBef>
                          <a:spcPts val="0"/>
                        </a:spcBef>
                        <a:spcAft>
                          <a:spcPts val="0"/>
                        </a:spcAft>
                        <a:buNone/>
                      </a:pPr>
                      <a:r>
                        <a:rPr lang="en" sz="1200"/>
                        <a:t>x = memoryview(bytes(5))</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memoryview</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52400">
                <a:tc>
                  <a:txBody>
                    <a:bodyPr/>
                    <a:lstStyle/>
                    <a:p>
                      <a:pPr indent="0" lvl="0" marL="0" rtl="0" algn="l">
                        <a:lnSpc>
                          <a:spcPct val="115000"/>
                        </a:lnSpc>
                        <a:spcBef>
                          <a:spcPts val="0"/>
                        </a:spcBef>
                        <a:spcAft>
                          <a:spcPts val="0"/>
                        </a:spcAft>
                        <a:buNone/>
                      </a:pPr>
                      <a:r>
                        <a:rPr lang="en" sz="1200"/>
                        <a:t>x = None</a:t>
                      </a:r>
                      <a:endParaRPr sz="12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rtl="0" algn="l">
                        <a:lnSpc>
                          <a:spcPct val="115000"/>
                        </a:lnSpc>
                        <a:spcBef>
                          <a:spcPts val="0"/>
                        </a:spcBef>
                        <a:spcAft>
                          <a:spcPts val="0"/>
                        </a:spcAft>
                        <a:buNone/>
                      </a:pPr>
                      <a:r>
                        <a:rPr lang="en" sz="1100">
                          <a:latin typeface="Verdana"/>
                          <a:ea typeface="Verdana"/>
                          <a:cs typeface="Verdana"/>
                          <a:sym typeface="Verdana"/>
                        </a:rPr>
                        <a:t>NoneType</a:t>
                      </a:r>
                      <a:endParaRPr sz="1100">
                        <a:latin typeface="Verdana"/>
                        <a:ea typeface="Verdana"/>
                        <a:cs typeface="Verdana"/>
                        <a:sym typeface="Verdana"/>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bl>
          </a:graphicData>
        </a:graphic>
      </p:graphicFrame>
      <p:sp>
        <p:nvSpPr>
          <p:cNvPr id="496" name="Google Shape;496;p6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2"/>
          <p:cNvSpPr txBox="1"/>
          <p:nvPr>
            <p:ph type="title"/>
          </p:nvPr>
        </p:nvSpPr>
        <p:spPr>
          <a:xfrm>
            <a:off x="730250" y="571500"/>
            <a:ext cx="7594500" cy="77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Python Collection</a:t>
            </a:r>
            <a:endParaRPr/>
          </a:p>
        </p:txBody>
      </p:sp>
      <p:graphicFrame>
        <p:nvGraphicFramePr>
          <p:cNvPr id="502" name="Google Shape;502;p62"/>
          <p:cNvGraphicFramePr/>
          <p:nvPr/>
        </p:nvGraphicFramePr>
        <p:xfrm>
          <a:off x="628675" y="1174850"/>
          <a:ext cx="3000000" cy="3000000"/>
        </p:xfrm>
        <a:graphic>
          <a:graphicData uri="http://schemas.openxmlformats.org/drawingml/2006/table">
            <a:tbl>
              <a:tblPr>
                <a:noFill/>
                <a:tableStyleId>{5A8DF423-57C0-4EDE-B31E-8917359C4159}</a:tableStyleId>
              </a:tblPr>
              <a:tblGrid>
                <a:gridCol w="7696175"/>
              </a:tblGrid>
              <a:tr h="537500">
                <a:tc>
                  <a:txBody>
                    <a:bodyPr/>
                    <a:lstStyle/>
                    <a:p>
                      <a:pPr indent="0" lvl="0" marL="0" rtl="0" algn="l">
                        <a:lnSpc>
                          <a:spcPct val="115000"/>
                        </a:lnSpc>
                        <a:spcBef>
                          <a:spcPts val="0"/>
                        </a:spcBef>
                        <a:spcAft>
                          <a:spcPts val="0"/>
                        </a:spcAft>
                        <a:buNone/>
                      </a:pPr>
                      <a:r>
                        <a:rPr b="1" lang="en" sz="1500"/>
                        <a:t>There are four collection data types in the Python programming language:</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5750">
                <a:tc>
                  <a:txBody>
                    <a:bodyPr/>
                    <a:lstStyle/>
                    <a:p>
                      <a:pPr indent="0" lvl="0" marL="0" rtl="0" algn="l">
                        <a:lnSpc>
                          <a:spcPct val="115000"/>
                        </a:lnSpc>
                        <a:spcBef>
                          <a:spcPts val="0"/>
                        </a:spcBef>
                        <a:spcAft>
                          <a:spcPts val="0"/>
                        </a:spcAft>
                        <a:buNone/>
                      </a:pPr>
                      <a:r>
                        <a:rPr b="1" lang="en" sz="1500"/>
                        <a:t>List is a collection which is ordered and changeable. Allows duplicate members.</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5750">
                <a:tc>
                  <a:txBody>
                    <a:bodyPr/>
                    <a:lstStyle/>
                    <a:p>
                      <a:pPr indent="0" lvl="0" marL="0" rtl="0" algn="l">
                        <a:lnSpc>
                          <a:spcPct val="115000"/>
                        </a:lnSpc>
                        <a:spcBef>
                          <a:spcPts val="0"/>
                        </a:spcBef>
                        <a:spcAft>
                          <a:spcPts val="0"/>
                        </a:spcAft>
                        <a:buNone/>
                      </a:pPr>
                      <a:r>
                        <a:rPr b="1" lang="en" sz="1500"/>
                        <a:t>Tuple is a collection which is ordered and unchangeable. Allows duplicate members.</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5750">
                <a:tc>
                  <a:txBody>
                    <a:bodyPr/>
                    <a:lstStyle/>
                    <a:p>
                      <a:pPr indent="0" lvl="0" marL="0" rtl="0" algn="l">
                        <a:lnSpc>
                          <a:spcPct val="115000"/>
                        </a:lnSpc>
                        <a:spcBef>
                          <a:spcPts val="0"/>
                        </a:spcBef>
                        <a:spcAft>
                          <a:spcPts val="0"/>
                        </a:spcAft>
                        <a:buNone/>
                      </a:pPr>
                      <a:r>
                        <a:rPr b="1" lang="en" sz="1500"/>
                        <a:t>Set is a collection which is unordered, unchangeable*, and unindexed. No duplicate members.</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5750">
                <a:tc>
                  <a:txBody>
                    <a:bodyPr/>
                    <a:lstStyle/>
                    <a:p>
                      <a:pPr indent="0" lvl="0" marL="0" rtl="0" algn="l">
                        <a:lnSpc>
                          <a:spcPct val="115000"/>
                        </a:lnSpc>
                        <a:spcBef>
                          <a:spcPts val="0"/>
                        </a:spcBef>
                        <a:spcAft>
                          <a:spcPts val="0"/>
                        </a:spcAft>
                        <a:buNone/>
                      </a:pPr>
                      <a:r>
                        <a:rPr b="1" lang="en" sz="1500"/>
                        <a:t>Dictionary is a collection which is ordered** and changeable. No duplicate members</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03" name="Google Shape;503;p6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3"/>
          <p:cNvSpPr txBox="1"/>
          <p:nvPr>
            <p:ph type="title"/>
          </p:nvPr>
        </p:nvSpPr>
        <p:spPr>
          <a:xfrm>
            <a:off x="819150" y="304800"/>
            <a:ext cx="7505700" cy="46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000">
                <a:solidFill>
                  <a:srgbClr val="000000"/>
                </a:solidFill>
                <a:latin typeface="Arial"/>
                <a:ea typeface="Arial"/>
                <a:cs typeface="Arial"/>
                <a:sym typeface="Arial"/>
              </a:rPr>
              <a:t>Python Arithmetic Operators</a:t>
            </a:r>
            <a:endParaRPr b="1" sz="2000">
              <a:solidFill>
                <a:srgbClr val="000000"/>
              </a:solidFill>
              <a:latin typeface="Arial"/>
              <a:ea typeface="Arial"/>
              <a:cs typeface="Arial"/>
              <a:sym typeface="Arial"/>
            </a:endParaRPr>
          </a:p>
          <a:p>
            <a:pPr indent="0" lvl="0" marL="0" rtl="0" algn="l">
              <a:spcBef>
                <a:spcPts val="0"/>
              </a:spcBef>
              <a:spcAft>
                <a:spcPts val="0"/>
              </a:spcAft>
              <a:buSzPts val="990"/>
              <a:buNone/>
            </a:pPr>
            <a:r>
              <a:t/>
            </a:r>
            <a:endParaRPr sz="2700"/>
          </a:p>
        </p:txBody>
      </p:sp>
      <p:graphicFrame>
        <p:nvGraphicFramePr>
          <p:cNvPr id="509" name="Google Shape;509;p63"/>
          <p:cNvGraphicFramePr/>
          <p:nvPr/>
        </p:nvGraphicFramePr>
        <p:xfrm>
          <a:off x="819150" y="1339825"/>
          <a:ext cx="3000000" cy="3000000"/>
        </p:xfrm>
        <a:graphic>
          <a:graphicData uri="http://schemas.openxmlformats.org/drawingml/2006/table">
            <a:tbl>
              <a:tblPr>
                <a:noFill/>
                <a:tableStyleId>{5A8DF423-57C0-4EDE-B31E-8917359C4159}</a:tableStyleId>
              </a:tblPr>
              <a:tblGrid>
                <a:gridCol w="1763975"/>
                <a:gridCol w="2846125"/>
                <a:gridCol w="2540000"/>
              </a:tblGrid>
              <a:tr h="625475">
                <a:tc>
                  <a:txBody>
                    <a:bodyPr/>
                    <a:lstStyle/>
                    <a:p>
                      <a:pPr indent="0" lvl="0" marL="0" rtl="0" algn="l">
                        <a:lnSpc>
                          <a:spcPct val="115000"/>
                        </a:lnSpc>
                        <a:spcBef>
                          <a:spcPts val="0"/>
                        </a:spcBef>
                        <a:spcAft>
                          <a:spcPts val="0"/>
                        </a:spcAft>
                        <a:buNone/>
                      </a:pPr>
                      <a:r>
                        <a:rPr b="1" lang="en" sz="1100"/>
                        <a:t>Python Arithmetic Operators</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Arithmetic operators are used with numeric values to perform common mathematical operations:</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b="1" sz="15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37250">
                <a:tc>
                  <a:txBody>
                    <a:bodyPr/>
                    <a:lstStyle/>
                    <a:p>
                      <a:pPr indent="0" lvl="0" marL="0" rtl="0" algn="l">
                        <a:lnSpc>
                          <a:spcPct val="115000"/>
                        </a:lnSpc>
                        <a:spcBef>
                          <a:spcPts val="0"/>
                        </a:spcBef>
                        <a:spcAft>
                          <a:spcPts val="0"/>
                        </a:spcAft>
                        <a:buNone/>
                      </a:pPr>
                      <a:r>
                        <a:rPr b="1" lang="en" sz="1100"/>
                        <a:t>Operator</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Name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Example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Addition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Subtraction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Multiplication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Division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9670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Modulus</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Exponentiation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37250">
                <a:tc>
                  <a:txBody>
                    <a:bodyPr/>
                    <a:lstStyle/>
                    <a:p>
                      <a:pPr indent="0" lvl="0" marL="0" rtl="0" algn="l">
                        <a:lnSpc>
                          <a:spcPct val="115000"/>
                        </a:lnSpc>
                        <a:spcBef>
                          <a:spcPts val="0"/>
                        </a:spcBef>
                        <a:spcAft>
                          <a:spcPts val="0"/>
                        </a:spcAft>
                        <a:buNone/>
                      </a:pPr>
                      <a:r>
                        <a:rPr b="1" lang="en" sz="1100"/>
                        <a:t>//</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Floor division</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sz="1100"/>
                        <a:t>x // y</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bl>
          </a:graphicData>
        </a:graphic>
      </p:graphicFrame>
      <p:sp>
        <p:nvSpPr>
          <p:cNvPr id="510" name="Google Shape;510;p6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4"/>
          <p:cNvSpPr txBox="1"/>
          <p:nvPr>
            <p:ph type="title"/>
          </p:nvPr>
        </p:nvSpPr>
        <p:spPr>
          <a:xfrm>
            <a:off x="819150" y="304800"/>
            <a:ext cx="7505700" cy="46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000">
                <a:solidFill>
                  <a:srgbClr val="000000"/>
                </a:solidFill>
                <a:latin typeface="Arial"/>
                <a:ea typeface="Arial"/>
                <a:cs typeface="Arial"/>
                <a:sym typeface="Arial"/>
              </a:rPr>
              <a:t>Python Assignment Operators</a:t>
            </a:r>
            <a:endParaRPr b="1" sz="2000">
              <a:solidFill>
                <a:srgbClr val="000000"/>
              </a:solidFill>
              <a:latin typeface="Arial"/>
              <a:ea typeface="Arial"/>
              <a:cs typeface="Arial"/>
              <a:sym typeface="Arial"/>
            </a:endParaRPr>
          </a:p>
          <a:p>
            <a:pPr indent="0" lvl="0" marL="0" rtl="0" algn="l">
              <a:spcBef>
                <a:spcPts val="0"/>
              </a:spcBef>
              <a:spcAft>
                <a:spcPts val="0"/>
              </a:spcAft>
              <a:buSzPts val="990"/>
              <a:buNone/>
            </a:pPr>
            <a:r>
              <a:t/>
            </a:r>
            <a:endParaRPr sz="2700"/>
          </a:p>
        </p:txBody>
      </p:sp>
      <p:graphicFrame>
        <p:nvGraphicFramePr>
          <p:cNvPr id="516" name="Google Shape;516;p64"/>
          <p:cNvGraphicFramePr/>
          <p:nvPr/>
        </p:nvGraphicFramePr>
        <p:xfrm>
          <a:off x="1127650" y="995750"/>
          <a:ext cx="3000000" cy="3000000"/>
        </p:xfrm>
        <a:graphic>
          <a:graphicData uri="http://schemas.openxmlformats.org/drawingml/2006/table">
            <a:tbl>
              <a:tblPr>
                <a:noFill/>
                <a:tableStyleId>{5A8DF423-57C0-4EDE-B31E-8917359C4159}</a:tableStyleId>
              </a:tblPr>
              <a:tblGrid>
                <a:gridCol w="1787700"/>
                <a:gridCol w="3102625"/>
                <a:gridCol w="1119425"/>
              </a:tblGrid>
              <a:tr h="383025">
                <a:tc>
                  <a:txBody>
                    <a:bodyPr/>
                    <a:lstStyle/>
                    <a:p>
                      <a:pPr indent="0" lvl="0" marL="0" rtl="0" algn="l">
                        <a:lnSpc>
                          <a:spcPct val="115000"/>
                        </a:lnSpc>
                        <a:spcBef>
                          <a:spcPts val="0"/>
                        </a:spcBef>
                        <a:spcAft>
                          <a:spcPts val="0"/>
                        </a:spcAft>
                        <a:buNone/>
                      </a:pPr>
                      <a:r>
                        <a:rPr lang="en" sz="1000"/>
                        <a:t>Python Assignment Operators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Assignment operators are used to assign values to variables: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52800">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Operator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Example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Same As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&amp;=</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&amp;=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&amp;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&gt;&gt;=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&gt;&gt;=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x &gt;&gt;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210675">
                <a:tc>
                  <a:txBody>
                    <a:bodyPr/>
                    <a:lstStyle/>
                    <a:p>
                      <a:pPr indent="0" lvl="0" marL="0" rtl="0" algn="l">
                        <a:lnSpc>
                          <a:spcPct val="115000"/>
                        </a:lnSpc>
                        <a:spcBef>
                          <a:spcPts val="0"/>
                        </a:spcBef>
                        <a:spcAft>
                          <a:spcPts val="0"/>
                        </a:spcAft>
                        <a:buNone/>
                      </a:pPr>
                      <a:r>
                        <a:rPr lang="en" sz="1000"/>
                        <a:t>&lt;&lt;=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&lt;&lt;=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x = x &lt;&lt;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10675">
                <a:tc>
                  <a:txBody>
                    <a:bodyPr/>
                    <a:lstStyle/>
                    <a:p>
                      <a:pPr indent="0" lvl="0" marL="0" rtl="0" algn="l">
                        <a:lnSpc>
                          <a:spcPct val="115000"/>
                        </a:lnSpc>
                        <a:spcBef>
                          <a:spcPts val="0"/>
                        </a:spcBef>
                        <a:spcAft>
                          <a:spcPts val="0"/>
                        </a:spcAft>
                        <a:buNone/>
                      </a:pPr>
                      <a:r>
                        <a:rPr lang="en" sz="1000"/>
                        <a: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print(x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1000"/>
                        <a:t>x = 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bl>
          </a:graphicData>
        </a:graphic>
      </p:graphicFrame>
      <p:sp>
        <p:nvSpPr>
          <p:cNvPr id="517" name="Google Shape;517;p6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5"/>
          <p:cNvSpPr txBox="1"/>
          <p:nvPr>
            <p:ph type="title"/>
          </p:nvPr>
        </p:nvSpPr>
        <p:spPr>
          <a:xfrm>
            <a:off x="819150" y="304800"/>
            <a:ext cx="7505700" cy="46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000">
                <a:solidFill>
                  <a:srgbClr val="000000"/>
                </a:solidFill>
                <a:latin typeface="Arial"/>
                <a:ea typeface="Arial"/>
                <a:cs typeface="Arial"/>
                <a:sym typeface="Arial"/>
              </a:rPr>
              <a:t>Python Comparison Operators</a:t>
            </a:r>
            <a:endParaRPr b="1" sz="2000">
              <a:solidFill>
                <a:srgbClr val="000000"/>
              </a:solidFill>
              <a:latin typeface="Arial"/>
              <a:ea typeface="Arial"/>
              <a:cs typeface="Arial"/>
              <a:sym typeface="Arial"/>
            </a:endParaRPr>
          </a:p>
          <a:p>
            <a:pPr indent="0" lvl="0" marL="0" rtl="0" algn="l">
              <a:spcBef>
                <a:spcPts val="0"/>
              </a:spcBef>
              <a:spcAft>
                <a:spcPts val="0"/>
              </a:spcAft>
              <a:buSzPts val="990"/>
              <a:buNone/>
            </a:pPr>
            <a:r>
              <a:t/>
            </a:r>
            <a:endParaRPr sz="2700"/>
          </a:p>
        </p:txBody>
      </p:sp>
      <p:graphicFrame>
        <p:nvGraphicFramePr>
          <p:cNvPr id="523" name="Google Shape;523;p65"/>
          <p:cNvGraphicFramePr/>
          <p:nvPr/>
        </p:nvGraphicFramePr>
        <p:xfrm>
          <a:off x="819150" y="1119450"/>
          <a:ext cx="3000000" cy="3000000"/>
        </p:xfrm>
        <a:graphic>
          <a:graphicData uri="http://schemas.openxmlformats.org/drawingml/2006/table">
            <a:tbl>
              <a:tblPr>
                <a:noFill/>
                <a:tableStyleId>{5A8DF423-57C0-4EDE-B31E-8917359C4159}</a:tableStyleId>
              </a:tblPr>
              <a:tblGrid>
                <a:gridCol w="2754725"/>
                <a:gridCol w="2754725"/>
                <a:gridCol w="1229375"/>
              </a:tblGrid>
              <a:tr h="638375">
                <a:tc>
                  <a:txBody>
                    <a:bodyPr/>
                    <a:lstStyle/>
                    <a:p>
                      <a:pPr indent="0" lvl="0" marL="0" rtl="0" algn="l">
                        <a:lnSpc>
                          <a:spcPct val="115000"/>
                        </a:lnSpc>
                        <a:spcBef>
                          <a:spcPts val="0"/>
                        </a:spcBef>
                        <a:spcAft>
                          <a:spcPts val="0"/>
                        </a:spcAft>
                        <a:buNone/>
                      </a:pPr>
                      <a:r>
                        <a:rPr b="1" lang="en"/>
                        <a:t>Python Comparison Operators</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Comparison operators are used to compare two values:</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b="1" sz="1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351125">
                <a:tc>
                  <a:txBody>
                    <a:bodyPr/>
                    <a:lstStyle/>
                    <a:p>
                      <a:pPr indent="0" lvl="0" marL="0" rtl="0" algn="l">
                        <a:lnSpc>
                          <a:spcPct val="115000"/>
                        </a:lnSpc>
                        <a:spcBef>
                          <a:spcPts val="0"/>
                        </a:spcBef>
                        <a:spcAft>
                          <a:spcPts val="0"/>
                        </a:spcAft>
                        <a:buNone/>
                      </a:pPr>
                      <a:r>
                        <a:rPr b="1" lang="en"/>
                        <a:t>Operator</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Name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Example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1125">
                <a:tc>
                  <a:txBody>
                    <a:bodyPr/>
                    <a:lstStyle/>
                    <a:p>
                      <a:pPr indent="0" lvl="0" marL="0" rtl="0" algn="l">
                        <a:lnSpc>
                          <a:spcPct val="115000"/>
                        </a:lnSpc>
                        <a:spcBef>
                          <a:spcPts val="0"/>
                        </a:spcBef>
                        <a:spcAft>
                          <a:spcPts val="0"/>
                        </a:spcAft>
                        <a:buNone/>
                      </a:pPr>
                      <a:r>
                        <a:rPr b="1" lang="en"/>
                        <a: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Equal</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x ==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351125">
                <a:tc>
                  <a:txBody>
                    <a:bodyPr/>
                    <a:lstStyle/>
                    <a:p>
                      <a:pPr indent="0" lvl="0" marL="0" rtl="0" algn="l">
                        <a:lnSpc>
                          <a:spcPct val="115000"/>
                        </a:lnSpc>
                        <a:spcBef>
                          <a:spcPts val="0"/>
                        </a:spcBef>
                        <a:spcAft>
                          <a:spcPts val="0"/>
                        </a:spcAft>
                        <a:buNone/>
                      </a:pPr>
                      <a:r>
                        <a:rPr b="1" lang="en"/>
                        <a: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Not equal</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x !=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1125">
                <a:tc>
                  <a:txBody>
                    <a:bodyPr/>
                    <a:lstStyle/>
                    <a:p>
                      <a:pPr indent="0" lvl="0" marL="0" rtl="0" algn="l">
                        <a:lnSpc>
                          <a:spcPct val="115000"/>
                        </a:lnSpc>
                        <a:spcBef>
                          <a:spcPts val="0"/>
                        </a:spcBef>
                        <a:spcAft>
                          <a:spcPts val="0"/>
                        </a:spcAft>
                        <a:buNone/>
                      </a:pPr>
                      <a:r>
                        <a:rPr b="1" lang="en"/>
                        <a:t>&gt;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Greater than</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x &gt;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351125">
                <a:tc>
                  <a:txBody>
                    <a:bodyPr/>
                    <a:lstStyle/>
                    <a:p>
                      <a:pPr indent="0" lvl="0" marL="0" rtl="0" algn="l">
                        <a:lnSpc>
                          <a:spcPct val="115000"/>
                        </a:lnSpc>
                        <a:spcBef>
                          <a:spcPts val="0"/>
                        </a:spcBef>
                        <a:spcAft>
                          <a:spcPts val="0"/>
                        </a:spcAft>
                        <a:buNone/>
                      </a:pPr>
                      <a:r>
                        <a:rPr b="1" lang="en"/>
                        <a:t>&lt;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Less than</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x &lt;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1125">
                <a:tc>
                  <a:txBody>
                    <a:bodyPr/>
                    <a:lstStyle/>
                    <a:p>
                      <a:pPr indent="0" lvl="0" marL="0" rtl="0" algn="l">
                        <a:lnSpc>
                          <a:spcPct val="115000"/>
                        </a:lnSpc>
                        <a:spcBef>
                          <a:spcPts val="0"/>
                        </a:spcBef>
                        <a:spcAft>
                          <a:spcPts val="0"/>
                        </a:spcAft>
                        <a:buNone/>
                      </a:pPr>
                      <a:r>
                        <a:rPr b="1" lang="en"/>
                        <a:t>&gt;=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Greater than or equal to</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x &gt;=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351125">
                <a:tc>
                  <a:txBody>
                    <a:bodyPr/>
                    <a:lstStyle/>
                    <a:p>
                      <a:pPr indent="0" lvl="0" marL="0" rtl="0" algn="l">
                        <a:lnSpc>
                          <a:spcPct val="115000"/>
                        </a:lnSpc>
                        <a:spcBef>
                          <a:spcPts val="0"/>
                        </a:spcBef>
                        <a:spcAft>
                          <a:spcPts val="0"/>
                        </a:spcAft>
                        <a:buNone/>
                      </a:pPr>
                      <a:r>
                        <a:rPr b="1" lang="en"/>
                        <a:t>&lt;=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Less than or equal to</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x &lt;= y</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524" name="Google Shape;524;p6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6"/>
          <p:cNvSpPr txBox="1"/>
          <p:nvPr>
            <p:ph type="title"/>
          </p:nvPr>
        </p:nvSpPr>
        <p:spPr>
          <a:xfrm>
            <a:off x="819150" y="304800"/>
            <a:ext cx="7505700" cy="46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1500">
                <a:solidFill>
                  <a:srgbClr val="000000"/>
                </a:solidFill>
                <a:latin typeface="Arial"/>
                <a:ea typeface="Arial"/>
                <a:cs typeface="Arial"/>
                <a:sym typeface="Arial"/>
              </a:rPr>
              <a:t>Python Logical Operators</a:t>
            </a:r>
            <a:endParaRPr b="1" sz="1500">
              <a:solidFill>
                <a:srgbClr val="000000"/>
              </a:solidFill>
              <a:latin typeface="Arial"/>
              <a:ea typeface="Arial"/>
              <a:cs typeface="Arial"/>
              <a:sym typeface="Arial"/>
            </a:endParaRPr>
          </a:p>
          <a:p>
            <a:pPr indent="0" lvl="0" marL="0" rtl="0" algn="l">
              <a:spcBef>
                <a:spcPts val="0"/>
              </a:spcBef>
              <a:spcAft>
                <a:spcPts val="0"/>
              </a:spcAft>
              <a:buSzPts val="990"/>
              <a:buNone/>
            </a:pPr>
            <a:r>
              <a:t/>
            </a:r>
            <a:endParaRPr sz="2700"/>
          </a:p>
        </p:txBody>
      </p:sp>
      <p:graphicFrame>
        <p:nvGraphicFramePr>
          <p:cNvPr id="530" name="Google Shape;530;p66"/>
          <p:cNvGraphicFramePr/>
          <p:nvPr/>
        </p:nvGraphicFramePr>
        <p:xfrm>
          <a:off x="910500" y="1162050"/>
          <a:ext cx="3000000" cy="3000000"/>
        </p:xfrm>
        <a:graphic>
          <a:graphicData uri="http://schemas.openxmlformats.org/drawingml/2006/table">
            <a:tbl>
              <a:tblPr>
                <a:noFill/>
                <a:tableStyleId>{5A8DF423-57C0-4EDE-B31E-8917359C4159}</a:tableStyleId>
              </a:tblPr>
              <a:tblGrid>
                <a:gridCol w="2008775"/>
                <a:gridCol w="3286325"/>
                <a:gridCol w="1177850"/>
              </a:tblGrid>
              <a:tr h="379150">
                <a:tc>
                  <a:txBody>
                    <a:bodyPr/>
                    <a:lstStyle/>
                    <a:p>
                      <a:pPr indent="0" lvl="0" marL="0" rtl="0" algn="l">
                        <a:lnSpc>
                          <a:spcPct val="115000"/>
                        </a:lnSpc>
                        <a:spcBef>
                          <a:spcPts val="0"/>
                        </a:spcBef>
                        <a:spcAft>
                          <a:spcPts val="0"/>
                        </a:spcAft>
                        <a:buNone/>
                      </a:pPr>
                      <a:r>
                        <a:rPr b="1" lang="en"/>
                        <a:t>Python Logical Operators</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b="1" sz="1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b="1" sz="1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25175">
                <a:tc>
                  <a:txBody>
                    <a:bodyPr/>
                    <a:lstStyle/>
                    <a:p>
                      <a:pPr indent="0" lvl="0" marL="0" rtl="0" algn="l">
                        <a:lnSpc>
                          <a:spcPct val="115000"/>
                        </a:lnSpc>
                        <a:spcBef>
                          <a:spcPts val="0"/>
                        </a:spcBef>
                        <a:spcAft>
                          <a:spcPts val="0"/>
                        </a:spcAft>
                        <a:buNone/>
                      </a:pPr>
                      <a:r>
                        <a:rPr b="1" lang="en"/>
                        <a:t>Logical operators are used to combine conditional statements:</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b="1" sz="1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b="1" sz="1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315975">
                <a:tc>
                  <a:txBody>
                    <a:bodyPr/>
                    <a:lstStyle/>
                    <a:p>
                      <a:pPr indent="0" lvl="0" marL="0" rtl="0" algn="l">
                        <a:lnSpc>
                          <a:spcPct val="115000"/>
                        </a:lnSpc>
                        <a:spcBef>
                          <a:spcPts val="0"/>
                        </a:spcBef>
                        <a:spcAft>
                          <a:spcPts val="0"/>
                        </a:spcAft>
                        <a:buNone/>
                      </a:pPr>
                      <a:r>
                        <a:rPr b="1" lang="en"/>
                        <a:t>Operator</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Description</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Example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74500">
                <a:tc>
                  <a:txBody>
                    <a:bodyPr/>
                    <a:lstStyle/>
                    <a:p>
                      <a:pPr indent="0" lvl="0" marL="0" rtl="0" algn="l">
                        <a:lnSpc>
                          <a:spcPct val="115000"/>
                        </a:lnSpc>
                        <a:spcBef>
                          <a:spcPts val="0"/>
                        </a:spcBef>
                        <a:spcAft>
                          <a:spcPts val="0"/>
                        </a:spcAft>
                        <a:buNone/>
                      </a:pPr>
                      <a:r>
                        <a:rPr b="1" lang="en"/>
                        <a:t>and</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Returns True if both statements are true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x &lt; 5 and x &lt; 10</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r h="574500">
                <a:tc>
                  <a:txBody>
                    <a:bodyPr/>
                    <a:lstStyle/>
                    <a:p>
                      <a:pPr indent="0" lvl="0" marL="0" rtl="0" algn="l">
                        <a:lnSpc>
                          <a:spcPct val="115000"/>
                        </a:lnSpc>
                        <a:spcBef>
                          <a:spcPts val="0"/>
                        </a:spcBef>
                        <a:spcAft>
                          <a:spcPts val="0"/>
                        </a:spcAft>
                        <a:buNone/>
                      </a:pPr>
                      <a:r>
                        <a:rPr b="1" lang="en"/>
                        <a:t>or</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Returns True if one of the statements is true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t>x &lt; 5 or x &lt; 4</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74500">
                <a:tc>
                  <a:txBody>
                    <a:bodyPr/>
                    <a:lstStyle/>
                    <a:p>
                      <a:pPr indent="0" lvl="0" marL="0" rtl="0" algn="l">
                        <a:lnSpc>
                          <a:spcPct val="115000"/>
                        </a:lnSpc>
                        <a:spcBef>
                          <a:spcPts val="0"/>
                        </a:spcBef>
                        <a:spcAft>
                          <a:spcPts val="0"/>
                        </a:spcAft>
                        <a:buNone/>
                      </a:pPr>
                      <a:r>
                        <a:rPr b="1" lang="en"/>
                        <a:t>not</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Reverse the result, returns False if the result is true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b="1" lang="en"/>
                        <a:t>not(x &lt; 5 and x &lt; 10)</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F3F3"/>
                    </a:solidFill>
                  </a:tcPr>
                </a:tc>
              </a:tr>
            </a:tbl>
          </a:graphicData>
        </a:graphic>
      </p:graphicFrame>
      <p:sp>
        <p:nvSpPr>
          <p:cNvPr id="531" name="Google Shape;531;p6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7"/>
          <p:cNvSpPr txBox="1"/>
          <p:nvPr>
            <p:ph type="title"/>
          </p:nvPr>
        </p:nvSpPr>
        <p:spPr>
          <a:xfrm>
            <a:off x="609600" y="285750"/>
            <a:ext cx="8153400" cy="51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Data Type Conversion:</a:t>
            </a:r>
            <a:endParaRPr/>
          </a:p>
        </p:txBody>
      </p:sp>
      <p:graphicFrame>
        <p:nvGraphicFramePr>
          <p:cNvPr id="537" name="Google Shape;537;p67"/>
          <p:cNvGraphicFramePr/>
          <p:nvPr/>
        </p:nvGraphicFramePr>
        <p:xfrm>
          <a:off x="609600" y="971550"/>
          <a:ext cx="3000000" cy="3000000"/>
        </p:xfrm>
        <a:graphic>
          <a:graphicData uri="http://schemas.openxmlformats.org/drawingml/2006/table">
            <a:tbl>
              <a:tblPr>
                <a:noFill/>
                <a:tableStyleId>{5A8DF423-57C0-4EDE-B31E-8917359C4159}</a:tableStyleId>
              </a:tblPr>
              <a:tblGrid>
                <a:gridCol w="1944675"/>
                <a:gridCol w="6056300"/>
              </a:tblGrid>
              <a:tr h="222625">
                <a:tc>
                  <a:txBody>
                    <a:bodyPr/>
                    <a:lstStyle/>
                    <a:p>
                      <a:pPr indent="0" lvl="0" marL="0" marR="0" rtl="0" algn="ctr">
                        <a:lnSpc>
                          <a:spcPct val="100000"/>
                        </a:lnSpc>
                        <a:spcBef>
                          <a:spcPts val="0"/>
                        </a:spcBef>
                        <a:spcAft>
                          <a:spcPts val="0"/>
                        </a:spcAft>
                        <a:buClr>
                          <a:srgbClr val="000000"/>
                        </a:buClr>
                        <a:buSzPts val="1100"/>
                        <a:buFont typeface="Verdana"/>
                        <a:buNone/>
                      </a:pPr>
                      <a:r>
                        <a:rPr b="1" i="0" lang="en" sz="1100" u="none" cap="none" strike="noStrike">
                          <a:solidFill>
                            <a:srgbClr val="000000"/>
                          </a:solidFill>
                          <a:latin typeface="Verdana"/>
                          <a:ea typeface="Verdana"/>
                          <a:cs typeface="Verdana"/>
                          <a:sym typeface="Verdana"/>
                        </a:rPr>
                        <a:t>Function</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100"/>
                        <a:buFont typeface="Verdana"/>
                        <a:buNone/>
                      </a:pPr>
                      <a:r>
                        <a:rPr b="1" i="0" lang="en" sz="1100" u="none" cap="none" strike="noStrike">
                          <a:solidFill>
                            <a:srgbClr val="000000"/>
                          </a:solidFill>
                          <a:latin typeface="Verdana"/>
                          <a:ea typeface="Verdana"/>
                          <a:cs typeface="Verdana"/>
                          <a:sym typeface="Verdana"/>
                        </a:rPr>
                        <a:t>Description</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21450">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int(x [,base])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x to an integer. base specifies the base if x is a string.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long(x [,base] )</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x to a long integer. base specifies the base if x is a string.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float(x)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x to a floating-point number.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3262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complex(real [,imag])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Creates a complex number.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str(x)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object x to a string representation.</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repr(x)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object x to an expression string.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1450">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eval(str)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Evaluates a string and returns an object.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tuple(s)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s to a tuple.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list(s)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s to a list.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1450">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set(s)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s to a set.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dict(d)</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Creates a dictionary. d must be a sequence of (key,value) tuples.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frozenset(s)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s to a frozen set.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1450">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chr(x)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an integer to a character.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unichr(x)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an integer to a Unicode character.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ord(x)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a single character to its integer value.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21450">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hex(x)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an integer to a hexadecimal string.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22625">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oct(x)</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just">
                        <a:lnSpc>
                          <a:spcPct val="100000"/>
                        </a:lnSpc>
                        <a:spcBef>
                          <a:spcPts val="0"/>
                        </a:spcBef>
                        <a:spcAft>
                          <a:spcPts val="0"/>
                        </a:spcAft>
                        <a:buClr>
                          <a:srgbClr val="000000"/>
                        </a:buClr>
                        <a:buSzPts val="1100"/>
                        <a:buFont typeface="Verdana"/>
                        <a:buNone/>
                      </a:pPr>
                      <a:r>
                        <a:rPr b="0" i="0" lang="en" sz="1100" u="none" cap="none" strike="noStrike">
                          <a:solidFill>
                            <a:srgbClr val="000000"/>
                          </a:solidFill>
                          <a:latin typeface="Verdana"/>
                          <a:ea typeface="Verdana"/>
                          <a:cs typeface="Verdana"/>
                          <a:sym typeface="Verdana"/>
                        </a:rPr>
                        <a:t>Converts an integer to an octal string.</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sp>
        <p:nvSpPr>
          <p:cNvPr id="538" name="Google Shape;538;p67"/>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2" name="Shape 542"/>
        <p:cNvGrpSpPr/>
        <p:nvPr/>
      </p:nvGrpSpPr>
      <p:grpSpPr>
        <a:xfrm>
          <a:off x="0" y="0"/>
          <a:ext cx="0" cy="0"/>
          <a:chOff x="0" y="0"/>
          <a:chExt cx="0" cy="0"/>
        </a:xfrm>
      </p:grpSpPr>
      <p:sp>
        <p:nvSpPr>
          <p:cNvPr id="543" name="Google Shape;543;p68"/>
          <p:cNvSpPr txBox="1"/>
          <p:nvPr>
            <p:ph type="title"/>
          </p:nvPr>
        </p:nvSpPr>
        <p:spPr>
          <a:xfrm>
            <a:off x="682650" y="519101"/>
            <a:ext cx="7078200" cy="332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Python Identifiers:</a:t>
            </a:r>
            <a:endParaRPr/>
          </a:p>
        </p:txBody>
      </p:sp>
      <p:sp>
        <p:nvSpPr>
          <p:cNvPr id="544" name="Google Shape;544;p68"/>
          <p:cNvSpPr txBox="1"/>
          <p:nvPr>
            <p:ph idx="4294967295" type="body"/>
          </p:nvPr>
        </p:nvSpPr>
        <p:spPr>
          <a:xfrm>
            <a:off x="609600" y="1713700"/>
            <a:ext cx="8153400" cy="291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A Python identifier is a name used to identify a variable, function, class, module, or other object. An identifier starts with a letter A to Z or a to z or an underscore (_) followed by zero or more letters, underscores, and digits (0 to 9).</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Python does not allow punctuation characters such as @, $, and % within identifiers. Python is a case sensitive programming language. Thus </a:t>
            </a:r>
            <a:r>
              <a:rPr b="1" lang="en" sz="2000">
                <a:latin typeface="Lucida Sans"/>
                <a:ea typeface="Lucida Sans"/>
                <a:cs typeface="Lucida Sans"/>
                <a:sym typeface="Lucida Sans"/>
              </a:rPr>
              <a:t>GenAI</a:t>
            </a:r>
            <a:r>
              <a:rPr b="0" i="0" lang="en" sz="2000" u="none">
                <a:latin typeface="Lucida Sans"/>
                <a:ea typeface="Lucida Sans"/>
                <a:cs typeface="Lucida Sans"/>
                <a:sym typeface="Lucida Sans"/>
              </a:rPr>
              <a:t> and </a:t>
            </a:r>
            <a:r>
              <a:rPr b="1" lang="en" sz="2000">
                <a:latin typeface="Lucida Sans"/>
                <a:ea typeface="Lucida Sans"/>
                <a:cs typeface="Lucida Sans"/>
                <a:sym typeface="Lucida Sans"/>
              </a:rPr>
              <a:t>genai</a:t>
            </a:r>
            <a:r>
              <a:rPr b="0" i="0" lang="en" sz="2000" u="none">
                <a:latin typeface="Lucida Sans"/>
                <a:ea typeface="Lucida Sans"/>
                <a:cs typeface="Lucida Sans"/>
                <a:sym typeface="Lucida Sans"/>
              </a:rPr>
              <a:t> are two different identifiers in Python.</a:t>
            </a:r>
            <a:endParaRPr/>
          </a:p>
        </p:txBody>
      </p:sp>
      <p:sp>
        <p:nvSpPr>
          <p:cNvPr id="545" name="Google Shape;545;p6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9" name="Shape 549"/>
        <p:cNvGrpSpPr/>
        <p:nvPr/>
      </p:nvGrpSpPr>
      <p:grpSpPr>
        <a:xfrm>
          <a:off x="0" y="0"/>
          <a:ext cx="0" cy="0"/>
          <a:chOff x="0" y="0"/>
          <a:chExt cx="0" cy="0"/>
        </a:xfrm>
      </p:grpSpPr>
      <p:sp>
        <p:nvSpPr>
          <p:cNvPr id="550" name="Google Shape;550;p69"/>
          <p:cNvSpPr txBox="1"/>
          <p:nvPr>
            <p:ph type="title"/>
          </p:nvPr>
        </p:nvSpPr>
        <p:spPr>
          <a:xfrm>
            <a:off x="1393929" y="1301146"/>
            <a:ext cx="6366900" cy="2539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Reserved Words:</a:t>
            </a:r>
            <a:endParaRPr/>
          </a:p>
        </p:txBody>
      </p:sp>
      <p:graphicFrame>
        <p:nvGraphicFramePr>
          <p:cNvPr id="551" name="Google Shape;551;p69"/>
          <p:cNvGraphicFramePr/>
          <p:nvPr/>
        </p:nvGraphicFramePr>
        <p:xfrm>
          <a:off x="685800" y="1428750"/>
          <a:ext cx="3000000" cy="3000000"/>
        </p:xfrm>
        <a:graphic>
          <a:graphicData uri="http://schemas.openxmlformats.org/drawingml/2006/table">
            <a:tbl>
              <a:tblPr>
                <a:noFill/>
                <a:tableStyleId>{5A8DF423-57C0-4EDE-B31E-8917359C4159}</a:tableStyleId>
              </a:tblPr>
              <a:tblGrid>
                <a:gridCol w="2717800"/>
                <a:gridCol w="2717800"/>
                <a:gridCol w="2717800"/>
              </a:tblGrid>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and</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exec</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not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assert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finally</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or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break</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for</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pass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class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from</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print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continue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global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raise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def</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if</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return</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del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import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try</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elif</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in</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while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else</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is</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with</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66700">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except</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lambda</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500"/>
                        <a:buFont typeface="Verdana"/>
                        <a:buNone/>
                      </a:pPr>
                      <a:r>
                        <a:rPr b="0" i="0" lang="en" sz="1500" u="none" cap="none" strike="noStrike">
                          <a:solidFill>
                            <a:srgbClr val="000000"/>
                          </a:solidFill>
                          <a:latin typeface="Verdana"/>
                          <a:ea typeface="Verdana"/>
                          <a:cs typeface="Verdana"/>
                          <a:sym typeface="Verdana"/>
                        </a:rPr>
                        <a:t>yield</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sp>
        <p:nvSpPr>
          <p:cNvPr id="552" name="Google Shape;552;p69"/>
          <p:cNvSpPr txBox="1"/>
          <p:nvPr/>
        </p:nvSpPr>
        <p:spPr>
          <a:xfrm>
            <a:off x="685800" y="1085850"/>
            <a:ext cx="701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Lucida Sans"/>
              <a:buNone/>
            </a:pPr>
            <a:r>
              <a:rPr b="1" i="0" lang="en" sz="2400" u="none">
                <a:solidFill>
                  <a:srgbClr val="0070C0"/>
                </a:solidFill>
                <a:latin typeface="Lucida Sans"/>
                <a:ea typeface="Lucida Sans"/>
                <a:cs typeface="Lucida Sans"/>
                <a:sym typeface="Lucida Sans"/>
              </a:rPr>
              <a:t>Keywords contain lowercase letters only.</a:t>
            </a:r>
            <a:endParaRPr/>
          </a:p>
        </p:txBody>
      </p:sp>
      <p:sp>
        <p:nvSpPr>
          <p:cNvPr id="553" name="Google Shape;553;p6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7" name="Shape 557"/>
        <p:cNvGrpSpPr/>
        <p:nvPr/>
      </p:nvGrpSpPr>
      <p:grpSpPr>
        <a:xfrm>
          <a:off x="0" y="0"/>
          <a:ext cx="0" cy="0"/>
          <a:chOff x="0" y="0"/>
          <a:chExt cx="0" cy="0"/>
        </a:xfrm>
      </p:grpSpPr>
      <p:sp>
        <p:nvSpPr>
          <p:cNvPr id="558" name="Google Shape;558;p70"/>
          <p:cNvSpPr txBox="1"/>
          <p:nvPr>
            <p:ph type="title"/>
          </p:nvPr>
        </p:nvSpPr>
        <p:spPr>
          <a:xfrm>
            <a:off x="749000" y="452150"/>
            <a:ext cx="4380300" cy="132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Variable </a:t>
            </a:r>
            <a:endParaRPr/>
          </a:p>
        </p:txBody>
      </p:sp>
      <p:sp>
        <p:nvSpPr>
          <p:cNvPr id="559" name="Google Shape;559;p70"/>
          <p:cNvSpPr txBox="1"/>
          <p:nvPr>
            <p:ph idx="4294967295" type="body"/>
          </p:nvPr>
        </p:nvSpPr>
        <p:spPr>
          <a:xfrm>
            <a:off x="609600" y="1348675"/>
            <a:ext cx="8153400" cy="3280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Variables are nothing but reserved memory locations to store values. This means that when you create a variable you reserve some space in memory.</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Based on the data type of a variable, the interpreter allocates memory and decides what can be stored in the reserved memory. Therefore, by assigning different data types to variables, you can store integers, decimals, or characters in these variables.</a:t>
            </a:r>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p:txBody>
      </p:sp>
      <p:sp>
        <p:nvSpPr>
          <p:cNvPr id="560" name="Google Shape;560;p7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64" name="Shape 564"/>
        <p:cNvGrpSpPr/>
        <p:nvPr/>
      </p:nvGrpSpPr>
      <p:grpSpPr>
        <a:xfrm>
          <a:off x="0" y="0"/>
          <a:ext cx="0" cy="0"/>
          <a:chOff x="0" y="0"/>
          <a:chExt cx="0" cy="0"/>
        </a:xfrm>
      </p:grpSpPr>
      <p:sp>
        <p:nvSpPr>
          <p:cNvPr id="565" name="Google Shape;565;p71"/>
          <p:cNvSpPr txBox="1"/>
          <p:nvPr>
            <p:ph type="title"/>
          </p:nvPr>
        </p:nvSpPr>
        <p:spPr>
          <a:xfrm>
            <a:off x="500125" y="402951"/>
            <a:ext cx="5359200" cy="18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Assigning Values to Variables:</a:t>
            </a:r>
            <a:endParaRPr/>
          </a:p>
        </p:txBody>
      </p:sp>
      <p:sp>
        <p:nvSpPr>
          <p:cNvPr id="566" name="Google Shape;566;p71"/>
          <p:cNvSpPr txBox="1"/>
          <p:nvPr>
            <p:ph idx="4294967295" type="body"/>
          </p:nvPr>
        </p:nvSpPr>
        <p:spPr>
          <a:xfrm>
            <a:off x="609600" y="1746900"/>
            <a:ext cx="8153400" cy="2882400"/>
          </a:xfrm>
          <a:prstGeom prst="rect">
            <a:avLst/>
          </a:prstGeom>
          <a:noFill/>
          <a:ln>
            <a:noFill/>
          </a:ln>
        </p:spPr>
        <p:txBody>
          <a:bodyPr anchorCtr="0" anchor="t" bIns="45700" lIns="91425" spcFirstLastPara="1" rIns="91425" wrap="square" tIns="45700">
            <a:noAutofit/>
          </a:bodyPr>
          <a:lstStyle/>
          <a:p>
            <a:pPr indent="-317500" lvl="0" marL="342900" marR="0" rtl="0" algn="l">
              <a:lnSpc>
                <a:spcPct val="100000"/>
              </a:lnSpc>
              <a:spcBef>
                <a:spcPts val="0"/>
              </a:spcBef>
              <a:spcAft>
                <a:spcPts val="0"/>
              </a:spcAft>
              <a:buSzPts val="1600"/>
              <a:buFont typeface="Lucida Sans"/>
              <a:buChar char="•"/>
            </a:pPr>
            <a:r>
              <a:rPr b="0" i="0" lang="en" sz="1600" u="none">
                <a:latin typeface="Lucida Sans"/>
                <a:ea typeface="Lucida Sans"/>
                <a:cs typeface="Lucida Sans"/>
                <a:sym typeface="Lucida Sans"/>
              </a:rPr>
              <a:t>Python variables do not have to be explicitly declared to reserve memory space. The declaration happens automatically when you assign a value to a variable. The equal sign (=) is used to assign values to variables.</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counter = 100 # An integer assignment </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miles = 1000.0 # A floating point </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name = "</a:t>
            </a:r>
            <a:r>
              <a:rPr b="1" lang="en" sz="1600">
                <a:latin typeface="Courier New"/>
                <a:ea typeface="Courier New"/>
                <a:cs typeface="Courier New"/>
                <a:sym typeface="Courier New"/>
              </a:rPr>
              <a:t>Frank</a:t>
            </a:r>
            <a:r>
              <a:rPr b="1" i="0" lang="en" sz="1600" u="none" cap="none" strike="noStrike">
                <a:latin typeface="Courier New"/>
                <a:ea typeface="Courier New"/>
                <a:cs typeface="Courier New"/>
                <a:sym typeface="Courier New"/>
              </a:rPr>
              <a:t>" # A string </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print counter </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print miles </a:t>
            </a:r>
            <a:endParaRPr sz="1600"/>
          </a:p>
          <a:p>
            <a:pPr indent="-285750" lvl="1" marL="742950" marR="0" rtl="0" algn="l">
              <a:lnSpc>
                <a:spcPct val="100000"/>
              </a:lnSpc>
              <a:spcBef>
                <a:spcPts val="400"/>
              </a:spcBef>
              <a:spcAft>
                <a:spcPts val="0"/>
              </a:spcAft>
              <a:buClr>
                <a:schemeClr val="accent2"/>
              </a:buClr>
              <a:buSzPts val="2000"/>
              <a:buFont typeface="Courier New"/>
              <a:buNone/>
            </a:pPr>
            <a:r>
              <a:rPr b="1" i="0" lang="en" sz="1600" u="none" cap="none" strike="noStrike">
                <a:latin typeface="Courier New"/>
                <a:ea typeface="Courier New"/>
                <a:cs typeface="Courier New"/>
                <a:sym typeface="Courier New"/>
              </a:rPr>
              <a:t>print name </a:t>
            </a:r>
            <a:endParaRPr sz="1600"/>
          </a:p>
        </p:txBody>
      </p:sp>
      <p:sp>
        <p:nvSpPr>
          <p:cNvPr id="567" name="Google Shape;567;p7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71" name="Shape 571"/>
        <p:cNvGrpSpPr/>
        <p:nvPr/>
      </p:nvGrpSpPr>
      <p:grpSpPr>
        <a:xfrm>
          <a:off x="0" y="0"/>
          <a:ext cx="0" cy="0"/>
          <a:chOff x="0" y="0"/>
          <a:chExt cx="0" cy="0"/>
        </a:xfrm>
      </p:grpSpPr>
      <p:sp>
        <p:nvSpPr>
          <p:cNvPr id="572" name="Google Shape;572;p72"/>
          <p:cNvSpPr txBox="1"/>
          <p:nvPr>
            <p:ph type="title"/>
          </p:nvPr>
        </p:nvSpPr>
        <p:spPr>
          <a:xfrm>
            <a:off x="450375" y="421775"/>
            <a:ext cx="5840100" cy="57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Multiple Assignment:</a:t>
            </a:r>
            <a:endParaRPr/>
          </a:p>
        </p:txBody>
      </p:sp>
      <p:sp>
        <p:nvSpPr>
          <p:cNvPr id="573" name="Google Shape;573;p72"/>
          <p:cNvSpPr txBox="1"/>
          <p:nvPr>
            <p:ph idx="4294967295" type="body"/>
          </p:nvPr>
        </p:nvSpPr>
        <p:spPr>
          <a:xfrm>
            <a:off x="609600" y="1879625"/>
            <a:ext cx="8153400" cy="2749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You can also assign a single value to several variables simultaneously. For example:</a:t>
            </a:r>
            <a:endParaRPr/>
          </a:p>
          <a:p>
            <a:pPr indent="-285750" lvl="1" marL="742950" marR="0" rtl="0" algn="l">
              <a:lnSpc>
                <a:spcPct val="100000"/>
              </a:lnSpc>
              <a:spcBef>
                <a:spcPts val="400"/>
              </a:spcBef>
              <a:spcAft>
                <a:spcPts val="0"/>
              </a:spcAft>
              <a:buClr>
                <a:schemeClr val="accent2"/>
              </a:buClr>
              <a:buSzPts val="2000"/>
              <a:buFont typeface="Courier New"/>
              <a:buNone/>
            </a:pPr>
            <a:r>
              <a:rPr b="1" i="0" lang="en" sz="2000" u="none" cap="none" strike="noStrike">
                <a:latin typeface="Courier New"/>
                <a:ea typeface="Courier New"/>
                <a:cs typeface="Courier New"/>
                <a:sym typeface="Courier New"/>
              </a:rPr>
              <a:t>a = b = c = 1 </a:t>
            </a:r>
            <a:endParaRPr/>
          </a:p>
          <a:p>
            <a:pPr indent="-285750" lvl="1" marL="742950" marR="0" rtl="0" algn="l">
              <a:lnSpc>
                <a:spcPct val="100000"/>
              </a:lnSpc>
              <a:spcBef>
                <a:spcPts val="400"/>
              </a:spcBef>
              <a:spcAft>
                <a:spcPts val="0"/>
              </a:spcAft>
              <a:buClr>
                <a:schemeClr val="accent2"/>
              </a:buClr>
              <a:buSzPts val="2000"/>
              <a:buFont typeface="Courier New"/>
              <a:buNone/>
            </a:pPr>
            <a:r>
              <a:rPr b="1" i="0" lang="en" sz="2000" u="none" cap="none" strike="noStrike">
                <a:latin typeface="Courier New"/>
                <a:ea typeface="Courier New"/>
                <a:cs typeface="Courier New"/>
                <a:sym typeface="Courier New"/>
              </a:rPr>
              <a:t>a, b, c = 1, 2, "</a:t>
            </a:r>
            <a:r>
              <a:rPr b="1" lang="en" sz="2000">
                <a:latin typeface="Courier New"/>
                <a:ea typeface="Courier New"/>
                <a:cs typeface="Courier New"/>
                <a:sym typeface="Courier New"/>
              </a:rPr>
              <a:t>John</a:t>
            </a:r>
            <a:r>
              <a:rPr b="1" i="0" lang="en" sz="2000" u="none" cap="none" strike="noStrike">
                <a:latin typeface="Courier New"/>
                <a:ea typeface="Courier New"/>
                <a:cs typeface="Courier New"/>
                <a:sym typeface="Courier New"/>
              </a:rPr>
              <a:t>" </a:t>
            </a:r>
            <a:endParaRPr/>
          </a:p>
        </p:txBody>
      </p:sp>
      <p:sp>
        <p:nvSpPr>
          <p:cNvPr id="574" name="Google Shape;574;p7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78" name="Shape 578"/>
        <p:cNvGrpSpPr/>
        <p:nvPr/>
      </p:nvGrpSpPr>
      <p:grpSpPr>
        <a:xfrm>
          <a:off x="0" y="0"/>
          <a:ext cx="0" cy="0"/>
          <a:chOff x="0" y="0"/>
          <a:chExt cx="0" cy="0"/>
        </a:xfrm>
      </p:grpSpPr>
      <p:sp>
        <p:nvSpPr>
          <p:cNvPr id="579" name="Google Shape;579;p73"/>
          <p:cNvSpPr txBox="1"/>
          <p:nvPr>
            <p:ph type="title"/>
          </p:nvPr>
        </p:nvSpPr>
        <p:spPr>
          <a:xfrm>
            <a:off x="609602" y="421772"/>
            <a:ext cx="3287400" cy="57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Numbers:</a:t>
            </a:r>
            <a:endParaRPr/>
          </a:p>
        </p:txBody>
      </p:sp>
      <p:sp>
        <p:nvSpPr>
          <p:cNvPr id="580" name="Google Shape;580;p73"/>
          <p:cNvSpPr txBox="1"/>
          <p:nvPr>
            <p:ph idx="4294967295" type="body"/>
          </p:nvPr>
        </p:nvSpPr>
        <p:spPr>
          <a:xfrm>
            <a:off x="609600" y="1215950"/>
            <a:ext cx="8153400" cy="3927300"/>
          </a:xfrm>
          <a:prstGeom prst="rect">
            <a:avLst/>
          </a:prstGeom>
          <a:noFill/>
          <a:ln>
            <a:noFill/>
          </a:ln>
        </p:spPr>
        <p:txBody>
          <a:bodyPr anchorCtr="0" anchor="t" bIns="45700" lIns="91425" spcFirstLastPara="1" rIns="91425" wrap="square" tIns="45700">
            <a:noAutofit/>
          </a:bodyPr>
          <a:lstStyle/>
          <a:p>
            <a:pPr indent="-317500" lvl="0" marL="342900" marR="0" rtl="0" algn="l">
              <a:lnSpc>
                <a:spcPct val="100000"/>
              </a:lnSpc>
              <a:spcBef>
                <a:spcPts val="0"/>
              </a:spcBef>
              <a:spcAft>
                <a:spcPts val="0"/>
              </a:spcAft>
              <a:buSzPts val="1600"/>
              <a:buFont typeface="Lucida Sans"/>
              <a:buChar char="•"/>
            </a:pPr>
            <a:r>
              <a:rPr b="0" i="0" lang="en" sz="1600" u="none">
                <a:latin typeface="Lucida Sans"/>
                <a:ea typeface="Lucida Sans"/>
                <a:cs typeface="Lucida Sans"/>
                <a:sym typeface="Lucida Sans"/>
              </a:rPr>
              <a:t>Number data types store numeric values. They are immutable data types, which means that changing the value of a number data type results in a newly allocated object.</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Number objects are created when you assign a value to them. For example:</a:t>
            </a:r>
            <a:endParaRPr sz="1600"/>
          </a:p>
          <a:p>
            <a:pPr indent="-342900" lvl="0" marL="342900" marR="0" rtl="0" algn="l">
              <a:lnSpc>
                <a:spcPct val="100000"/>
              </a:lnSpc>
              <a:spcBef>
                <a:spcPts val="400"/>
              </a:spcBef>
              <a:spcAft>
                <a:spcPts val="0"/>
              </a:spcAft>
              <a:buClr>
                <a:schemeClr val="accent2"/>
              </a:buClr>
              <a:buSzPts val="2000"/>
              <a:buFont typeface="Lucida Sans"/>
              <a:buNone/>
            </a:pPr>
            <a:r>
              <a:rPr b="0" i="0" lang="en" sz="1600" u="none">
                <a:latin typeface="Lucida Sans"/>
                <a:ea typeface="Lucida Sans"/>
                <a:cs typeface="Lucida Sans"/>
                <a:sym typeface="Lucida Sans"/>
              </a:rPr>
              <a:t>	</a:t>
            </a:r>
            <a:r>
              <a:rPr b="0" i="0" lang="en" sz="1600" u="none">
                <a:latin typeface="Courier New"/>
                <a:ea typeface="Courier New"/>
                <a:cs typeface="Courier New"/>
                <a:sym typeface="Courier New"/>
              </a:rPr>
              <a:t>var1 = 1 </a:t>
            </a:r>
            <a:endParaRPr sz="1600"/>
          </a:p>
          <a:p>
            <a:pPr indent="-342900" lvl="0" marL="342900" marR="0" rtl="0" algn="l">
              <a:lnSpc>
                <a:spcPct val="100000"/>
              </a:lnSpc>
              <a:spcBef>
                <a:spcPts val="400"/>
              </a:spcBef>
              <a:spcAft>
                <a:spcPts val="0"/>
              </a:spcAft>
              <a:buClr>
                <a:schemeClr val="accent2"/>
              </a:buClr>
              <a:buSzPts val="2000"/>
              <a:buFont typeface="Courier New"/>
              <a:buNone/>
            </a:pPr>
            <a:r>
              <a:rPr b="0" i="0" lang="en" sz="1600" u="none">
                <a:latin typeface="Courier New"/>
                <a:ea typeface="Courier New"/>
                <a:cs typeface="Courier New"/>
                <a:sym typeface="Courier New"/>
              </a:rPr>
              <a:t>	var2 = 10</a:t>
            </a:r>
            <a:endParaRPr sz="1600"/>
          </a:p>
          <a:p>
            <a:pPr indent="-342900" lvl="0" marL="342900" marR="0" rtl="0" algn="l">
              <a:lnSpc>
                <a:spcPct val="100000"/>
              </a:lnSpc>
              <a:spcBef>
                <a:spcPts val="400"/>
              </a:spcBef>
              <a:spcAft>
                <a:spcPts val="0"/>
              </a:spcAft>
              <a:buClr>
                <a:schemeClr val="accent2"/>
              </a:buClr>
              <a:buSzPts val="2000"/>
              <a:buFont typeface="Lucida Sans"/>
              <a:buNone/>
            </a:pPr>
            <a:r>
              <a:rPr b="0" i="0" lang="en" sz="1600" u="none">
                <a:latin typeface="Lucida Sans"/>
                <a:ea typeface="Lucida Sans"/>
                <a:cs typeface="Lucida Sans"/>
                <a:sym typeface="Lucida Sans"/>
              </a:rPr>
              <a:t>Python supports four different numerical types:</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int (signed integers)</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long (long integers [can also be represented in octal and hexadecimal])</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float (floating point real values)</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complex (complex numbers)</a:t>
            </a:r>
            <a:endParaRPr sz="1600"/>
          </a:p>
          <a:p>
            <a:pPr indent="-342900" lvl="0" marL="342900" marR="0" rtl="0" algn="l">
              <a:lnSpc>
                <a:spcPct val="100000"/>
              </a:lnSpc>
              <a:spcBef>
                <a:spcPts val="400"/>
              </a:spcBef>
              <a:spcAft>
                <a:spcPts val="0"/>
              </a:spcAft>
              <a:buClr>
                <a:schemeClr val="accent2"/>
              </a:buClr>
              <a:buSzPts val="2000"/>
              <a:buFont typeface="Courier New"/>
              <a:buNone/>
            </a:pPr>
            <a:r>
              <a:rPr b="0" i="0" lang="en" sz="1600" u="none">
                <a:solidFill>
                  <a:schemeClr val="accent2"/>
                </a:solidFill>
                <a:latin typeface="Courier New"/>
                <a:ea typeface="Courier New"/>
                <a:cs typeface="Courier New"/>
                <a:sym typeface="Courier New"/>
              </a:rPr>
              <a:t> </a:t>
            </a:r>
            <a:endParaRPr sz="1600"/>
          </a:p>
        </p:txBody>
      </p:sp>
      <p:sp>
        <p:nvSpPr>
          <p:cNvPr id="581" name="Google Shape;581;p7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5" name="Shape 585"/>
        <p:cNvGrpSpPr/>
        <p:nvPr/>
      </p:nvGrpSpPr>
      <p:grpSpPr>
        <a:xfrm>
          <a:off x="0" y="0"/>
          <a:ext cx="0" cy="0"/>
          <a:chOff x="0" y="0"/>
          <a:chExt cx="0" cy="0"/>
        </a:xfrm>
      </p:grpSpPr>
      <p:sp>
        <p:nvSpPr>
          <p:cNvPr id="586" name="Google Shape;586;p74"/>
          <p:cNvSpPr txBox="1"/>
          <p:nvPr>
            <p:ph type="title"/>
          </p:nvPr>
        </p:nvSpPr>
        <p:spPr>
          <a:xfrm>
            <a:off x="1393929" y="1301146"/>
            <a:ext cx="6366900" cy="2539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Number Examples:</a:t>
            </a:r>
            <a:endParaRPr/>
          </a:p>
        </p:txBody>
      </p:sp>
      <p:graphicFrame>
        <p:nvGraphicFramePr>
          <p:cNvPr id="587" name="Google Shape;587;p74"/>
          <p:cNvGraphicFramePr/>
          <p:nvPr/>
        </p:nvGraphicFramePr>
        <p:xfrm>
          <a:off x="609600" y="1200150"/>
          <a:ext cx="3000000" cy="3000000"/>
        </p:xfrm>
        <a:graphic>
          <a:graphicData uri="http://schemas.openxmlformats.org/drawingml/2006/table">
            <a:tbl>
              <a:tblPr>
                <a:noFill/>
                <a:tableStyleId>{5A8DF423-57C0-4EDE-B31E-8917359C4159}</a:tableStyleId>
              </a:tblPr>
              <a:tblGrid>
                <a:gridCol w="1143000"/>
                <a:gridCol w="3276600"/>
                <a:gridCol w="1695450"/>
                <a:gridCol w="2038350"/>
              </a:tblGrid>
              <a:tr h="278600">
                <a:tc>
                  <a:txBody>
                    <a:bodyPr/>
                    <a:lstStyle/>
                    <a:p>
                      <a:pPr indent="0" lvl="0" marL="0" marR="0" rtl="0" algn="ctr">
                        <a:lnSpc>
                          <a:spcPct val="100000"/>
                        </a:lnSpc>
                        <a:spcBef>
                          <a:spcPts val="0"/>
                        </a:spcBef>
                        <a:spcAft>
                          <a:spcPts val="0"/>
                        </a:spcAft>
                        <a:buClr>
                          <a:srgbClr val="000000"/>
                        </a:buClr>
                        <a:buSzPts val="1400"/>
                        <a:buFont typeface="Verdana"/>
                        <a:buNone/>
                      </a:pPr>
                      <a:r>
                        <a:rPr b="1" i="0" lang="en" sz="1400" u="none" cap="none" strike="noStrike">
                          <a:solidFill>
                            <a:srgbClr val="000000"/>
                          </a:solidFill>
                          <a:latin typeface="Verdana"/>
                          <a:ea typeface="Verdana"/>
                          <a:cs typeface="Verdana"/>
                          <a:sym typeface="Verdana"/>
                        </a:rPr>
                        <a:t>int</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400"/>
                        <a:buFont typeface="Verdana"/>
                        <a:buNone/>
                      </a:pPr>
                      <a:r>
                        <a:rPr b="1" i="0" lang="en" sz="1400" u="none" cap="none" strike="noStrike">
                          <a:solidFill>
                            <a:srgbClr val="000000"/>
                          </a:solidFill>
                          <a:latin typeface="Verdana"/>
                          <a:ea typeface="Verdana"/>
                          <a:cs typeface="Verdana"/>
                          <a:sym typeface="Verdana"/>
                        </a:rPr>
                        <a:t>long</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400"/>
                        <a:buFont typeface="Verdana"/>
                        <a:buNone/>
                      </a:pPr>
                      <a:r>
                        <a:rPr b="1" i="0" lang="en" sz="1400" u="none" cap="none" strike="noStrike">
                          <a:solidFill>
                            <a:srgbClr val="000000"/>
                          </a:solidFill>
                          <a:latin typeface="Verdana"/>
                          <a:ea typeface="Verdana"/>
                          <a:cs typeface="Verdana"/>
                          <a:sym typeface="Verdana"/>
                        </a:rPr>
                        <a:t>float</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400"/>
                        <a:buFont typeface="Verdana"/>
                        <a:buNone/>
                      </a:pPr>
                      <a:r>
                        <a:rPr b="1" i="0" lang="en" sz="1400" u="none" cap="none" strike="noStrike">
                          <a:solidFill>
                            <a:srgbClr val="000000"/>
                          </a:solidFill>
                          <a:latin typeface="Verdana"/>
                          <a:ea typeface="Verdana"/>
                          <a:cs typeface="Verdana"/>
                          <a:sym typeface="Verdana"/>
                        </a:rPr>
                        <a:t>complex</a:t>
                      </a:r>
                      <a:endParaRPr sz="1100"/>
                    </a:p>
                  </a:txBody>
                  <a:tcPr marT="7150" marB="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10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51924361L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3.14j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100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-0x19323L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15.2</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45.j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-786</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0122L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-21.9</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9.322e-36j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80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0xDEFABCECBDAECBFBAEl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32.3+e18</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.876j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-490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535633629843L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-90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-.6545+0J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-0x260</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-052318172735L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-3.25E+101</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3e+26J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278600">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0x69</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-4721885298529L</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70.2-E12</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 sz="1400" u="none" cap="none" strike="noStrike">
                          <a:solidFill>
                            <a:srgbClr val="000000"/>
                          </a:solidFill>
                          <a:latin typeface="Verdana"/>
                          <a:ea typeface="Verdana"/>
                          <a:cs typeface="Verdana"/>
                          <a:sym typeface="Verdana"/>
                        </a:rPr>
                        <a:t>4.53e-7j</a:t>
                      </a:r>
                      <a:endParaRPr sz="1100"/>
                    </a:p>
                  </a:txBody>
                  <a:tcPr marT="7150" marB="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bl>
          </a:graphicData>
        </a:graphic>
      </p:graphicFrame>
      <p:sp>
        <p:nvSpPr>
          <p:cNvPr id="588" name="Google Shape;588;p7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2" name="Shape 592"/>
        <p:cNvGrpSpPr/>
        <p:nvPr/>
      </p:nvGrpSpPr>
      <p:grpSpPr>
        <a:xfrm>
          <a:off x="0" y="0"/>
          <a:ext cx="0" cy="0"/>
          <a:chOff x="0" y="0"/>
          <a:chExt cx="0" cy="0"/>
        </a:xfrm>
      </p:grpSpPr>
      <p:sp>
        <p:nvSpPr>
          <p:cNvPr id="593" name="Google Shape;593;p75"/>
          <p:cNvSpPr txBox="1"/>
          <p:nvPr>
            <p:ph type="title"/>
          </p:nvPr>
        </p:nvSpPr>
        <p:spPr>
          <a:xfrm>
            <a:off x="516725" y="436125"/>
            <a:ext cx="2853900" cy="713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Strings:</a:t>
            </a:r>
            <a:endParaRPr/>
          </a:p>
        </p:txBody>
      </p:sp>
      <p:sp>
        <p:nvSpPr>
          <p:cNvPr id="594" name="Google Shape;594;p75"/>
          <p:cNvSpPr txBox="1"/>
          <p:nvPr>
            <p:ph idx="4294967295" type="body"/>
          </p:nvPr>
        </p:nvSpPr>
        <p:spPr>
          <a:xfrm>
            <a:off x="609600" y="1315500"/>
            <a:ext cx="8153400" cy="3213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Strings in Python are identified as set of characters in between quotation marks.</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Python allows for either pairs of single or double quotes. Subsets of strings can be taken using the slice operator ( [ ] and [ : ] ) with indexes starting at 0 in the beginning of the string and working their way from -1 at the end.</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The plus ( + ) sign is the string concatenation operator, and the asterisk ( * ) is the repetition operator.</a:t>
            </a:r>
            <a:endParaRPr/>
          </a:p>
          <a:p>
            <a:pPr indent="-215900" lvl="0" marL="342900" marR="0" rtl="0" algn="l">
              <a:spcBef>
                <a:spcPts val="400"/>
              </a:spcBef>
              <a:spcAft>
                <a:spcPts val="0"/>
              </a:spcAft>
              <a:buClr>
                <a:schemeClr val="accent2"/>
              </a:buClr>
              <a:buSzPts val="2000"/>
              <a:buFont typeface="Lucida Sans"/>
              <a:buNone/>
            </a:pPr>
            <a:r>
              <a:t/>
            </a:r>
            <a:endParaRPr b="0" i="0" sz="2000" u="none">
              <a:latin typeface="Lucida Sans"/>
              <a:ea typeface="Lucida Sans"/>
              <a:cs typeface="Lucida Sans"/>
              <a:sym typeface="Lucida Sans"/>
            </a:endParaRPr>
          </a:p>
        </p:txBody>
      </p:sp>
      <p:sp>
        <p:nvSpPr>
          <p:cNvPr id="595" name="Google Shape;595;p7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9" name="Shape 599"/>
        <p:cNvGrpSpPr/>
        <p:nvPr/>
      </p:nvGrpSpPr>
      <p:grpSpPr>
        <a:xfrm>
          <a:off x="0" y="0"/>
          <a:ext cx="0" cy="0"/>
          <a:chOff x="0" y="0"/>
          <a:chExt cx="0" cy="0"/>
        </a:xfrm>
      </p:grpSpPr>
      <p:sp>
        <p:nvSpPr>
          <p:cNvPr id="600" name="Google Shape;600;p76"/>
          <p:cNvSpPr txBox="1"/>
          <p:nvPr>
            <p:ph idx="4294967295" type="body"/>
          </p:nvPr>
        </p:nvSpPr>
        <p:spPr>
          <a:xfrm>
            <a:off x="881750" y="105575"/>
            <a:ext cx="7881000" cy="469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1800"/>
              <a:buFont typeface="Courier New"/>
              <a:buNone/>
            </a:pPr>
            <a:r>
              <a:t/>
            </a:r>
            <a:endParaRPr b="1" sz="1200">
              <a:latin typeface="Courier New"/>
              <a:ea typeface="Courier New"/>
              <a:cs typeface="Courier New"/>
              <a:sym typeface="Courier New"/>
            </a:endParaRPr>
          </a:p>
          <a:p>
            <a:pPr indent="-342900" lvl="0" marL="342900" marR="0" rtl="0" algn="l">
              <a:lnSpc>
                <a:spcPct val="100000"/>
              </a:lnSpc>
              <a:spcBef>
                <a:spcPts val="0"/>
              </a:spcBef>
              <a:spcAft>
                <a:spcPts val="0"/>
              </a:spcAft>
              <a:buClr>
                <a:schemeClr val="accent2"/>
              </a:buClr>
              <a:buSzPts val="1800"/>
              <a:buFont typeface="Courier New"/>
              <a:buNone/>
            </a:pPr>
            <a:r>
              <a:t/>
            </a:r>
            <a:endParaRPr b="1" sz="1200">
              <a:latin typeface="Courier New"/>
              <a:ea typeface="Courier New"/>
              <a:cs typeface="Courier New"/>
              <a:sym typeface="Courier New"/>
            </a:endParaRPr>
          </a:p>
          <a:p>
            <a:pPr indent="-342900" lvl="0" marL="342900" marR="0" rtl="0" algn="l">
              <a:lnSpc>
                <a:spcPct val="100000"/>
              </a:lnSpc>
              <a:spcBef>
                <a:spcPts val="0"/>
              </a:spcBef>
              <a:spcAft>
                <a:spcPts val="0"/>
              </a:spcAft>
              <a:buClr>
                <a:schemeClr val="accent2"/>
              </a:buClr>
              <a:buSzPts val="1800"/>
              <a:buFont typeface="Courier New"/>
              <a:buNone/>
            </a:pPr>
            <a:r>
              <a:rPr b="1" i="0" lang="en" sz="1200" u="none">
                <a:latin typeface="Courier New"/>
                <a:ea typeface="Courier New"/>
                <a:cs typeface="Courier New"/>
                <a:sym typeface="Courier New"/>
              </a:rPr>
              <a:t>str = 'Hello World!' </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 # Prints complete string </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str[0] # Prints first character of the string</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str[2:5] # Prints characters starting from 3rd to 6th </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str[2:] # Prints string starting from 3rd character </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 * 2 # Prints string two times </a:t>
            </a:r>
            <a:endParaRPr b="1" sz="1200"/>
          </a:p>
          <a:p>
            <a:pPr indent="-342900" lvl="0" marL="342900" marR="0" rtl="0" algn="l">
              <a:lnSpc>
                <a:spcPct val="100000"/>
              </a:lnSpc>
              <a:spcBef>
                <a:spcPts val="360"/>
              </a:spcBef>
              <a:spcAft>
                <a:spcPts val="0"/>
              </a:spcAft>
              <a:buClr>
                <a:schemeClr val="accent2"/>
              </a:buClr>
              <a:buSzPts val="1800"/>
              <a:buFont typeface="Courier New"/>
              <a:buNone/>
            </a:pPr>
            <a:r>
              <a:rPr b="1" i="0" lang="en" sz="1200" u="none">
                <a:latin typeface="Courier New"/>
                <a:ea typeface="Courier New"/>
                <a:cs typeface="Courier New"/>
                <a:sym typeface="Courier New"/>
              </a:rPr>
              <a:t>print str + "TEST" # Prints concatenated string</a:t>
            </a:r>
            <a:endParaRPr b="1" sz="1200"/>
          </a:p>
          <a:p>
            <a:pPr indent="-342900" lvl="0" marL="342900" marR="0" rtl="0" algn="l">
              <a:lnSpc>
                <a:spcPct val="100000"/>
              </a:lnSpc>
              <a:spcBef>
                <a:spcPts val="360"/>
              </a:spcBef>
              <a:spcAft>
                <a:spcPts val="0"/>
              </a:spcAft>
              <a:buClr>
                <a:schemeClr val="accent2"/>
              </a:buClr>
              <a:buSzPts val="1800"/>
              <a:buFont typeface="Lucida Sans"/>
              <a:buNone/>
            </a:pPr>
            <a:r>
              <a:t/>
            </a:r>
            <a:endParaRPr b="1" i="0" sz="1200" u="none">
              <a:latin typeface="Courier New"/>
              <a:ea typeface="Courier New"/>
              <a:cs typeface="Courier New"/>
              <a:sym typeface="Courier New"/>
            </a:endParaRPr>
          </a:p>
          <a:p>
            <a:pPr indent="-342900" lvl="0" marL="342900" marR="0" rtl="0" algn="l">
              <a:lnSpc>
                <a:spcPct val="100000"/>
              </a:lnSpc>
              <a:spcBef>
                <a:spcPts val="360"/>
              </a:spcBef>
              <a:spcAft>
                <a:spcPts val="0"/>
              </a:spcAft>
              <a:buClr>
                <a:srgbClr val="00B0F0"/>
              </a:buClr>
              <a:buSzPts val="1800"/>
              <a:buFont typeface="Courier New"/>
              <a:buNone/>
            </a:pPr>
            <a:r>
              <a:rPr b="1" i="0" lang="en" sz="1200" u="none">
                <a:latin typeface="Courier New"/>
                <a:ea typeface="Courier New"/>
                <a:cs typeface="Courier New"/>
                <a:sym typeface="Courier New"/>
              </a:rPr>
              <a:t>Output:</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Hello World!</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H</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llo</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llo World!</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Hello World!Hello World!</a:t>
            </a:r>
            <a:endParaRPr b="1" sz="1200"/>
          </a:p>
          <a:p>
            <a:pPr indent="-342900" lvl="0" marL="342900" marR="0" rtl="0" algn="l">
              <a:lnSpc>
                <a:spcPct val="100000"/>
              </a:lnSpc>
              <a:spcBef>
                <a:spcPts val="360"/>
              </a:spcBef>
              <a:spcAft>
                <a:spcPts val="0"/>
              </a:spcAft>
              <a:buClr>
                <a:srgbClr val="FF0000"/>
              </a:buClr>
              <a:buSzPts val="1800"/>
              <a:buFont typeface="Courier New"/>
              <a:buNone/>
            </a:pPr>
            <a:r>
              <a:rPr b="1" i="0" lang="en" sz="1200" u="none">
                <a:latin typeface="Courier New"/>
                <a:ea typeface="Courier New"/>
                <a:cs typeface="Courier New"/>
                <a:sym typeface="Courier New"/>
              </a:rPr>
              <a:t>Hello World!TEST</a:t>
            </a:r>
            <a:endParaRPr b="1" sz="1200"/>
          </a:p>
        </p:txBody>
      </p:sp>
      <p:sp>
        <p:nvSpPr>
          <p:cNvPr id="601" name="Google Shape;601;p7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05" name="Shape 605"/>
        <p:cNvGrpSpPr/>
        <p:nvPr/>
      </p:nvGrpSpPr>
      <p:grpSpPr>
        <a:xfrm>
          <a:off x="0" y="0"/>
          <a:ext cx="0" cy="0"/>
          <a:chOff x="0" y="0"/>
          <a:chExt cx="0" cy="0"/>
        </a:xfrm>
      </p:grpSpPr>
      <p:sp>
        <p:nvSpPr>
          <p:cNvPr id="606" name="Google Shape;606;p77"/>
          <p:cNvSpPr txBox="1"/>
          <p:nvPr>
            <p:ph type="title"/>
          </p:nvPr>
        </p:nvSpPr>
        <p:spPr>
          <a:xfrm>
            <a:off x="1031075" y="751375"/>
            <a:ext cx="3965400" cy="862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Lists:</a:t>
            </a:r>
            <a:endParaRPr/>
          </a:p>
        </p:txBody>
      </p:sp>
      <p:sp>
        <p:nvSpPr>
          <p:cNvPr id="607" name="Google Shape;607;p77"/>
          <p:cNvSpPr txBox="1"/>
          <p:nvPr>
            <p:ph idx="4294967295" type="body"/>
          </p:nvPr>
        </p:nvSpPr>
        <p:spPr>
          <a:xfrm>
            <a:off x="609600" y="1282325"/>
            <a:ext cx="8153400" cy="3347100"/>
          </a:xfrm>
          <a:prstGeom prst="rect">
            <a:avLst/>
          </a:prstGeom>
          <a:noFill/>
          <a:ln>
            <a:noFill/>
          </a:ln>
        </p:spPr>
        <p:txBody>
          <a:bodyPr anchorCtr="0" anchor="t" bIns="45700" lIns="91425" spcFirstLastPara="1" rIns="91425" wrap="square" tIns="45700">
            <a:noAutofit/>
          </a:bodyPr>
          <a:lstStyle/>
          <a:p>
            <a:pPr indent="-317500" lvl="0" marL="342900" marR="0" rtl="0" algn="l">
              <a:lnSpc>
                <a:spcPct val="100000"/>
              </a:lnSpc>
              <a:spcBef>
                <a:spcPts val="0"/>
              </a:spcBef>
              <a:spcAft>
                <a:spcPts val="0"/>
              </a:spcAft>
              <a:buSzPts val="1600"/>
              <a:buFont typeface="Lucida Sans"/>
              <a:buChar char="•"/>
            </a:pPr>
            <a:r>
              <a:rPr b="0" i="0" lang="en" sz="1600" u="none">
                <a:latin typeface="Lucida Sans"/>
                <a:ea typeface="Lucida Sans"/>
                <a:cs typeface="Lucida Sans"/>
                <a:sym typeface="Lucida Sans"/>
              </a:rPr>
              <a:t>Lists are the most versatile of Python's compound data types. A list contains items separated by commas and enclosed within square brackets ([]).</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To some extent, lists are similar to arrays in C. One difference between them is that all the items belonging to a list can be of different data type.</a:t>
            </a:r>
            <a:endParaRPr sz="1600"/>
          </a:p>
          <a:p>
            <a:pPr indent="-317500" lvl="0" marL="342900" marR="0" rtl="0" algn="l">
              <a:lnSpc>
                <a:spcPct val="100000"/>
              </a:lnSpc>
              <a:spcBef>
                <a:spcPts val="400"/>
              </a:spcBef>
              <a:spcAft>
                <a:spcPts val="0"/>
              </a:spcAft>
              <a:buSzPts val="1600"/>
              <a:buFont typeface="Lucida Sans"/>
              <a:buChar char="•"/>
            </a:pPr>
            <a:r>
              <a:rPr b="0" i="0" lang="en" sz="1600" u="none">
                <a:latin typeface="Lucida Sans"/>
                <a:ea typeface="Lucida Sans"/>
                <a:cs typeface="Lucida Sans"/>
                <a:sym typeface="Lucida Sans"/>
              </a:rPr>
              <a:t>The values stored in a list can be accessed using the slice operator ( [ ] and [ : ] ) with indexes starting at 0 in the beginning of the list and working their way to end-1.</a:t>
            </a:r>
            <a:endParaRPr sz="1600"/>
          </a:p>
          <a:p>
            <a:pPr indent="-317500" lvl="0" marL="342900" marR="0" rtl="0" algn="l">
              <a:lnSpc>
                <a:spcPct val="100000"/>
              </a:lnSpc>
              <a:spcBef>
                <a:spcPts val="400"/>
              </a:spcBef>
              <a:spcAft>
                <a:spcPts val="0"/>
              </a:spcAft>
              <a:buClr>
                <a:schemeClr val="accent2"/>
              </a:buClr>
              <a:buSzPts val="1600"/>
              <a:buFont typeface="Lucida Sans"/>
              <a:buChar char="•"/>
            </a:pPr>
            <a:r>
              <a:rPr b="0" i="0" lang="en" sz="1600" u="none">
                <a:latin typeface="Lucida Sans"/>
                <a:ea typeface="Lucida Sans"/>
                <a:cs typeface="Lucida Sans"/>
                <a:sym typeface="Lucida Sans"/>
              </a:rPr>
              <a:t>The plus ( + ) sign is the list concatenation operator, and the asterisk ( * ) is the repetition operator</a:t>
            </a:r>
            <a:r>
              <a:rPr b="0" i="0" lang="en" sz="1600" u="none">
                <a:solidFill>
                  <a:schemeClr val="accent2"/>
                </a:solidFill>
                <a:latin typeface="Lucida Sans"/>
                <a:ea typeface="Lucida Sans"/>
                <a:cs typeface="Lucida Sans"/>
                <a:sym typeface="Lucida Sans"/>
              </a:rPr>
              <a:t>.</a:t>
            </a:r>
            <a:endParaRPr sz="1600"/>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p:txBody>
      </p:sp>
      <p:sp>
        <p:nvSpPr>
          <p:cNvPr id="608" name="Google Shape;608;p7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12" name="Shape 612"/>
        <p:cNvGrpSpPr/>
        <p:nvPr/>
      </p:nvGrpSpPr>
      <p:grpSpPr>
        <a:xfrm>
          <a:off x="0" y="0"/>
          <a:ext cx="0" cy="0"/>
          <a:chOff x="0" y="0"/>
          <a:chExt cx="0" cy="0"/>
        </a:xfrm>
      </p:grpSpPr>
      <p:sp>
        <p:nvSpPr>
          <p:cNvPr id="613" name="Google Shape;613;p78"/>
          <p:cNvSpPr txBox="1"/>
          <p:nvPr>
            <p:ph idx="4294967295" type="body"/>
          </p:nvPr>
        </p:nvSpPr>
        <p:spPr>
          <a:xfrm>
            <a:off x="685800" y="485900"/>
            <a:ext cx="8153400" cy="4371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1600"/>
              <a:buFont typeface="Lucida Sans"/>
              <a:buNone/>
            </a:pPr>
            <a:r>
              <a:rPr b="0" i="0" lang="en" sz="1200" u="none">
                <a:latin typeface="Lucida Sans"/>
                <a:ea typeface="Lucida Sans"/>
                <a:cs typeface="Lucida Sans"/>
                <a:sym typeface="Lucida Sans"/>
              </a:rPr>
              <a:t>list = [ 'abcd', 786 , 2.23, 'john', 70.2 ]</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tinylist = [123, 'john']</a:t>
            </a:r>
            <a:endParaRPr sz="1200"/>
          </a:p>
          <a:p>
            <a:pPr indent="-342900" lvl="0" marL="342900" marR="0" rtl="0" algn="l">
              <a:lnSpc>
                <a:spcPct val="100000"/>
              </a:lnSpc>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list          # Prints complete list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list[0]       # Prints first element of the list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list[1:3]     # Prints elements starting from 2nd till 3rd </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list[2:]      # Prints elements starting from 3rd element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tinylist * 2  # Prints list two times</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list + tinylist # Prints concatenated lists</a:t>
            </a:r>
            <a:endParaRPr sz="1200"/>
          </a:p>
          <a:p>
            <a:pPr indent="-342900" lvl="0" marL="342900" marR="0" rtl="0" algn="l">
              <a:lnSpc>
                <a:spcPct val="100000"/>
              </a:lnSpc>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a:p>
            <a:pPr indent="-342900" lvl="0" marL="342900" marR="0" rtl="0" algn="l">
              <a:lnSpc>
                <a:spcPct val="100000"/>
              </a:lnSpc>
              <a:spcBef>
                <a:spcPts val="320"/>
              </a:spcBef>
              <a:spcAft>
                <a:spcPts val="0"/>
              </a:spcAft>
              <a:buClr>
                <a:srgbClr val="00B0F0"/>
              </a:buClr>
              <a:buSzPts val="1600"/>
              <a:buFont typeface="Lucida Sans"/>
              <a:buNone/>
            </a:pPr>
            <a:r>
              <a:rPr b="0" i="0" lang="en" sz="1200" u="none">
                <a:latin typeface="Lucida Sans"/>
                <a:ea typeface="Lucida Sans"/>
                <a:cs typeface="Lucida Sans"/>
                <a:sym typeface="Lucida Sans"/>
              </a:rPr>
              <a:t>Output:</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 786, 2.23, 'john', 70.2]</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[786, 2.23]</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[2.23, 'john', 70.2]</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[123, 'john', 123, 'john']</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 786, 2.23, 'john', 70.2, 123, 'john']</a:t>
            </a:r>
            <a:endParaRPr sz="1200"/>
          </a:p>
          <a:p>
            <a:pPr indent="-241300" lvl="0" marL="342900" marR="0" rtl="0" algn="l">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p:txBody>
      </p:sp>
      <p:sp>
        <p:nvSpPr>
          <p:cNvPr id="614" name="Google Shape;614;p7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18" name="Shape 618"/>
        <p:cNvGrpSpPr/>
        <p:nvPr/>
      </p:nvGrpSpPr>
      <p:grpSpPr>
        <a:xfrm>
          <a:off x="0" y="0"/>
          <a:ext cx="0" cy="0"/>
          <a:chOff x="0" y="0"/>
          <a:chExt cx="0" cy="0"/>
        </a:xfrm>
      </p:grpSpPr>
      <p:sp>
        <p:nvSpPr>
          <p:cNvPr id="619" name="Google Shape;619;p79"/>
          <p:cNvSpPr txBox="1"/>
          <p:nvPr>
            <p:ph type="title"/>
          </p:nvPr>
        </p:nvSpPr>
        <p:spPr>
          <a:xfrm>
            <a:off x="481375" y="405197"/>
            <a:ext cx="6366900" cy="545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Tuples:</a:t>
            </a:r>
            <a:endParaRPr/>
          </a:p>
        </p:txBody>
      </p:sp>
      <p:sp>
        <p:nvSpPr>
          <p:cNvPr id="620" name="Google Shape;620;p79"/>
          <p:cNvSpPr txBox="1"/>
          <p:nvPr>
            <p:ph idx="4294967295" type="body"/>
          </p:nvPr>
        </p:nvSpPr>
        <p:spPr>
          <a:xfrm>
            <a:off x="715825" y="1365275"/>
            <a:ext cx="8047200" cy="326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A tuple is another sequence data type that is similar to the list. A tuple consists of a number of values separated by commas. Unlike lists, however, tuples are enclosed within parentheses.</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The main differences between lists and tuples are: Lists are enclosed in brackets ( [ ] ), and their elements and size can be changed, while tuples are enclosed in parentheses ( ( ) ) and cannot be updated. Tuples can be thought of as </a:t>
            </a:r>
            <a:r>
              <a:rPr b="1" i="0" lang="en" sz="2000" u="none">
                <a:latin typeface="Lucida Sans"/>
                <a:ea typeface="Lucida Sans"/>
                <a:cs typeface="Lucida Sans"/>
                <a:sym typeface="Lucida Sans"/>
              </a:rPr>
              <a:t>read-only</a:t>
            </a:r>
            <a:r>
              <a:rPr b="0" i="0" lang="en" sz="2000" u="none">
                <a:latin typeface="Lucida Sans"/>
                <a:ea typeface="Lucida Sans"/>
                <a:cs typeface="Lucida Sans"/>
                <a:sym typeface="Lucida Sans"/>
              </a:rPr>
              <a:t> lists.</a:t>
            </a:r>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p:txBody>
      </p:sp>
      <p:sp>
        <p:nvSpPr>
          <p:cNvPr id="621" name="Google Shape;621;p7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25" name="Shape 625"/>
        <p:cNvGrpSpPr/>
        <p:nvPr/>
      </p:nvGrpSpPr>
      <p:grpSpPr>
        <a:xfrm>
          <a:off x="0" y="0"/>
          <a:ext cx="0" cy="0"/>
          <a:chOff x="0" y="0"/>
          <a:chExt cx="0" cy="0"/>
        </a:xfrm>
      </p:grpSpPr>
      <p:sp>
        <p:nvSpPr>
          <p:cNvPr id="626" name="Google Shape;626;p80"/>
          <p:cNvSpPr txBox="1"/>
          <p:nvPr>
            <p:ph idx="4294967295" type="body"/>
          </p:nvPr>
        </p:nvSpPr>
        <p:spPr>
          <a:xfrm>
            <a:off x="609600" y="181000"/>
            <a:ext cx="8153400" cy="4448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1600"/>
              <a:buFont typeface="Lucida Sans"/>
              <a:buNone/>
            </a:pPr>
            <a:r>
              <a:t/>
            </a:r>
            <a:endParaRPr sz="1200">
              <a:latin typeface="Lucida Sans"/>
              <a:ea typeface="Lucida Sans"/>
              <a:cs typeface="Lucida Sans"/>
              <a:sym typeface="Lucida Sans"/>
            </a:endParaRPr>
          </a:p>
          <a:p>
            <a:pPr indent="-342900" lvl="0" marL="342900" marR="0" rtl="0" algn="l">
              <a:lnSpc>
                <a:spcPct val="100000"/>
              </a:lnSpc>
              <a:spcBef>
                <a:spcPts val="0"/>
              </a:spcBef>
              <a:spcAft>
                <a:spcPts val="0"/>
              </a:spcAft>
              <a:buClr>
                <a:schemeClr val="accent2"/>
              </a:buClr>
              <a:buSzPts val="1600"/>
              <a:buFont typeface="Lucida Sans"/>
              <a:buNone/>
            </a:pPr>
            <a:r>
              <a:rPr b="0" i="0" lang="en" sz="1200" u="none">
                <a:latin typeface="Lucida Sans"/>
                <a:ea typeface="Lucida Sans"/>
                <a:cs typeface="Lucida Sans"/>
                <a:sym typeface="Lucida Sans"/>
              </a:rPr>
              <a:t>tuple = ( 'abcd', 786 , 2.23, 'john', 70.2  )</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tinytuple = (123, 'john')</a:t>
            </a:r>
            <a:endParaRPr sz="1200"/>
          </a:p>
          <a:p>
            <a:pPr indent="-342900" lvl="0" marL="342900" marR="0" rtl="0" algn="l">
              <a:lnSpc>
                <a:spcPct val="100000"/>
              </a:lnSpc>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tuple           # Prints complete list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tuple[0]        # Prints first element of the list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tuple[1:3]      # Prints elements starting from 2nd till 3rd </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tuple[2:]       # Prints elements starting from 3rd element</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tinytuple * 2   # Prints list two times</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tuple + tinytuple # Prints concatenated lists</a:t>
            </a:r>
            <a:endParaRPr sz="1200"/>
          </a:p>
          <a:p>
            <a:pPr indent="-342900" lvl="0" marL="342900" marR="0" rtl="0" algn="l">
              <a:lnSpc>
                <a:spcPct val="100000"/>
              </a:lnSpc>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a:p>
            <a:pPr indent="-342900" lvl="0" marL="342900" marR="0" rtl="0" algn="l">
              <a:lnSpc>
                <a:spcPct val="100000"/>
              </a:lnSpc>
              <a:spcBef>
                <a:spcPts val="320"/>
              </a:spcBef>
              <a:spcAft>
                <a:spcPts val="0"/>
              </a:spcAft>
              <a:buClr>
                <a:srgbClr val="00B0F0"/>
              </a:buClr>
              <a:buSzPts val="1600"/>
              <a:buFont typeface="Lucida Sans"/>
              <a:buNone/>
            </a:pPr>
            <a:r>
              <a:rPr b="0" i="0" lang="en" sz="1200" u="none">
                <a:latin typeface="Lucida Sans"/>
                <a:ea typeface="Lucida Sans"/>
                <a:cs typeface="Lucida Sans"/>
                <a:sym typeface="Lucida Sans"/>
              </a:rPr>
              <a:t>OUTPUT:</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 786, 2.23, 'john', 70.2)</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(786, 2.23)</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(2.23, 'john', 70.2)</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(123, 'john', 123, 'john')</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('abcd', 786, 2.23, 'john', 70.2, 123, 'john')</a:t>
            </a:r>
            <a:endParaRPr sz="1200"/>
          </a:p>
          <a:p>
            <a:pPr indent="-241300" lvl="0" marL="342900" marR="0" rtl="0" algn="l">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p:txBody>
      </p:sp>
      <p:sp>
        <p:nvSpPr>
          <p:cNvPr id="627" name="Google Shape;627;p8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31" name="Shape 631"/>
        <p:cNvGrpSpPr/>
        <p:nvPr/>
      </p:nvGrpSpPr>
      <p:grpSpPr>
        <a:xfrm>
          <a:off x="0" y="0"/>
          <a:ext cx="0" cy="0"/>
          <a:chOff x="0" y="0"/>
          <a:chExt cx="0" cy="0"/>
        </a:xfrm>
      </p:grpSpPr>
      <p:sp>
        <p:nvSpPr>
          <p:cNvPr id="632" name="Google Shape;632;p81"/>
          <p:cNvSpPr txBox="1"/>
          <p:nvPr>
            <p:ph type="title"/>
          </p:nvPr>
        </p:nvSpPr>
        <p:spPr>
          <a:xfrm>
            <a:off x="315450" y="371997"/>
            <a:ext cx="6366900" cy="678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1" i="0" lang="en" sz="3600" u="none">
                <a:solidFill>
                  <a:srgbClr val="666699"/>
                </a:solidFill>
                <a:latin typeface="Lucida Sans"/>
                <a:ea typeface="Lucida Sans"/>
                <a:cs typeface="Lucida Sans"/>
                <a:sym typeface="Lucida Sans"/>
              </a:rPr>
              <a:t>Dictionary:</a:t>
            </a:r>
            <a:endParaRPr/>
          </a:p>
        </p:txBody>
      </p:sp>
      <p:sp>
        <p:nvSpPr>
          <p:cNvPr id="633" name="Google Shape;633;p81"/>
          <p:cNvSpPr txBox="1"/>
          <p:nvPr>
            <p:ph idx="4294967295" type="body"/>
          </p:nvPr>
        </p:nvSpPr>
        <p:spPr>
          <a:xfrm>
            <a:off x="609600" y="1348675"/>
            <a:ext cx="8153400" cy="3280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2000"/>
              <a:buFont typeface="Lucida Sans"/>
              <a:buChar char="•"/>
            </a:pPr>
            <a:r>
              <a:rPr b="0" i="0" lang="en" sz="2000" u="none">
                <a:latin typeface="Lucida Sans"/>
                <a:ea typeface="Lucida Sans"/>
                <a:cs typeface="Lucida Sans"/>
                <a:sym typeface="Lucida Sans"/>
              </a:rPr>
              <a:t>Python 's dictionaries are hash table type. They work like associative arrays or hashes found in Perl and consist of </a:t>
            </a:r>
            <a:r>
              <a:rPr b="1" i="0" lang="en" sz="2000" u="none">
                <a:latin typeface="Lucida Sans"/>
                <a:ea typeface="Lucida Sans"/>
                <a:cs typeface="Lucida Sans"/>
                <a:sym typeface="Lucida Sans"/>
              </a:rPr>
              <a:t>key-value</a:t>
            </a:r>
            <a:r>
              <a:rPr b="0" i="0" lang="en" sz="2000" u="none">
                <a:latin typeface="Lucida Sans"/>
                <a:ea typeface="Lucida Sans"/>
                <a:cs typeface="Lucida Sans"/>
                <a:sym typeface="Lucida Sans"/>
              </a:rPr>
              <a:t> pairs. </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Keys can be almost any Python type, but are usually numbers or strings. Values, on the other hand, can be any arbitrary Python object.</a:t>
            </a:r>
            <a:endParaRPr/>
          </a:p>
          <a:p>
            <a:pPr indent="-342900" lvl="0" marL="342900" marR="0" rtl="0" algn="l">
              <a:lnSpc>
                <a:spcPct val="100000"/>
              </a:lnSpc>
              <a:spcBef>
                <a:spcPts val="400"/>
              </a:spcBef>
              <a:spcAft>
                <a:spcPts val="0"/>
              </a:spcAft>
              <a:buSzPts val="2000"/>
              <a:buFont typeface="Lucida Sans"/>
              <a:buChar char="•"/>
            </a:pPr>
            <a:r>
              <a:rPr b="0" i="0" lang="en" sz="2000" u="none">
                <a:latin typeface="Lucida Sans"/>
                <a:ea typeface="Lucida Sans"/>
                <a:cs typeface="Lucida Sans"/>
                <a:sym typeface="Lucida Sans"/>
              </a:rPr>
              <a:t>Dictionaries are enclosed by curly braces ( { } ) and values can be assigned and accessed using square braces ( [] ).</a:t>
            </a:r>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p:txBody>
      </p:sp>
      <p:sp>
        <p:nvSpPr>
          <p:cNvPr id="634" name="Google Shape;634;p8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38" name="Shape 638"/>
        <p:cNvGrpSpPr/>
        <p:nvPr/>
      </p:nvGrpSpPr>
      <p:grpSpPr>
        <a:xfrm>
          <a:off x="0" y="0"/>
          <a:ext cx="0" cy="0"/>
          <a:chOff x="0" y="0"/>
          <a:chExt cx="0" cy="0"/>
        </a:xfrm>
      </p:grpSpPr>
      <p:sp>
        <p:nvSpPr>
          <p:cNvPr id="639" name="Google Shape;639;p82"/>
          <p:cNvSpPr txBox="1"/>
          <p:nvPr>
            <p:ph idx="4294967295" type="body"/>
          </p:nvPr>
        </p:nvSpPr>
        <p:spPr>
          <a:xfrm>
            <a:off x="609600" y="527925"/>
            <a:ext cx="8153400" cy="4101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1600"/>
              <a:buFont typeface="Lucida Sans"/>
              <a:buNone/>
            </a:pPr>
            <a:r>
              <a:rPr b="0" i="0" lang="en" sz="1200" u="none">
                <a:latin typeface="Lucida Sans"/>
                <a:ea typeface="Lucida Sans"/>
                <a:cs typeface="Lucida Sans"/>
                <a:sym typeface="Lucida Sans"/>
              </a:rPr>
              <a:t>dict = {}</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dict['one'] = "This is one"</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dict[2]     = "This is two“</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tinydict = {'name': 'john','code':6734, 'dept': 'sales'}</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dict['one']       # Prints value for 'one' key</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dict[2]           # Prints value for 2 key</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tinydict          # Prints complete dictionary</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tinydict.keys()   # Prints all the keys</a:t>
            </a:r>
            <a:endParaRPr sz="1200"/>
          </a:p>
          <a:p>
            <a:pPr indent="-342900" lvl="0" marL="342900" marR="0" rtl="0" algn="l">
              <a:lnSpc>
                <a:spcPct val="100000"/>
              </a:lnSpc>
              <a:spcBef>
                <a:spcPts val="320"/>
              </a:spcBef>
              <a:spcAft>
                <a:spcPts val="0"/>
              </a:spcAft>
              <a:buClr>
                <a:schemeClr val="accent2"/>
              </a:buClr>
              <a:buSzPts val="1600"/>
              <a:buFont typeface="Lucida Sans"/>
              <a:buNone/>
            </a:pPr>
            <a:r>
              <a:rPr b="0" i="0" lang="en" sz="1200" u="none">
                <a:latin typeface="Lucida Sans"/>
                <a:ea typeface="Lucida Sans"/>
                <a:cs typeface="Lucida Sans"/>
                <a:sym typeface="Lucida Sans"/>
              </a:rPr>
              <a:t>print tinydict.values() # Prints all the values</a:t>
            </a:r>
            <a:endParaRPr sz="1200"/>
          </a:p>
          <a:p>
            <a:pPr indent="-342900" lvl="0" marL="342900" marR="0" rtl="0" algn="l">
              <a:lnSpc>
                <a:spcPct val="100000"/>
              </a:lnSpc>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a:p>
            <a:pPr indent="-342900" lvl="0" marL="342900" marR="0" rtl="0" algn="l">
              <a:lnSpc>
                <a:spcPct val="100000"/>
              </a:lnSpc>
              <a:spcBef>
                <a:spcPts val="320"/>
              </a:spcBef>
              <a:spcAft>
                <a:spcPts val="0"/>
              </a:spcAft>
              <a:buClr>
                <a:srgbClr val="00B0F0"/>
              </a:buClr>
              <a:buSzPts val="1600"/>
              <a:buFont typeface="Lucida Sans"/>
              <a:buNone/>
            </a:pPr>
            <a:r>
              <a:rPr b="0" i="0" lang="en" sz="1200" u="none">
                <a:latin typeface="Lucida Sans"/>
                <a:ea typeface="Lucida Sans"/>
                <a:cs typeface="Lucida Sans"/>
                <a:sym typeface="Lucida Sans"/>
              </a:rPr>
              <a:t>OUTPUT:</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This is one</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This is two</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{'dept': 'sales', 'code': 6734, 'name': 'john'}</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['dept', 'code', 'name']</a:t>
            </a:r>
            <a:endParaRPr sz="1200"/>
          </a:p>
          <a:p>
            <a:pPr indent="-342900" lvl="0" marL="342900" marR="0" rtl="0" algn="l">
              <a:lnSpc>
                <a:spcPct val="100000"/>
              </a:lnSpc>
              <a:spcBef>
                <a:spcPts val="320"/>
              </a:spcBef>
              <a:spcAft>
                <a:spcPts val="0"/>
              </a:spcAft>
              <a:buClr>
                <a:srgbClr val="FF0000"/>
              </a:buClr>
              <a:buSzPts val="1600"/>
              <a:buFont typeface="Lucida Sans"/>
              <a:buNone/>
            </a:pPr>
            <a:r>
              <a:rPr b="0" i="0" lang="en" sz="1200" u="none">
                <a:latin typeface="Lucida Sans"/>
                <a:ea typeface="Lucida Sans"/>
                <a:cs typeface="Lucida Sans"/>
                <a:sym typeface="Lucida Sans"/>
              </a:rPr>
              <a:t>['sales', 6734, 'john']</a:t>
            </a:r>
            <a:endParaRPr sz="1200"/>
          </a:p>
          <a:p>
            <a:pPr indent="-241300" lvl="0" marL="342900" marR="0" rtl="0" algn="l">
              <a:spcBef>
                <a:spcPts val="320"/>
              </a:spcBef>
              <a:spcAft>
                <a:spcPts val="0"/>
              </a:spcAft>
              <a:buClr>
                <a:schemeClr val="accent2"/>
              </a:buClr>
              <a:buSzPts val="1600"/>
              <a:buFont typeface="Lucida Sans"/>
              <a:buNone/>
            </a:pPr>
            <a:r>
              <a:t/>
            </a:r>
            <a:endParaRPr b="0" i="0" sz="1200" u="none">
              <a:latin typeface="Lucida Sans"/>
              <a:ea typeface="Lucida Sans"/>
              <a:cs typeface="Lucida Sans"/>
              <a:sym typeface="Lucida Sans"/>
            </a:endParaRPr>
          </a:p>
        </p:txBody>
      </p:sp>
      <p:sp>
        <p:nvSpPr>
          <p:cNvPr id="640" name="Google Shape;640;p8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OOPs in Python and code in </a:t>
            </a:r>
            <a:r>
              <a:rPr lang="en" u="sng">
                <a:solidFill>
                  <a:schemeClr val="hlink"/>
                </a:solidFill>
                <a:hlinkClick r:id="rId3"/>
              </a:rPr>
              <a:t>Github</a:t>
            </a:r>
            <a:endParaRPr/>
          </a:p>
        </p:txBody>
      </p:sp>
      <p:sp>
        <p:nvSpPr>
          <p:cNvPr id="646" name="Google Shape;646;p8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330200" lvl="0" marL="457200" rtl="0" algn="l">
              <a:spcBef>
                <a:spcPts val="600"/>
              </a:spcBef>
              <a:spcAft>
                <a:spcPts val="0"/>
              </a:spcAft>
              <a:buClr>
                <a:srgbClr val="0D0D0D"/>
              </a:buClr>
              <a:buSzPts val="1600"/>
              <a:buFont typeface="Roboto"/>
              <a:buChar char="●"/>
            </a:pPr>
            <a:r>
              <a:rPr b="1" lang="en" sz="1600">
                <a:solidFill>
                  <a:srgbClr val="0D0D0D"/>
                </a:solidFill>
                <a:highlight>
                  <a:srgbClr val="FFFFFF"/>
                </a:highlight>
                <a:latin typeface="Roboto"/>
                <a:ea typeface="Roboto"/>
                <a:cs typeface="Roboto"/>
                <a:sym typeface="Roboto"/>
              </a:rPr>
              <a:t>Classes and Objects: Define and instantiate reusable blueprints.</a:t>
            </a:r>
            <a:endParaRPr b="1" sz="1600">
              <a:solidFill>
                <a:srgbClr val="0D0D0D"/>
              </a:solidFill>
              <a:highlight>
                <a:srgbClr val="FFFFFF"/>
              </a:highlight>
              <a:latin typeface="Roboto"/>
              <a:ea typeface="Roboto"/>
              <a:cs typeface="Roboto"/>
              <a:sym typeface="Roboto"/>
            </a:endParaRPr>
          </a:p>
          <a:p>
            <a:pPr indent="-330200" lvl="0" marL="457200" rtl="0" algn="l">
              <a:spcBef>
                <a:spcPts val="0"/>
              </a:spcBef>
              <a:spcAft>
                <a:spcPts val="0"/>
              </a:spcAft>
              <a:buClr>
                <a:srgbClr val="0D0D0D"/>
              </a:buClr>
              <a:buSzPts val="1600"/>
              <a:buFont typeface="Roboto"/>
              <a:buChar char="●"/>
            </a:pPr>
            <a:r>
              <a:rPr b="1" lang="en" sz="1600">
                <a:solidFill>
                  <a:srgbClr val="0D0D0D"/>
                </a:solidFill>
                <a:highlight>
                  <a:srgbClr val="FFFFFF"/>
                </a:highlight>
                <a:latin typeface="Roboto"/>
                <a:ea typeface="Roboto"/>
                <a:cs typeface="Roboto"/>
                <a:sym typeface="Roboto"/>
              </a:rPr>
              <a:t>Encapsulation: Bundle data and methods, restrict access.</a:t>
            </a:r>
            <a:endParaRPr b="1" sz="1600">
              <a:solidFill>
                <a:srgbClr val="0D0D0D"/>
              </a:solidFill>
              <a:highlight>
                <a:srgbClr val="FFFFFF"/>
              </a:highlight>
              <a:latin typeface="Roboto"/>
              <a:ea typeface="Roboto"/>
              <a:cs typeface="Roboto"/>
              <a:sym typeface="Roboto"/>
            </a:endParaRPr>
          </a:p>
          <a:p>
            <a:pPr indent="-330200" lvl="0" marL="457200" rtl="0" algn="l">
              <a:spcBef>
                <a:spcPts val="0"/>
              </a:spcBef>
              <a:spcAft>
                <a:spcPts val="0"/>
              </a:spcAft>
              <a:buClr>
                <a:srgbClr val="0D0D0D"/>
              </a:buClr>
              <a:buSzPts val="1600"/>
              <a:buFont typeface="Roboto"/>
              <a:buChar char="●"/>
            </a:pPr>
            <a:r>
              <a:rPr b="1" lang="en" sz="1600">
                <a:solidFill>
                  <a:srgbClr val="0D0D0D"/>
                </a:solidFill>
                <a:highlight>
                  <a:srgbClr val="FFFFFF"/>
                </a:highlight>
                <a:latin typeface="Roboto"/>
                <a:ea typeface="Roboto"/>
                <a:cs typeface="Roboto"/>
                <a:sym typeface="Roboto"/>
              </a:rPr>
              <a:t>Inheritance: Promote code reuse by inheriting attributes and methods.</a:t>
            </a:r>
            <a:endParaRPr b="1" sz="1600">
              <a:solidFill>
                <a:srgbClr val="0D0D0D"/>
              </a:solidFill>
              <a:highlight>
                <a:srgbClr val="FFFFFF"/>
              </a:highlight>
              <a:latin typeface="Roboto"/>
              <a:ea typeface="Roboto"/>
              <a:cs typeface="Roboto"/>
              <a:sym typeface="Roboto"/>
            </a:endParaRPr>
          </a:p>
          <a:p>
            <a:pPr indent="-330200" lvl="0" marL="457200" rtl="0" algn="l">
              <a:spcBef>
                <a:spcPts val="0"/>
              </a:spcBef>
              <a:spcAft>
                <a:spcPts val="0"/>
              </a:spcAft>
              <a:buClr>
                <a:srgbClr val="0D0D0D"/>
              </a:buClr>
              <a:buSzPts val="1600"/>
              <a:buFont typeface="Roboto"/>
              <a:buChar char="●"/>
            </a:pPr>
            <a:r>
              <a:rPr b="1" lang="en" sz="1600">
                <a:solidFill>
                  <a:srgbClr val="0D0D0D"/>
                </a:solidFill>
                <a:highlight>
                  <a:srgbClr val="FFFFFF"/>
                </a:highlight>
                <a:latin typeface="Roboto"/>
                <a:ea typeface="Roboto"/>
                <a:cs typeface="Roboto"/>
                <a:sym typeface="Roboto"/>
              </a:rPr>
              <a:t>Polymorphism: Enable methods to process objects differently based on their class.</a:t>
            </a:r>
            <a:endParaRPr b="1" sz="1600">
              <a:solidFill>
                <a:srgbClr val="0D0D0D"/>
              </a:solidFill>
              <a:highlight>
                <a:srgbClr val="FFFFFF"/>
              </a:highlight>
              <a:latin typeface="Roboto"/>
              <a:ea typeface="Roboto"/>
              <a:cs typeface="Roboto"/>
              <a:sym typeface="Roboto"/>
            </a:endParaRPr>
          </a:p>
          <a:p>
            <a:pPr indent="-330200" lvl="0" marL="457200" rtl="0" algn="l">
              <a:spcBef>
                <a:spcPts val="0"/>
              </a:spcBef>
              <a:spcAft>
                <a:spcPts val="0"/>
              </a:spcAft>
              <a:buClr>
                <a:srgbClr val="0D0D0D"/>
              </a:buClr>
              <a:buSzPts val="1600"/>
              <a:buFont typeface="Roboto"/>
              <a:buChar char="●"/>
            </a:pPr>
            <a:r>
              <a:rPr b="1" lang="en" sz="1600">
                <a:solidFill>
                  <a:srgbClr val="0D0D0D"/>
                </a:solidFill>
                <a:highlight>
                  <a:srgbClr val="FFFFFF"/>
                </a:highlight>
                <a:latin typeface="Roboto"/>
                <a:ea typeface="Roboto"/>
                <a:cs typeface="Roboto"/>
                <a:sym typeface="Roboto"/>
              </a:rPr>
              <a:t>Abstraction: Hide complexity by using abstract classes and methods.</a:t>
            </a:r>
            <a:endParaRPr b="1" sz="1600">
              <a:solidFill>
                <a:srgbClr val="0D0D0D"/>
              </a:solidFill>
              <a:highlight>
                <a:srgbClr val="FFFFFF"/>
              </a:highlight>
              <a:latin typeface="Roboto"/>
              <a:ea typeface="Roboto"/>
              <a:cs typeface="Roboto"/>
              <a:sym typeface="Roboto"/>
            </a:endParaRPr>
          </a:p>
          <a:p>
            <a:pPr indent="0" lvl="0" marL="457200" rtl="0" algn="l">
              <a:spcBef>
                <a:spcPts val="210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1200"/>
              </a:spcAft>
              <a:buNone/>
            </a:pPr>
            <a:r>
              <a:t/>
            </a:r>
            <a:endParaRPr/>
          </a:p>
        </p:txBody>
      </p:sp>
      <p:sp>
        <p:nvSpPr>
          <p:cNvPr id="647" name="Google Shape;647;p8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4"/>
          <p:cNvSpPr txBox="1"/>
          <p:nvPr>
            <p:ph type="title"/>
          </p:nvPr>
        </p:nvSpPr>
        <p:spPr>
          <a:xfrm>
            <a:off x="819150" y="286800"/>
            <a:ext cx="7505700" cy="48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Libraries</a:t>
            </a:r>
            <a:endParaRPr/>
          </a:p>
        </p:txBody>
      </p:sp>
      <p:sp>
        <p:nvSpPr>
          <p:cNvPr id="653" name="Google Shape;653;p8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54" name="Google Shape;654;p84"/>
          <p:cNvPicPr preferRelativeResize="0"/>
          <p:nvPr/>
        </p:nvPicPr>
        <p:blipFill>
          <a:blip r:embed="rId3">
            <a:alphaModFix/>
          </a:blip>
          <a:stretch>
            <a:fillRect/>
          </a:stretch>
        </p:blipFill>
        <p:spPr>
          <a:xfrm>
            <a:off x="583100" y="768000"/>
            <a:ext cx="7300450" cy="398202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5"/>
          <p:cNvSpPr txBox="1"/>
          <p:nvPr>
            <p:ph type="title"/>
          </p:nvPr>
        </p:nvSpPr>
        <p:spPr>
          <a:xfrm>
            <a:off x="627075" y="222250"/>
            <a:ext cx="6643500" cy="552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 -sample code links</a:t>
            </a:r>
            <a:endParaRPr/>
          </a:p>
        </p:txBody>
      </p:sp>
      <p:graphicFrame>
        <p:nvGraphicFramePr>
          <p:cNvPr id="660" name="Google Shape;660;p85"/>
          <p:cNvGraphicFramePr/>
          <p:nvPr/>
        </p:nvGraphicFramePr>
        <p:xfrm>
          <a:off x="627075" y="1147725"/>
          <a:ext cx="3000000" cy="3000000"/>
        </p:xfrm>
        <a:graphic>
          <a:graphicData uri="http://schemas.openxmlformats.org/drawingml/2006/table">
            <a:tbl>
              <a:tblPr>
                <a:noFill/>
                <a:tableStyleId>{A5F71DC0-B734-49B0-82BF-47BBF8BC9791}</a:tableStyleId>
              </a:tblPr>
              <a:tblGrid>
                <a:gridCol w="2058675"/>
                <a:gridCol w="1235375"/>
              </a:tblGrid>
              <a:tr h="452675">
                <a:tc>
                  <a:txBody>
                    <a:bodyPr/>
                    <a:lstStyle/>
                    <a:p>
                      <a:pPr indent="0" lvl="0" marL="0" rtl="0" algn="l">
                        <a:spcBef>
                          <a:spcPts val="0"/>
                        </a:spcBef>
                        <a:spcAft>
                          <a:spcPts val="0"/>
                        </a:spcAft>
                        <a:buNone/>
                      </a:pPr>
                      <a:r>
                        <a:rPr b="1" lang="en" sz="1600"/>
                        <a:t>Variables</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3"/>
                        </a:rPr>
                        <a:t>link</a:t>
                      </a:r>
                      <a:endParaRPr b="1" sz="1600"/>
                    </a:p>
                  </a:txBody>
                  <a:tcPr marT="91425" marB="91425" marR="91425" marL="91425">
                    <a:solidFill>
                      <a:srgbClr val="FFFF00"/>
                    </a:solidFill>
                  </a:tcPr>
                </a:tc>
              </a:tr>
              <a:tr h="452675">
                <a:tc>
                  <a:txBody>
                    <a:bodyPr/>
                    <a:lstStyle/>
                    <a:p>
                      <a:pPr indent="0" lvl="0" marL="0" rtl="0" algn="l">
                        <a:spcBef>
                          <a:spcPts val="0"/>
                        </a:spcBef>
                        <a:spcAft>
                          <a:spcPts val="0"/>
                        </a:spcAft>
                        <a:buNone/>
                      </a:pPr>
                      <a:r>
                        <a:rPr b="1" lang="en" sz="1600"/>
                        <a:t>Operators</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4"/>
                        </a:rPr>
                        <a:t>link</a:t>
                      </a:r>
                      <a:endParaRPr b="1" sz="1600"/>
                    </a:p>
                  </a:txBody>
                  <a:tcPr marT="91425" marB="91425" marR="91425" marL="91425">
                    <a:solidFill>
                      <a:srgbClr val="FFFF00"/>
                    </a:solidFill>
                  </a:tcPr>
                </a:tc>
              </a:tr>
              <a:tr h="376850">
                <a:tc>
                  <a:txBody>
                    <a:bodyPr/>
                    <a:lstStyle/>
                    <a:p>
                      <a:pPr indent="0" lvl="0" marL="0" rtl="0" algn="l">
                        <a:spcBef>
                          <a:spcPts val="0"/>
                        </a:spcBef>
                        <a:spcAft>
                          <a:spcPts val="0"/>
                        </a:spcAft>
                        <a:buNone/>
                      </a:pPr>
                      <a:r>
                        <a:rPr b="1" lang="en" sz="1600"/>
                        <a:t>String</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5"/>
                        </a:rPr>
                        <a:t>link</a:t>
                      </a:r>
                      <a:endParaRPr b="1" sz="1600"/>
                    </a:p>
                  </a:txBody>
                  <a:tcPr marT="91425" marB="91425" marR="91425" marL="91425">
                    <a:solidFill>
                      <a:srgbClr val="FFFF00"/>
                    </a:solidFill>
                  </a:tcPr>
                </a:tc>
              </a:tr>
              <a:tr h="376850">
                <a:tc>
                  <a:txBody>
                    <a:bodyPr/>
                    <a:lstStyle/>
                    <a:p>
                      <a:pPr indent="0" lvl="0" marL="0" rtl="0" algn="l">
                        <a:spcBef>
                          <a:spcPts val="0"/>
                        </a:spcBef>
                        <a:spcAft>
                          <a:spcPts val="0"/>
                        </a:spcAft>
                        <a:buNone/>
                      </a:pPr>
                      <a:r>
                        <a:rPr b="1" lang="en" sz="1600"/>
                        <a:t>List</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6"/>
                        </a:rPr>
                        <a:t>link</a:t>
                      </a:r>
                      <a:endParaRPr b="1" sz="1600"/>
                    </a:p>
                  </a:txBody>
                  <a:tcPr marT="91425" marB="91425" marR="91425" marL="91425">
                    <a:solidFill>
                      <a:srgbClr val="FFFF00"/>
                    </a:solidFill>
                  </a:tcPr>
                </a:tc>
              </a:tr>
              <a:tr h="376850">
                <a:tc>
                  <a:txBody>
                    <a:bodyPr/>
                    <a:lstStyle/>
                    <a:p>
                      <a:pPr indent="0" lvl="0" marL="0" rtl="0" algn="l">
                        <a:spcBef>
                          <a:spcPts val="0"/>
                        </a:spcBef>
                        <a:spcAft>
                          <a:spcPts val="0"/>
                        </a:spcAft>
                        <a:buNone/>
                      </a:pPr>
                      <a:r>
                        <a:rPr b="1" lang="en" sz="1600"/>
                        <a:t>Set</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7"/>
                        </a:rPr>
                        <a:t>link</a:t>
                      </a:r>
                      <a:endParaRPr b="1" sz="1600"/>
                    </a:p>
                  </a:txBody>
                  <a:tcPr marT="91425" marB="91425" marR="91425" marL="91425">
                    <a:solidFill>
                      <a:srgbClr val="FFFF00"/>
                    </a:solidFill>
                  </a:tcPr>
                </a:tc>
              </a:tr>
              <a:tr h="376850">
                <a:tc>
                  <a:txBody>
                    <a:bodyPr/>
                    <a:lstStyle/>
                    <a:p>
                      <a:pPr indent="0" lvl="0" marL="0" rtl="0" algn="l">
                        <a:spcBef>
                          <a:spcPts val="0"/>
                        </a:spcBef>
                        <a:spcAft>
                          <a:spcPts val="0"/>
                        </a:spcAft>
                        <a:buNone/>
                      </a:pPr>
                      <a:r>
                        <a:rPr b="1" lang="en" sz="1600"/>
                        <a:t>Tuple</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8"/>
                        </a:rPr>
                        <a:t>link</a:t>
                      </a:r>
                      <a:endParaRPr b="1" sz="1600"/>
                    </a:p>
                  </a:txBody>
                  <a:tcPr marT="91425" marB="91425" marR="91425" marL="91425">
                    <a:solidFill>
                      <a:srgbClr val="FFFF00"/>
                    </a:solidFill>
                  </a:tcPr>
                </a:tc>
              </a:tr>
              <a:tr h="376850">
                <a:tc>
                  <a:txBody>
                    <a:bodyPr/>
                    <a:lstStyle/>
                    <a:p>
                      <a:pPr indent="0" lvl="0" marL="0" rtl="0" algn="l">
                        <a:spcBef>
                          <a:spcPts val="0"/>
                        </a:spcBef>
                        <a:spcAft>
                          <a:spcPts val="0"/>
                        </a:spcAft>
                        <a:buNone/>
                      </a:pPr>
                      <a:r>
                        <a:rPr b="1" lang="en" sz="1600"/>
                        <a:t>Date</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9"/>
                        </a:rPr>
                        <a:t>link</a:t>
                      </a:r>
                      <a:endParaRPr b="1" sz="1600"/>
                    </a:p>
                  </a:txBody>
                  <a:tcPr marT="91425" marB="91425" marR="91425" marL="91425">
                    <a:solidFill>
                      <a:srgbClr val="FFFF00"/>
                    </a:solidFill>
                  </a:tcPr>
                </a:tc>
              </a:tr>
              <a:tr h="452675">
                <a:tc>
                  <a:txBody>
                    <a:bodyPr/>
                    <a:lstStyle/>
                    <a:p>
                      <a:pPr indent="0" lvl="0" marL="0" rtl="0" algn="l">
                        <a:spcBef>
                          <a:spcPts val="0"/>
                        </a:spcBef>
                        <a:spcAft>
                          <a:spcPts val="0"/>
                        </a:spcAft>
                        <a:buNone/>
                      </a:pPr>
                      <a:r>
                        <a:rPr b="1" lang="en" sz="1600"/>
                        <a:t>Dictionary</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10"/>
                        </a:rPr>
                        <a:t>link</a:t>
                      </a:r>
                      <a:endParaRPr b="1" sz="1600"/>
                    </a:p>
                  </a:txBody>
                  <a:tcPr marT="91425" marB="91425" marR="91425" marL="91425">
                    <a:solidFill>
                      <a:srgbClr val="FFFF00"/>
                    </a:solidFill>
                  </a:tcPr>
                </a:tc>
              </a:tr>
            </a:tbl>
          </a:graphicData>
        </a:graphic>
      </p:graphicFrame>
      <p:graphicFrame>
        <p:nvGraphicFramePr>
          <p:cNvPr id="661" name="Google Shape;661;p85"/>
          <p:cNvGraphicFramePr/>
          <p:nvPr/>
        </p:nvGraphicFramePr>
        <p:xfrm>
          <a:off x="4391075" y="1188125"/>
          <a:ext cx="3000000" cy="3000000"/>
        </p:xfrm>
        <a:graphic>
          <a:graphicData uri="http://schemas.openxmlformats.org/drawingml/2006/table">
            <a:tbl>
              <a:tblPr>
                <a:noFill/>
                <a:tableStyleId>{A5F71DC0-B734-49B0-82BF-47BBF8BC9791}</a:tableStyleId>
              </a:tblPr>
              <a:tblGrid>
                <a:gridCol w="2428375"/>
                <a:gridCol w="1500650"/>
              </a:tblGrid>
              <a:tr h="449675">
                <a:tc>
                  <a:txBody>
                    <a:bodyPr/>
                    <a:lstStyle/>
                    <a:p>
                      <a:pPr indent="0" lvl="0" marL="0" rtl="0" algn="l">
                        <a:spcBef>
                          <a:spcPts val="0"/>
                        </a:spcBef>
                        <a:spcAft>
                          <a:spcPts val="0"/>
                        </a:spcAft>
                        <a:buNone/>
                      </a:pPr>
                      <a:r>
                        <a:rPr b="1" lang="en" sz="1600"/>
                        <a:t>Control stmts</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11"/>
                        </a:rPr>
                        <a:t>link</a:t>
                      </a:r>
                      <a:endParaRPr b="1" sz="1600"/>
                    </a:p>
                  </a:txBody>
                  <a:tcPr marT="91425" marB="91425" marR="91425" marL="91425">
                    <a:solidFill>
                      <a:srgbClr val="FFFF00"/>
                    </a:solidFill>
                  </a:tcPr>
                </a:tc>
              </a:tr>
              <a:tr h="449675">
                <a:tc>
                  <a:txBody>
                    <a:bodyPr/>
                    <a:lstStyle/>
                    <a:p>
                      <a:pPr indent="0" lvl="0" marL="0" rtl="0" algn="l">
                        <a:spcBef>
                          <a:spcPts val="0"/>
                        </a:spcBef>
                        <a:spcAft>
                          <a:spcPts val="0"/>
                        </a:spcAft>
                        <a:buNone/>
                      </a:pPr>
                      <a:r>
                        <a:rPr b="1" lang="en" sz="1600"/>
                        <a:t>Functions</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12"/>
                        </a:rPr>
                        <a:t>link</a:t>
                      </a:r>
                      <a:endParaRPr b="1" sz="1600"/>
                    </a:p>
                  </a:txBody>
                  <a:tcPr marT="91425" marB="91425" marR="91425" marL="91425">
                    <a:solidFill>
                      <a:srgbClr val="FFFF00"/>
                    </a:solidFill>
                  </a:tcPr>
                </a:tc>
              </a:tr>
              <a:tr h="398000">
                <a:tc>
                  <a:txBody>
                    <a:bodyPr/>
                    <a:lstStyle/>
                    <a:p>
                      <a:pPr indent="0" lvl="0" marL="0" rtl="0" algn="l">
                        <a:spcBef>
                          <a:spcPts val="0"/>
                        </a:spcBef>
                        <a:spcAft>
                          <a:spcPts val="0"/>
                        </a:spcAft>
                        <a:buNone/>
                      </a:pPr>
                      <a:r>
                        <a:rPr b="1" lang="en" sz="1600"/>
                        <a:t>FileIO</a:t>
                      </a:r>
                      <a:endParaRPr b="1" sz="1600"/>
                    </a:p>
                  </a:txBody>
                  <a:tcPr marT="91425" marB="91425" marR="91425" marL="91425">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13"/>
                        </a:rPr>
                        <a:t>link</a:t>
                      </a:r>
                      <a:endParaRPr b="1" sz="1600"/>
                    </a:p>
                  </a:txBody>
                  <a:tcPr marT="91425" marB="91425" marR="91425" marL="91425">
                    <a:solidFill>
                      <a:srgbClr val="FFFF00"/>
                    </a:solidFill>
                  </a:tcPr>
                </a:tc>
              </a:tr>
              <a:tr h="398000">
                <a:tc>
                  <a:txBody>
                    <a:bodyPr/>
                    <a:lstStyle/>
                    <a:p>
                      <a:pPr indent="0" lvl="0" marL="0" rtl="0" algn="l">
                        <a:spcBef>
                          <a:spcPts val="0"/>
                        </a:spcBef>
                        <a:spcAft>
                          <a:spcPts val="0"/>
                        </a:spcAft>
                        <a:buNone/>
                      </a:pPr>
                      <a:r>
                        <a:rPr b="1" lang="en"/>
                        <a:t>numpy</a:t>
                      </a:r>
                      <a:endParaRPr b="1"/>
                    </a:p>
                  </a:txBody>
                  <a:tcPr marT="91425" marB="91425" marR="91425" marL="91425">
                    <a:solidFill>
                      <a:srgbClr val="FFFF00"/>
                    </a:solidFill>
                  </a:tcPr>
                </a:tc>
                <a:tc>
                  <a:txBody>
                    <a:bodyPr/>
                    <a:lstStyle/>
                    <a:p>
                      <a:pPr indent="0" lvl="0" marL="0" rtl="0" algn="l">
                        <a:spcBef>
                          <a:spcPts val="0"/>
                        </a:spcBef>
                        <a:spcAft>
                          <a:spcPts val="0"/>
                        </a:spcAft>
                        <a:buNone/>
                      </a:pPr>
                      <a:r>
                        <a:rPr lang="en" u="sng">
                          <a:solidFill>
                            <a:schemeClr val="hlink"/>
                          </a:solidFill>
                          <a:hlinkClick r:id="rId14"/>
                        </a:rPr>
                        <a:t>link</a:t>
                      </a:r>
                      <a:endParaRPr/>
                    </a:p>
                  </a:txBody>
                  <a:tcPr marT="91425" marB="91425" marR="91425" marL="91425">
                    <a:solidFill>
                      <a:srgbClr val="FFFF00"/>
                    </a:solidFill>
                  </a:tcPr>
                </a:tc>
              </a:tr>
              <a:tr h="398000">
                <a:tc>
                  <a:txBody>
                    <a:bodyPr/>
                    <a:lstStyle/>
                    <a:p>
                      <a:pPr indent="0" lvl="0" marL="0" rtl="0" algn="l">
                        <a:spcBef>
                          <a:spcPts val="0"/>
                        </a:spcBef>
                        <a:spcAft>
                          <a:spcPts val="0"/>
                        </a:spcAft>
                        <a:buNone/>
                      </a:pPr>
                      <a:r>
                        <a:rPr b="1" lang="en"/>
                        <a:t>pandas</a:t>
                      </a:r>
                      <a:endParaRPr b="1"/>
                    </a:p>
                  </a:txBody>
                  <a:tcPr marT="91425" marB="91425" marR="91425" marL="91425">
                    <a:solidFill>
                      <a:srgbClr val="FFFF00"/>
                    </a:solidFill>
                  </a:tcPr>
                </a:tc>
                <a:tc>
                  <a:txBody>
                    <a:bodyPr/>
                    <a:lstStyle/>
                    <a:p>
                      <a:pPr indent="0" lvl="0" marL="0" rtl="0" algn="l">
                        <a:spcBef>
                          <a:spcPts val="0"/>
                        </a:spcBef>
                        <a:spcAft>
                          <a:spcPts val="0"/>
                        </a:spcAft>
                        <a:buNone/>
                      </a:pPr>
                      <a:r>
                        <a:rPr lang="en" u="sng">
                          <a:solidFill>
                            <a:schemeClr val="hlink"/>
                          </a:solidFill>
                          <a:hlinkClick r:id="rId15"/>
                        </a:rPr>
                        <a:t>link</a:t>
                      </a:r>
                      <a:endParaRPr/>
                    </a:p>
                  </a:txBody>
                  <a:tcPr marT="91425" marB="91425" marR="91425" marL="91425">
                    <a:solidFill>
                      <a:srgbClr val="FFFF00"/>
                    </a:solidFill>
                  </a:tcPr>
                </a:tc>
              </a:tr>
              <a:tr h="398000">
                <a:tc>
                  <a:txBody>
                    <a:bodyPr/>
                    <a:lstStyle/>
                    <a:p>
                      <a:pPr indent="0" lvl="0" marL="0" rtl="0" algn="l">
                        <a:spcBef>
                          <a:spcPts val="0"/>
                        </a:spcBef>
                        <a:spcAft>
                          <a:spcPts val="0"/>
                        </a:spcAft>
                        <a:buNone/>
                      </a:pPr>
                      <a:r>
                        <a:rPr b="1" lang="en"/>
                        <a:t>pytorch</a:t>
                      </a:r>
                      <a:endParaRPr b="1"/>
                    </a:p>
                  </a:txBody>
                  <a:tcPr marT="91425" marB="91425" marR="91425" marL="91425">
                    <a:lnB cap="flat" cmpd="sng" w="9525">
                      <a:solidFill>
                        <a:srgbClr val="9E9E9E"/>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b="1" lang="en" u="sng">
                          <a:solidFill>
                            <a:schemeClr val="hlink"/>
                          </a:solidFill>
                          <a:hlinkClick r:id="rId16"/>
                        </a:rPr>
                        <a:t>link</a:t>
                      </a:r>
                      <a:endParaRPr b="1"/>
                    </a:p>
                  </a:txBody>
                  <a:tcPr marT="91425" marB="91425" marR="91425" marL="91425">
                    <a:lnB cap="flat" cmpd="sng" w="9525">
                      <a:solidFill>
                        <a:srgbClr val="9E9E9E"/>
                      </a:solidFill>
                      <a:prstDash val="solid"/>
                      <a:round/>
                      <a:headEnd len="sm" w="sm" type="none"/>
                      <a:tailEnd len="sm" w="sm" type="none"/>
                    </a:lnB>
                    <a:solidFill>
                      <a:srgbClr val="FFFF00"/>
                    </a:solidFill>
                  </a:tcPr>
                </a:tc>
              </a:tr>
              <a:tr h="398000">
                <a:tc>
                  <a:txBody>
                    <a:bodyPr/>
                    <a:lstStyle/>
                    <a:p>
                      <a:pPr indent="0" lvl="0" marL="0" rtl="0" algn="l">
                        <a:spcBef>
                          <a:spcPts val="0"/>
                        </a:spcBef>
                        <a:spcAft>
                          <a:spcPts val="0"/>
                        </a:spcAft>
                        <a:buNone/>
                      </a:pPr>
                      <a:r>
                        <a:rPr b="1" lang="en" sz="1600"/>
                        <a:t>PROJECT1(basic)</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b="1" lang="en" sz="1600" u="sng">
                          <a:solidFill>
                            <a:schemeClr val="hlink"/>
                          </a:solidFill>
                          <a:hlinkClick r:id="rId17"/>
                        </a:rPr>
                        <a:t>link</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00"/>
                    </a:solidFill>
                  </a:tcPr>
                </a:tc>
              </a:tr>
              <a:tr h="398000">
                <a:tc>
                  <a:txBody>
                    <a:bodyPr/>
                    <a:lstStyle/>
                    <a:p>
                      <a:pPr indent="0" lvl="0" marL="0" rtl="0" algn="l">
                        <a:spcBef>
                          <a:spcPts val="0"/>
                        </a:spcBef>
                        <a:spcAft>
                          <a:spcPts val="0"/>
                        </a:spcAft>
                        <a:buNone/>
                      </a:pPr>
                      <a:r>
                        <a:rPr b="1" lang="en" sz="1600"/>
                        <a:t>PROJECT1(advanced)</a:t>
                      </a:r>
                      <a:endParaRPr b="1" sz="1600"/>
                    </a:p>
                    <a:p>
                      <a:pPr indent="0" lvl="0" marL="0" rtl="0" algn="l">
                        <a:spcBef>
                          <a:spcPts val="0"/>
                        </a:spcBef>
                        <a:spcAft>
                          <a:spcPts val="0"/>
                        </a:spcAft>
                        <a:buNone/>
                      </a:pPr>
                      <a:r>
                        <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b="1" lang="en" sz="1600"/>
                        <a:t>link</a:t>
                      </a:r>
                      <a:endParaRPr b="1"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00"/>
                    </a:solidFill>
                  </a:tcPr>
                </a:tc>
              </a:tr>
            </a:tbl>
          </a:graphicData>
        </a:graphic>
      </p:graphicFrame>
      <p:sp>
        <p:nvSpPr>
          <p:cNvPr id="662" name="Google Shape;662;p8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6"/>
          <p:cNvSpPr txBox="1"/>
          <p:nvPr>
            <p:ph type="title"/>
          </p:nvPr>
        </p:nvSpPr>
        <p:spPr>
          <a:xfrm>
            <a:off x="819150" y="304800"/>
            <a:ext cx="7505700" cy="46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uniqueness</a:t>
            </a:r>
            <a:endParaRPr/>
          </a:p>
        </p:txBody>
      </p:sp>
      <p:sp>
        <p:nvSpPr>
          <p:cNvPr id="668" name="Google Shape;668;p86"/>
          <p:cNvSpPr txBox="1"/>
          <p:nvPr>
            <p:ph idx="1" type="body"/>
          </p:nvPr>
        </p:nvSpPr>
        <p:spPr>
          <a:xfrm>
            <a:off x="819150" y="965200"/>
            <a:ext cx="1673100" cy="3473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a:t>Tuples</a:t>
            </a:r>
            <a:endParaRPr b="1"/>
          </a:p>
          <a:p>
            <a:pPr indent="0" lvl="0" marL="0" rtl="0" algn="l">
              <a:spcBef>
                <a:spcPts val="1200"/>
              </a:spcBef>
              <a:spcAft>
                <a:spcPts val="0"/>
              </a:spcAft>
              <a:buNone/>
            </a:pPr>
            <a:r>
              <a:rPr b="1" lang="en"/>
              <a:t>Dict</a:t>
            </a:r>
            <a:endParaRPr b="1"/>
          </a:p>
          <a:p>
            <a:pPr indent="0" lvl="0" marL="0" rtl="0" algn="l">
              <a:spcBef>
                <a:spcPts val="1200"/>
              </a:spcBef>
              <a:spcAft>
                <a:spcPts val="0"/>
              </a:spcAft>
              <a:buNone/>
            </a:pPr>
            <a:r>
              <a:rPr b="1" lang="en"/>
              <a:t>// operator</a:t>
            </a:r>
            <a:endParaRPr b="1"/>
          </a:p>
          <a:p>
            <a:pPr indent="0" lvl="0" marL="0" rtl="0" algn="l">
              <a:spcBef>
                <a:spcPts val="1200"/>
              </a:spcBef>
              <a:spcAft>
                <a:spcPts val="0"/>
              </a:spcAft>
              <a:buNone/>
            </a:pPr>
            <a:r>
              <a:rPr b="1" lang="en"/>
              <a:t>Lambda function</a:t>
            </a:r>
            <a:endParaRPr b="1"/>
          </a:p>
          <a:p>
            <a:pPr indent="0" lvl="0" marL="0" rtl="0" algn="l">
              <a:spcBef>
                <a:spcPts val="1200"/>
              </a:spcBef>
              <a:spcAft>
                <a:spcPts val="0"/>
              </a:spcAft>
              <a:buNone/>
            </a:pPr>
            <a:r>
              <a:rPr b="1" lang="en"/>
              <a:t>Range</a:t>
            </a:r>
            <a:endParaRPr b="1"/>
          </a:p>
          <a:p>
            <a:pPr indent="0" lvl="0" marL="0" rtl="0" algn="l">
              <a:spcBef>
                <a:spcPts val="1200"/>
              </a:spcBef>
              <a:spcAft>
                <a:spcPts val="0"/>
              </a:spcAft>
              <a:buNone/>
            </a:pPr>
            <a:r>
              <a:rPr b="1" lang="en"/>
              <a:t>** operator</a:t>
            </a:r>
            <a:endParaRPr b="1"/>
          </a:p>
          <a:p>
            <a:pPr indent="0" lvl="0" marL="0" rtl="0" algn="l">
              <a:spcBef>
                <a:spcPts val="1200"/>
              </a:spcBef>
              <a:spcAft>
                <a:spcPts val="0"/>
              </a:spcAft>
              <a:buNone/>
            </a:pPr>
            <a:r>
              <a:rPr b="1" lang="en"/>
              <a:t>“”” print syntax</a:t>
            </a:r>
            <a:endParaRPr b="1"/>
          </a:p>
          <a:p>
            <a:pPr indent="0" lvl="0" marL="0" rtl="0" algn="l">
              <a:spcBef>
                <a:spcPts val="1200"/>
              </a:spcBef>
              <a:spcAft>
                <a:spcPts val="0"/>
              </a:spcAft>
              <a:buNone/>
            </a:pPr>
            <a:r>
              <a:rPr b="1" lang="en"/>
              <a:t>F” “</a:t>
            </a:r>
            <a:endParaRPr b="1"/>
          </a:p>
          <a:p>
            <a:pPr indent="0" lvl="0" marL="0" rtl="0" algn="l">
              <a:spcBef>
                <a:spcPts val="1200"/>
              </a:spcBef>
              <a:spcAft>
                <a:spcPts val="0"/>
              </a:spcAft>
              <a:buNone/>
            </a:pPr>
            <a:r>
              <a:rPr b="1" lang="en"/>
              <a:t># inline comments</a:t>
            </a:r>
            <a:endParaRPr b="1"/>
          </a:p>
          <a:p>
            <a:pPr indent="0" lvl="0" marL="0" rtl="0" algn="l">
              <a:spcBef>
                <a:spcPts val="1200"/>
              </a:spcBef>
              <a:spcAft>
                <a:spcPts val="0"/>
              </a:spcAft>
              <a:buNone/>
            </a:pPr>
            <a:r>
              <a:rPr b="1" lang="en"/>
              <a:t>Return a,b</a:t>
            </a:r>
            <a:endParaRPr b="1"/>
          </a:p>
          <a:p>
            <a:pPr indent="0" lvl="0" marL="0" rtl="0" algn="l">
              <a:spcBef>
                <a:spcPts val="1200"/>
              </a:spcBef>
              <a:spcAft>
                <a:spcPts val="0"/>
              </a:spcAft>
              <a:buNone/>
            </a:pPr>
            <a:r>
              <a:rPr b="1" lang="en"/>
              <a:t>a,b = 2,5</a:t>
            </a:r>
            <a:endParaRPr b="1"/>
          </a:p>
          <a:p>
            <a:pPr indent="0" lvl="0" marL="0" rtl="0" algn="l">
              <a:spcBef>
                <a:spcPts val="1200"/>
              </a:spcBef>
              <a:spcAft>
                <a:spcPts val="1200"/>
              </a:spcAft>
              <a:buNone/>
            </a:pPr>
            <a:r>
              <a:t/>
            </a:r>
            <a:endParaRPr/>
          </a:p>
        </p:txBody>
      </p:sp>
      <p:sp>
        <p:nvSpPr>
          <p:cNvPr id="669" name="Google Shape;669;p86"/>
          <p:cNvSpPr txBox="1"/>
          <p:nvPr>
            <p:ph idx="1" type="body"/>
          </p:nvPr>
        </p:nvSpPr>
        <p:spPr>
          <a:xfrm>
            <a:off x="3128500" y="965200"/>
            <a:ext cx="1673100" cy="357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Continue,pass,break</a:t>
            </a:r>
            <a:endParaRPr b="1"/>
          </a:p>
          <a:p>
            <a:pPr indent="0" lvl="0" marL="0" rtl="0" algn="l">
              <a:spcBef>
                <a:spcPts val="1200"/>
              </a:spcBef>
              <a:spcAft>
                <a:spcPts val="0"/>
              </a:spcAft>
              <a:buNone/>
            </a:pPr>
            <a:r>
              <a:rPr b="1" lang="en"/>
              <a:t>Random library</a:t>
            </a:r>
            <a:endParaRPr b="1"/>
          </a:p>
          <a:p>
            <a:pPr indent="0" lvl="0" marL="0" rtl="0" algn="l">
              <a:spcBef>
                <a:spcPts val="1200"/>
              </a:spcBef>
              <a:spcAft>
                <a:spcPts val="0"/>
              </a:spcAft>
              <a:buNone/>
            </a:pPr>
            <a:r>
              <a:rPr b="1" lang="en"/>
              <a:t>Dir function</a:t>
            </a:r>
            <a:endParaRPr b="1"/>
          </a:p>
          <a:p>
            <a:pPr indent="0" lvl="0" marL="0" rtl="0" algn="l">
              <a:spcBef>
                <a:spcPts val="1200"/>
              </a:spcBef>
              <a:spcAft>
                <a:spcPts val="0"/>
              </a:spcAft>
              <a:buNone/>
            </a:pPr>
            <a:r>
              <a:rPr b="1" lang="en"/>
              <a:t>Sys vs argparse</a:t>
            </a:r>
            <a:endParaRPr b="1"/>
          </a:p>
          <a:p>
            <a:pPr indent="0" lvl="0" marL="0" rtl="0" algn="l">
              <a:spcBef>
                <a:spcPts val="1200"/>
              </a:spcBef>
              <a:spcAft>
                <a:spcPts val="0"/>
              </a:spcAft>
              <a:buNone/>
            </a:pPr>
            <a:r>
              <a:rPr b="1" lang="en"/>
              <a:t>Match is like case</a:t>
            </a:r>
            <a:endParaRPr b="1"/>
          </a:p>
          <a:p>
            <a:pPr indent="0" lvl="0" marL="0" rtl="0" algn="l">
              <a:spcBef>
                <a:spcPts val="1200"/>
              </a:spcBef>
              <a:spcAft>
                <a:spcPts val="0"/>
              </a:spcAft>
              <a:buNone/>
            </a:pPr>
            <a:r>
              <a:rPr b="1" lang="en"/>
              <a:t>Positional, keyword orgs</a:t>
            </a:r>
            <a:endParaRPr b="1"/>
          </a:p>
          <a:p>
            <a:pPr indent="0" lvl="0" marL="0" rtl="0" algn="l">
              <a:spcBef>
                <a:spcPts val="1200"/>
              </a:spcBef>
              <a:spcAft>
                <a:spcPts val="0"/>
              </a:spcAft>
              <a:buNone/>
            </a:pPr>
            <a:r>
              <a:rPr b="1" lang="en"/>
              <a:t>Compare seq objects</a:t>
            </a:r>
            <a:endParaRPr b="1"/>
          </a:p>
          <a:p>
            <a:pPr indent="0" lvl="0" marL="0" rtl="0" algn="l">
              <a:spcBef>
                <a:spcPts val="1200"/>
              </a:spcBef>
              <a:spcAft>
                <a:spcPts val="1200"/>
              </a:spcAft>
              <a:buNone/>
            </a:pPr>
            <a:r>
              <a:t/>
            </a:r>
            <a:endParaRPr/>
          </a:p>
        </p:txBody>
      </p:sp>
      <p:sp>
        <p:nvSpPr>
          <p:cNvPr id="670" name="Google Shape;670;p8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Next week Homework</a:t>
            </a:r>
            <a:endParaRPr/>
          </a:p>
        </p:txBody>
      </p:sp>
      <p:sp>
        <p:nvSpPr>
          <p:cNvPr id="676" name="Google Shape;676;p8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sz="1600">
                <a:solidFill>
                  <a:srgbClr val="0D0D0D"/>
                </a:solidFill>
                <a:highlight>
                  <a:srgbClr val="FFFFFF"/>
                </a:highlight>
                <a:latin typeface="Roboto"/>
                <a:ea typeface="Roboto"/>
                <a:cs typeface="Roboto"/>
                <a:sym typeface="Roboto"/>
              </a:rPr>
              <a:t>Create a Python program to process a CSV file containing student data, including first name, last name, and marks for three subjects: Maths, English, and Science. The program should calculate statistical metrics (mean, median, maximum, and minimum) for each subject and compute the GPA and overall class rank for each student. The GPA should be on a scale of 4, with 4 being the highest, corresponding to perfect scores in all subjects. The output should include the original student data with additional columns for class rank and GPA.</a:t>
            </a:r>
            <a:endParaRPr b="1" sz="16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
        <p:nvSpPr>
          <p:cNvPr id="677" name="Google Shape;677;p8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8"/>
          <p:cNvSpPr txBox="1"/>
          <p:nvPr>
            <p:ph type="title"/>
          </p:nvPr>
        </p:nvSpPr>
        <p:spPr>
          <a:xfrm>
            <a:off x="819150" y="492125"/>
            <a:ext cx="7505700" cy="52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Advanced Python Next week Homework</a:t>
            </a:r>
            <a:endParaRPr/>
          </a:p>
        </p:txBody>
      </p:sp>
      <p:sp>
        <p:nvSpPr>
          <p:cNvPr id="683" name="Google Shape;683;p88"/>
          <p:cNvSpPr txBox="1"/>
          <p:nvPr>
            <p:ph idx="1" type="body"/>
          </p:nvPr>
        </p:nvSpPr>
        <p:spPr>
          <a:xfrm>
            <a:off x="819150" y="1015925"/>
            <a:ext cx="7505700" cy="342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200">
                <a:solidFill>
                  <a:srgbClr val="0D0D0D"/>
                </a:solidFill>
                <a:highlight>
                  <a:srgbClr val="FFFFFF"/>
                </a:highlight>
                <a:latin typeface="Roboto"/>
                <a:ea typeface="Roboto"/>
                <a:cs typeface="Roboto"/>
                <a:sym typeface="Roboto"/>
              </a:rPr>
              <a:t>"I aim to develop a predictive model leveraging historical vehicle data. The model will utilize attributes such as vehicle make, model, manufacturing year, and mileage to forecast the maximum potential lifespan of a vehicle.</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1200">
                <a:solidFill>
                  <a:srgbClr val="0D0D0D"/>
                </a:solidFill>
                <a:highlight>
                  <a:srgbClr val="FFFFFF"/>
                </a:highlight>
                <a:latin typeface="Roboto"/>
                <a:ea typeface="Roboto"/>
                <a:cs typeface="Roboto"/>
                <a:sym typeface="Roboto"/>
              </a:rPr>
              <a:t>Initially, I'll gather historical data for a specific vehicle make, recording various models along with their respective manufacturing years and mileage. This data will serve as the foundation for training the predictive model.</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1200">
                <a:solidFill>
                  <a:srgbClr val="0D0D0D"/>
                </a:solidFill>
                <a:highlight>
                  <a:srgbClr val="FFFFFF"/>
                </a:highlight>
                <a:latin typeface="Roboto"/>
                <a:ea typeface="Roboto"/>
                <a:cs typeface="Roboto"/>
                <a:sym typeface="Roboto"/>
              </a:rPr>
              <a:t>Once the historical data is collected, I'll train a machine learning model using regression techniques, tailoring it to predict the maximum lifespan of vehicles based on their manufacturing year and mileage. The model will learn from the historical data to make accurate predictions.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1200">
                <a:solidFill>
                  <a:srgbClr val="0D0D0D"/>
                </a:solidFill>
                <a:highlight>
                  <a:srgbClr val="FFFFFF"/>
                </a:highlight>
                <a:latin typeface="Roboto"/>
                <a:ea typeface="Roboto"/>
                <a:cs typeface="Roboto"/>
                <a:sym typeface="Roboto"/>
              </a:rPr>
              <a:t>Upon completion of model training, I'll deploy the model to accept new vehicle data as input. Users will provide details such as vehicle make, model, manufacturing year, and mileage, for which the model will generate a forecast of the vehicle's maximum potential lifespan.</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rPr lang="en" sz="1200">
                <a:solidFill>
                  <a:srgbClr val="0D0D0D"/>
                </a:solidFill>
                <a:highlight>
                  <a:srgbClr val="FFFFFF"/>
                </a:highlight>
                <a:latin typeface="Roboto"/>
                <a:ea typeface="Roboto"/>
                <a:cs typeface="Roboto"/>
                <a:sym typeface="Roboto"/>
              </a:rPr>
              <a:t>By implementing this predictive model, I aim to assist users in estimating the longevity of their vehicles, enabling informed decision-making regarding maintenance and replacement strategies."</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rPr lang="en"/>
              <a:t>Hint: use SKLEARN and LinerRegression</a:t>
            </a:r>
            <a:endParaRPr/>
          </a:p>
        </p:txBody>
      </p:sp>
      <p:sp>
        <p:nvSpPr>
          <p:cNvPr id="684" name="Google Shape;684;p8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89"/>
          <p:cNvSpPr txBox="1"/>
          <p:nvPr>
            <p:ph type="title"/>
          </p:nvPr>
        </p:nvSpPr>
        <p:spPr>
          <a:xfrm>
            <a:off x="819150" y="492125"/>
            <a:ext cx="7505700" cy="52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 Project Using any ML pkg</a:t>
            </a:r>
            <a:endParaRPr/>
          </a:p>
        </p:txBody>
      </p:sp>
      <p:sp>
        <p:nvSpPr>
          <p:cNvPr id="690" name="Google Shape;690;p89"/>
          <p:cNvSpPr txBox="1"/>
          <p:nvPr>
            <p:ph idx="1" type="body"/>
          </p:nvPr>
        </p:nvSpPr>
        <p:spPr>
          <a:xfrm>
            <a:off x="819150" y="1015925"/>
            <a:ext cx="7014600" cy="3734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b="1" lang="en" sz="2000">
                <a:solidFill>
                  <a:srgbClr val="0D0D0D"/>
                </a:solidFill>
                <a:highlight>
                  <a:srgbClr val="FFFFFF"/>
                </a:highlight>
                <a:latin typeface="Roboto"/>
                <a:ea typeface="Roboto"/>
                <a:cs typeface="Roboto"/>
                <a:sym typeface="Roboto"/>
              </a:rPr>
              <a:t>Go to any public available data sets of reviews for movies or restaurants and based on review classify the data is Positive/Negative or Neutral</a:t>
            </a:r>
            <a:endParaRPr b="1" sz="1008">
              <a:solidFill>
                <a:srgbClr val="0D0D0D"/>
              </a:solidFill>
              <a:highlight>
                <a:srgbClr val="FFFFFF"/>
              </a:highlight>
              <a:latin typeface="Roboto"/>
              <a:ea typeface="Roboto"/>
              <a:cs typeface="Roboto"/>
              <a:sym typeface="Roboto"/>
            </a:endParaRPr>
          </a:p>
          <a:p>
            <a:pPr indent="0" lvl="0" marL="0" rtl="0" algn="l">
              <a:lnSpc>
                <a:spcPct val="95000"/>
              </a:lnSpc>
              <a:spcBef>
                <a:spcPts val="1200"/>
              </a:spcBef>
              <a:spcAft>
                <a:spcPts val="0"/>
              </a:spcAft>
              <a:buSzPts val="523"/>
              <a:buNone/>
            </a:pPr>
            <a:r>
              <a:rPr b="1" lang="en" sz="960" u="sng">
                <a:solidFill>
                  <a:srgbClr val="000000"/>
                </a:solidFill>
                <a:latin typeface="Arial"/>
                <a:ea typeface="Arial"/>
                <a:cs typeface="Arial"/>
                <a:sym typeface="Arial"/>
              </a:rPr>
              <a:t>Positive Review</a:t>
            </a:r>
            <a:endParaRPr b="1" sz="960" u="sng">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960">
                <a:solidFill>
                  <a:srgbClr val="000000"/>
                </a:solidFill>
                <a:latin typeface="Arial"/>
                <a:ea typeface="Arial"/>
                <a:cs typeface="Arial"/>
                <a:sym typeface="Arial"/>
              </a:rPr>
              <a:t>"This film is a masterpiece of storytelling, featuring exceptional performances by the cast. The cinematography is stunning, and the direction is impeccable. It's a deeply emotional experience that will leave you thinking long after the credits roll. Highly recommend to anyone looking for a powerful and moving cinematic journey."</a:t>
            </a:r>
            <a:endParaRPr b="1" sz="960">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960" u="sng">
                <a:solidFill>
                  <a:srgbClr val="000000"/>
                </a:solidFill>
                <a:latin typeface="Arial"/>
                <a:ea typeface="Arial"/>
                <a:cs typeface="Arial"/>
                <a:sym typeface="Arial"/>
              </a:rPr>
              <a:t>Negative Review</a:t>
            </a:r>
            <a:endParaRPr b="1" sz="960" u="sng">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960">
                <a:solidFill>
                  <a:srgbClr val="000000"/>
                </a:solidFill>
                <a:latin typeface="Arial"/>
                <a:ea typeface="Arial"/>
                <a:cs typeface="Arial"/>
                <a:sym typeface="Arial"/>
              </a:rPr>
              <a:t>"This movie was a huge disappointment. The plot was incoherent, and the characters were poorly developed. The special effects looked cheap, and the dialogue was cringeworthy. It felt like a waste of time and money. I wouldn't recommend this to anyone."</a:t>
            </a:r>
            <a:endParaRPr b="1" sz="960">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960" u="sng">
                <a:solidFill>
                  <a:srgbClr val="000000"/>
                </a:solidFill>
                <a:latin typeface="Arial"/>
                <a:ea typeface="Arial"/>
                <a:cs typeface="Arial"/>
                <a:sym typeface="Arial"/>
              </a:rPr>
              <a:t>Neutral Review</a:t>
            </a:r>
            <a:endParaRPr b="1" sz="960" u="sng">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960">
                <a:solidFill>
                  <a:srgbClr val="000000"/>
                </a:solidFill>
                <a:latin typeface="Arial"/>
                <a:ea typeface="Arial"/>
                <a:cs typeface="Arial"/>
                <a:sym typeface="Arial"/>
              </a:rPr>
              <a:t>"The movie had its moments of brilliance, with some well-executed scenes and decent acting. However, it struggled with pacing issues, and some parts felt dragged out. It's an average film that might appeal to fans of the genre but doesn't stand out as particularly memorable or groundbreaking."</a:t>
            </a:r>
            <a:endParaRPr b="1" sz="960">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t/>
            </a:r>
            <a:endParaRPr b="1" sz="770">
              <a:solidFill>
                <a:srgbClr val="0D0D0D"/>
              </a:solidFill>
              <a:highlight>
                <a:srgbClr val="FFFFFF"/>
              </a:highlight>
              <a:latin typeface="Roboto"/>
              <a:ea typeface="Roboto"/>
              <a:cs typeface="Roboto"/>
              <a:sym typeface="Roboto"/>
            </a:endParaRPr>
          </a:p>
          <a:p>
            <a:pPr indent="0" lvl="0" marL="0" rtl="0" algn="l">
              <a:lnSpc>
                <a:spcPct val="95000"/>
              </a:lnSpc>
              <a:spcBef>
                <a:spcPts val="1200"/>
              </a:spcBef>
              <a:spcAft>
                <a:spcPts val="0"/>
              </a:spcAft>
              <a:buSzPts val="523"/>
              <a:buNone/>
            </a:pPr>
            <a:r>
              <a:t/>
            </a:r>
            <a:endParaRPr b="1" sz="770">
              <a:solidFill>
                <a:srgbClr val="0D0D0D"/>
              </a:solidFill>
              <a:highlight>
                <a:srgbClr val="FFFFFF"/>
              </a:highlight>
              <a:latin typeface="Roboto"/>
              <a:ea typeface="Roboto"/>
              <a:cs typeface="Roboto"/>
              <a:sym typeface="Roboto"/>
            </a:endParaRPr>
          </a:p>
          <a:p>
            <a:pPr indent="0" lvl="0" marL="0" rtl="0" algn="l">
              <a:lnSpc>
                <a:spcPct val="95000"/>
              </a:lnSpc>
              <a:spcBef>
                <a:spcPts val="1200"/>
              </a:spcBef>
              <a:spcAft>
                <a:spcPts val="1200"/>
              </a:spcAft>
              <a:buSzPts val="523"/>
              <a:buNone/>
            </a:pPr>
            <a:r>
              <a:t/>
            </a:r>
            <a:endParaRPr sz="770">
              <a:solidFill>
                <a:srgbClr val="0D0D0D"/>
              </a:solidFill>
              <a:highlight>
                <a:srgbClr val="FFFFFF"/>
              </a:highlight>
              <a:latin typeface="Roboto"/>
              <a:ea typeface="Roboto"/>
              <a:cs typeface="Roboto"/>
              <a:sym typeface="Roboto"/>
            </a:endParaRPr>
          </a:p>
        </p:txBody>
      </p:sp>
      <p:sp>
        <p:nvSpPr>
          <p:cNvPr id="691" name="Google Shape;691;p8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0"/>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Neural Networks</a:t>
            </a:r>
            <a:endParaRPr/>
          </a:p>
        </p:txBody>
      </p:sp>
      <p:sp>
        <p:nvSpPr>
          <p:cNvPr id="697" name="Google Shape;697;p90"/>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98" name="Google Shape;698;p9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91"/>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Neural Networks</a:t>
            </a:r>
            <a:endParaRPr/>
          </a:p>
        </p:txBody>
      </p:sp>
      <p:sp>
        <p:nvSpPr>
          <p:cNvPr id="704" name="Google Shape;704;p91"/>
          <p:cNvSpPr txBox="1"/>
          <p:nvPr/>
        </p:nvSpPr>
        <p:spPr>
          <a:xfrm>
            <a:off x="790375" y="1233525"/>
            <a:ext cx="7963500" cy="3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50">
                <a:solidFill>
                  <a:srgbClr val="333333"/>
                </a:solidFill>
              </a:rPr>
              <a:t>A neural network is a method in artificial intelligence that teaches computers to process data in a way that is inspired by the human brain. It is a type of machine learning process, called deep learning, that uses interconnected nodes or neurons in a layered structure that resembles the human brain. It creates an adaptive system that computers use to learn from their mistakes and improve continuously. Thus, artificial neural networks attempt to solve complicated problems, like summarizing documents or recognizing faces, with greater accuracy.</a:t>
            </a:r>
            <a:endParaRPr b="1" sz="2100">
              <a:solidFill>
                <a:schemeClr val="dk2"/>
              </a:solidFill>
              <a:latin typeface="Calibri"/>
              <a:ea typeface="Calibri"/>
              <a:cs typeface="Calibri"/>
              <a:sym typeface="Calibri"/>
            </a:endParaRPr>
          </a:p>
        </p:txBody>
      </p:sp>
      <p:sp>
        <p:nvSpPr>
          <p:cNvPr id="705" name="Google Shape;705;p9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92"/>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a:t>
            </a:r>
            <a:endParaRPr/>
          </a:p>
        </p:txBody>
      </p:sp>
      <p:sp>
        <p:nvSpPr>
          <p:cNvPr id="711" name="Google Shape;711;p92"/>
          <p:cNvSpPr txBox="1"/>
          <p:nvPr/>
        </p:nvSpPr>
        <p:spPr>
          <a:xfrm>
            <a:off x="790375" y="1233525"/>
            <a:ext cx="5162400" cy="3264000"/>
          </a:xfrm>
          <a:prstGeom prst="rect">
            <a:avLst/>
          </a:prstGeom>
          <a:noFill/>
          <a:ln>
            <a:noFill/>
          </a:ln>
        </p:spPr>
        <p:txBody>
          <a:bodyPr anchorCtr="0" anchor="t" bIns="91425" lIns="91425" spcFirstLastPara="1" rIns="91425" wrap="square" tIns="91425">
            <a:noAutofit/>
          </a:bodyPr>
          <a:lstStyle/>
          <a:p>
            <a:pPr indent="-346075" lvl="0" marL="457200" rtl="0" algn="l">
              <a:spcBef>
                <a:spcPts val="0"/>
              </a:spcBef>
              <a:spcAft>
                <a:spcPts val="0"/>
              </a:spcAft>
              <a:buClr>
                <a:srgbClr val="333333"/>
              </a:buClr>
              <a:buSzPts val="1850"/>
              <a:buChar char="●"/>
            </a:pPr>
            <a:r>
              <a:rPr b="1" lang="en" sz="1850">
                <a:solidFill>
                  <a:srgbClr val="333333"/>
                </a:solidFill>
              </a:rPr>
              <a:t>Perceptron</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Multi Layer</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Feedforward</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Recurrent</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Modular</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Radial state machine</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Liquid state machine</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Residual</a:t>
            </a:r>
            <a:endParaRPr b="1" sz="1850">
              <a:solidFill>
                <a:srgbClr val="333333"/>
              </a:solidFill>
            </a:endParaRPr>
          </a:p>
          <a:p>
            <a:pPr indent="-346075" lvl="0" marL="457200" rtl="0" algn="l">
              <a:spcBef>
                <a:spcPts val="0"/>
              </a:spcBef>
              <a:spcAft>
                <a:spcPts val="0"/>
              </a:spcAft>
              <a:buClr>
                <a:srgbClr val="333333"/>
              </a:buClr>
              <a:buSzPts val="1850"/>
              <a:buChar char="●"/>
            </a:pPr>
            <a:r>
              <a:rPr b="1" lang="en" sz="1850">
                <a:solidFill>
                  <a:srgbClr val="333333"/>
                </a:solidFill>
              </a:rPr>
              <a:t>Convolutional NN</a:t>
            </a:r>
            <a:endParaRPr b="1" sz="1850">
              <a:solidFill>
                <a:srgbClr val="333333"/>
              </a:solidFill>
            </a:endParaRPr>
          </a:p>
          <a:p>
            <a:pPr indent="0" lvl="0" marL="0" rtl="0" algn="l">
              <a:spcBef>
                <a:spcPts val="0"/>
              </a:spcBef>
              <a:spcAft>
                <a:spcPts val="0"/>
              </a:spcAft>
              <a:buNone/>
            </a:pPr>
            <a:r>
              <a:t/>
            </a:r>
            <a:endParaRPr b="1" sz="1850">
              <a:solidFill>
                <a:srgbClr val="333333"/>
              </a:solidFill>
            </a:endParaRPr>
          </a:p>
        </p:txBody>
      </p:sp>
      <p:sp>
        <p:nvSpPr>
          <p:cNvPr id="712" name="Google Shape;712;p9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93"/>
          <p:cNvSpPr txBox="1"/>
          <p:nvPr>
            <p:ph type="title"/>
          </p:nvPr>
        </p:nvSpPr>
        <p:spPr>
          <a:xfrm>
            <a:off x="819150" y="319975"/>
            <a:ext cx="7505700" cy="61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a:t>
            </a:r>
            <a:r>
              <a:rPr lang="en" u="sng">
                <a:solidFill>
                  <a:schemeClr val="hlink"/>
                </a:solidFill>
                <a:hlinkClick r:id="rId3"/>
              </a:rPr>
              <a:t>Architecture</a:t>
            </a:r>
            <a:endParaRPr/>
          </a:p>
        </p:txBody>
      </p:sp>
      <p:sp>
        <p:nvSpPr>
          <p:cNvPr id="718" name="Google Shape;718;p93"/>
          <p:cNvSpPr txBox="1"/>
          <p:nvPr>
            <p:ph idx="1" type="body"/>
          </p:nvPr>
        </p:nvSpPr>
        <p:spPr>
          <a:xfrm>
            <a:off x="819150" y="801150"/>
            <a:ext cx="7505700" cy="3932400"/>
          </a:xfrm>
          <a:prstGeom prst="rect">
            <a:avLst/>
          </a:prstGeom>
        </p:spPr>
        <p:txBody>
          <a:bodyPr anchorCtr="0" anchor="t" bIns="91425" lIns="91425" spcFirstLastPara="1" rIns="91425" wrap="square" tIns="91425">
            <a:noAutofit/>
          </a:bodyPr>
          <a:lstStyle/>
          <a:p>
            <a:pPr indent="0" lvl="0" marL="0" rtl="0" algn="l">
              <a:lnSpc>
                <a:spcPct val="130000"/>
              </a:lnSpc>
              <a:spcBef>
                <a:spcPts val="1200"/>
              </a:spcBef>
              <a:spcAft>
                <a:spcPts val="0"/>
              </a:spcAft>
              <a:buSzPts val="935"/>
              <a:buNone/>
            </a:pPr>
            <a:r>
              <a:t/>
            </a:r>
            <a:endParaRPr b="1" sz="1220">
              <a:solidFill>
                <a:srgbClr val="222222"/>
              </a:solidFill>
              <a:latin typeface="Roboto"/>
              <a:ea typeface="Roboto"/>
              <a:cs typeface="Roboto"/>
              <a:sym typeface="Roboto"/>
            </a:endParaRPr>
          </a:p>
          <a:p>
            <a:pPr indent="0" lvl="0" marL="0" rtl="0" algn="l">
              <a:lnSpc>
                <a:spcPct val="95000"/>
              </a:lnSpc>
              <a:spcBef>
                <a:spcPts val="1200"/>
              </a:spcBef>
              <a:spcAft>
                <a:spcPts val="1200"/>
              </a:spcAft>
              <a:buSzPts val="935"/>
              <a:buNone/>
            </a:pPr>
            <a:r>
              <a:t/>
            </a:r>
            <a:endParaRPr sz="1105"/>
          </a:p>
        </p:txBody>
      </p:sp>
      <p:pic>
        <p:nvPicPr>
          <p:cNvPr id="719" name="Google Shape;719;p93"/>
          <p:cNvPicPr preferRelativeResize="0"/>
          <p:nvPr/>
        </p:nvPicPr>
        <p:blipFill>
          <a:blip r:embed="rId4">
            <a:alphaModFix/>
          </a:blip>
          <a:stretch>
            <a:fillRect/>
          </a:stretch>
        </p:blipFill>
        <p:spPr>
          <a:xfrm>
            <a:off x="964700" y="933775"/>
            <a:ext cx="6655076" cy="3799775"/>
          </a:xfrm>
          <a:prstGeom prst="rect">
            <a:avLst/>
          </a:prstGeom>
          <a:noFill/>
          <a:ln>
            <a:noFill/>
          </a:ln>
        </p:spPr>
      </p:pic>
      <p:sp>
        <p:nvSpPr>
          <p:cNvPr id="720" name="Google Shape;720;p9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4"/>
          <p:cNvSpPr txBox="1"/>
          <p:nvPr>
            <p:ph type="title"/>
          </p:nvPr>
        </p:nvSpPr>
        <p:spPr>
          <a:xfrm>
            <a:off x="819150" y="319975"/>
            <a:ext cx="7505700" cy="61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Neural Networks</a:t>
            </a:r>
            <a:endParaRPr/>
          </a:p>
        </p:txBody>
      </p:sp>
      <p:sp>
        <p:nvSpPr>
          <p:cNvPr id="726" name="Google Shape;726;p94"/>
          <p:cNvSpPr txBox="1"/>
          <p:nvPr>
            <p:ph idx="1" type="body"/>
          </p:nvPr>
        </p:nvSpPr>
        <p:spPr>
          <a:xfrm>
            <a:off x="819150" y="801150"/>
            <a:ext cx="7505700" cy="3932400"/>
          </a:xfrm>
          <a:prstGeom prst="rect">
            <a:avLst/>
          </a:prstGeom>
        </p:spPr>
        <p:txBody>
          <a:bodyPr anchorCtr="0" anchor="t" bIns="91425" lIns="91425" spcFirstLastPara="1" rIns="91425" wrap="square" tIns="91425">
            <a:noAutofit/>
          </a:bodyPr>
          <a:lstStyle/>
          <a:p>
            <a:pPr indent="0" lvl="0" marL="0" rtl="0" algn="l">
              <a:lnSpc>
                <a:spcPct val="130000"/>
              </a:lnSpc>
              <a:spcBef>
                <a:spcPts val="1200"/>
              </a:spcBef>
              <a:spcAft>
                <a:spcPts val="0"/>
              </a:spcAft>
              <a:buSzPts val="935"/>
              <a:buNone/>
            </a:pPr>
            <a:r>
              <a:rPr lang="en" sz="1220">
                <a:solidFill>
                  <a:srgbClr val="222222"/>
                </a:solidFill>
                <a:latin typeface="Roboto"/>
                <a:ea typeface="Roboto"/>
                <a:cs typeface="Roboto"/>
                <a:sym typeface="Roboto"/>
              </a:rPr>
              <a:t>T</a:t>
            </a:r>
            <a:r>
              <a:rPr b="1" lang="en" sz="1220">
                <a:solidFill>
                  <a:srgbClr val="222222"/>
                </a:solidFill>
                <a:latin typeface="Roboto"/>
                <a:ea typeface="Roboto"/>
                <a:cs typeface="Roboto"/>
                <a:sym typeface="Roboto"/>
              </a:rPr>
              <a:t>ransformer neural networks are worth highlighting because they have assumed a place of outsized importance in the AI models in widespread use today.</a:t>
            </a:r>
            <a:endParaRPr b="1" sz="1220">
              <a:solidFill>
                <a:srgbClr val="222222"/>
              </a:solidFill>
              <a:latin typeface="Roboto"/>
              <a:ea typeface="Roboto"/>
              <a:cs typeface="Roboto"/>
              <a:sym typeface="Roboto"/>
            </a:endParaRPr>
          </a:p>
          <a:p>
            <a:pPr indent="0" lvl="0" marL="0" rtl="0" algn="l">
              <a:lnSpc>
                <a:spcPct val="130000"/>
              </a:lnSpc>
              <a:spcBef>
                <a:spcPts val="1200"/>
              </a:spcBef>
              <a:spcAft>
                <a:spcPts val="0"/>
              </a:spcAft>
              <a:buSzPts val="935"/>
              <a:buNone/>
            </a:pPr>
            <a:r>
              <a:rPr b="1" lang="en" sz="1220">
                <a:solidFill>
                  <a:srgbClr val="222222"/>
                </a:solidFill>
                <a:latin typeface="Roboto"/>
                <a:ea typeface="Roboto"/>
                <a:cs typeface="Roboto"/>
                <a:sym typeface="Roboto"/>
              </a:rPr>
              <a:t>First </a:t>
            </a:r>
            <a:r>
              <a:rPr b="1" lang="en" sz="1220">
                <a:solidFill>
                  <a:schemeClr val="hlink"/>
                </a:solidFill>
                <a:uFill>
                  <a:noFill/>
                </a:uFill>
                <a:latin typeface="Roboto"/>
                <a:ea typeface="Roboto"/>
                <a:cs typeface="Roboto"/>
                <a:sym typeface="Roboto"/>
                <a:hlinkClick r:id="rId3"/>
              </a:rPr>
              <a:t>proposed</a:t>
            </a:r>
            <a:r>
              <a:rPr b="1" lang="en" sz="1220">
                <a:solidFill>
                  <a:srgbClr val="222222"/>
                </a:solidFill>
                <a:latin typeface="Roboto"/>
                <a:ea typeface="Roboto"/>
                <a:cs typeface="Roboto"/>
                <a:sym typeface="Roboto"/>
              </a:rPr>
              <a:t> in 2017, transformer models are neural networks that use a technique called "self-attention" to take into account the context of elements in a sequence, not just the elements themselves. Via self-attention, they can detect even subtle ways that parts of a data set relate to each other.</a:t>
            </a:r>
            <a:endParaRPr b="1" sz="1220">
              <a:solidFill>
                <a:srgbClr val="222222"/>
              </a:solidFill>
              <a:latin typeface="Roboto"/>
              <a:ea typeface="Roboto"/>
              <a:cs typeface="Roboto"/>
              <a:sym typeface="Roboto"/>
            </a:endParaRPr>
          </a:p>
          <a:p>
            <a:pPr indent="0" lvl="0" marL="0" rtl="0" algn="l">
              <a:lnSpc>
                <a:spcPct val="130000"/>
              </a:lnSpc>
              <a:spcBef>
                <a:spcPts val="1200"/>
              </a:spcBef>
              <a:spcAft>
                <a:spcPts val="0"/>
              </a:spcAft>
              <a:buSzPts val="935"/>
              <a:buNone/>
            </a:pPr>
            <a:r>
              <a:rPr b="1" lang="en" sz="1220">
                <a:solidFill>
                  <a:srgbClr val="222222"/>
                </a:solidFill>
                <a:latin typeface="Roboto"/>
                <a:ea typeface="Roboto"/>
                <a:cs typeface="Roboto"/>
                <a:sym typeface="Roboto"/>
              </a:rPr>
              <a:t>This ability makes them ideal for analyzing (for example) sentences and paragraphs of text, as opposed to just individual words and phrases. Before transformer models were developed, AI models that processed text would often "forget" the beginning of a sentence by the time they got to the end of it, with the result that they would combine phrases and ideas in ways that did not make sense to human readers. Transformer models, however, can process and generate human language in a much more natural way.</a:t>
            </a:r>
            <a:endParaRPr b="1" sz="1220">
              <a:solidFill>
                <a:srgbClr val="222222"/>
              </a:solidFill>
              <a:latin typeface="Roboto"/>
              <a:ea typeface="Roboto"/>
              <a:cs typeface="Roboto"/>
              <a:sym typeface="Roboto"/>
            </a:endParaRPr>
          </a:p>
          <a:p>
            <a:pPr indent="0" lvl="0" marL="0" rtl="0" algn="l">
              <a:lnSpc>
                <a:spcPct val="130000"/>
              </a:lnSpc>
              <a:spcBef>
                <a:spcPts val="1200"/>
              </a:spcBef>
              <a:spcAft>
                <a:spcPts val="0"/>
              </a:spcAft>
              <a:buSzPts val="935"/>
              <a:buNone/>
            </a:pPr>
            <a:r>
              <a:rPr b="1" lang="en" sz="1220">
                <a:solidFill>
                  <a:srgbClr val="222222"/>
                </a:solidFill>
                <a:latin typeface="Roboto"/>
                <a:ea typeface="Roboto"/>
                <a:cs typeface="Roboto"/>
                <a:sym typeface="Roboto"/>
              </a:rPr>
              <a:t>Transformer models are an integral component of </a:t>
            </a:r>
            <a:r>
              <a:rPr b="1" lang="en" sz="1220">
                <a:solidFill>
                  <a:schemeClr val="hlink"/>
                </a:solidFill>
                <a:uFill>
                  <a:noFill/>
                </a:uFill>
                <a:latin typeface="Roboto"/>
                <a:ea typeface="Roboto"/>
                <a:cs typeface="Roboto"/>
                <a:sym typeface="Roboto"/>
                <a:hlinkClick r:id="rId4"/>
              </a:rPr>
              <a:t>generative AI</a:t>
            </a:r>
            <a:r>
              <a:rPr b="1" lang="en" sz="1220">
                <a:solidFill>
                  <a:srgbClr val="222222"/>
                </a:solidFill>
                <a:latin typeface="Roboto"/>
                <a:ea typeface="Roboto"/>
                <a:cs typeface="Roboto"/>
                <a:sym typeface="Roboto"/>
              </a:rPr>
              <a:t>, in particular LLMs that can produce text in response to arbitrary human prompts.</a:t>
            </a:r>
            <a:endParaRPr b="1" sz="1220">
              <a:solidFill>
                <a:srgbClr val="222222"/>
              </a:solidFill>
              <a:latin typeface="Roboto"/>
              <a:ea typeface="Roboto"/>
              <a:cs typeface="Roboto"/>
              <a:sym typeface="Roboto"/>
            </a:endParaRPr>
          </a:p>
          <a:p>
            <a:pPr indent="0" lvl="0" marL="0" rtl="0" algn="l">
              <a:lnSpc>
                <a:spcPct val="95000"/>
              </a:lnSpc>
              <a:spcBef>
                <a:spcPts val="1200"/>
              </a:spcBef>
              <a:spcAft>
                <a:spcPts val="1200"/>
              </a:spcAft>
              <a:buSzPts val="935"/>
              <a:buNone/>
            </a:pPr>
            <a:r>
              <a:t/>
            </a:r>
            <a:endParaRPr sz="1105"/>
          </a:p>
        </p:txBody>
      </p:sp>
      <p:sp>
        <p:nvSpPr>
          <p:cNvPr id="727" name="Google Shape;727;p9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ML Algorithms</a:t>
            </a:r>
            <a:endParaRPr/>
          </a:p>
        </p:txBody>
      </p:sp>
      <p:sp>
        <p:nvSpPr>
          <p:cNvPr id="733" name="Google Shape;733;p95"/>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734" name="Google Shape;734;p9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6"/>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40" name="Google Shape;740;p96"/>
          <p:cNvSpPr txBox="1"/>
          <p:nvPr/>
        </p:nvSpPr>
        <p:spPr>
          <a:xfrm>
            <a:off x="251250" y="1204725"/>
            <a:ext cx="8395800" cy="295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Simple Analogies</a:t>
            </a:r>
            <a:endParaRPr b="1" sz="1650">
              <a:solidFill>
                <a:srgbClr val="0D0D0D"/>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Supervised Learning: A student learning math problems with the help of a teacher who provides the correct answers.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Unsupervised Learning: A child sorting a mixed box of Lego pieces by shape and color without any instructions.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Self-Supervised Learning: Reading a book where some words are blanked out and using the surrounding text to guess the missing words.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Semi-Supervised Learning: Learning to cook with a few recipes (labeled data) and experimenting with new ingredients on your own (unlabeled data).</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AutoNum type="arabicPeriod"/>
            </a:pPr>
            <a:r>
              <a:rPr lang="en" sz="1200">
                <a:solidFill>
                  <a:srgbClr val="0D0D0D"/>
                </a:solidFill>
                <a:highlight>
                  <a:srgbClr val="FFFFFF"/>
                </a:highlight>
                <a:latin typeface="Roboto"/>
                <a:ea typeface="Roboto"/>
                <a:cs typeface="Roboto"/>
                <a:sym typeface="Roboto"/>
              </a:rPr>
              <a:t>Reinforcement Learning: A video game player trying different strategies to win a game, learning from both wins (rewards) and losses (penalties).</a:t>
            </a:r>
            <a:endParaRPr sz="1200">
              <a:solidFill>
                <a:srgbClr val="0D0D0D"/>
              </a:solidFill>
              <a:highlight>
                <a:srgbClr val="FFFFFF"/>
              </a:highlight>
              <a:latin typeface="Roboto"/>
              <a:ea typeface="Roboto"/>
              <a:cs typeface="Roboto"/>
              <a:sym typeface="Roboto"/>
            </a:endParaRPr>
          </a:p>
        </p:txBody>
      </p:sp>
      <p:sp>
        <p:nvSpPr>
          <p:cNvPr id="741" name="Google Shape;741;p9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7"/>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47" name="Google Shape;747;p97"/>
          <p:cNvSpPr txBox="1"/>
          <p:nvPr/>
        </p:nvSpPr>
        <p:spPr>
          <a:xfrm>
            <a:off x="251250" y="1204725"/>
            <a:ext cx="8395800" cy="35259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1. Supervised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Learning with a Teacher</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In supervised learning, the algorithm learns from labeled data. It's like having a teacher who provides both questions and answers. For example, if you're learning to recognize animals, you get a bunch of pictures of animals (the input) with labels like "cat" or "dog" (the output). The algorithm uses these examples to learn how to classify new images.</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2. Unsupervised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Learning without a Teacher</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Unsupervised learning deals with unlabeled data. There are no answers provided, so the algorithm tries to find patterns and structure on its own. It's like exploring a new place without a map and figuring out the layout by yourself. An example is clustering, where the algorithm groups similar items together, like organizing a pile of mixed candies by color or type.</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AutoNum type="arabicPeriod"/>
            </a:pPr>
            <a:r>
              <a:t/>
            </a:r>
            <a:endParaRPr sz="1200">
              <a:solidFill>
                <a:srgbClr val="0D0D0D"/>
              </a:solidFill>
              <a:highlight>
                <a:srgbClr val="FFFFFF"/>
              </a:highlight>
              <a:latin typeface="Roboto"/>
              <a:ea typeface="Roboto"/>
              <a:cs typeface="Roboto"/>
              <a:sym typeface="Roboto"/>
            </a:endParaRPr>
          </a:p>
        </p:txBody>
      </p:sp>
      <p:sp>
        <p:nvSpPr>
          <p:cNvPr id="748" name="Google Shape;748;p9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98"/>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54" name="Google Shape;754;p98"/>
          <p:cNvSpPr txBox="1"/>
          <p:nvPr/>
        </p:nvSpPr>
        <p:spPr>
          <a:xfrm>
            <a:off x="251250" y="983675"/>
            <a:ext cx="8661000" cy="43806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3. Self-Supervised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Learning from Itself</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In self-supervised learning, the algorithm generates its own labels from the data. It's like solving a puzzle where some pieces are missing, and you have to figure out the missing parts from the surrounding pieces. An example is a language model predicting the next word in a sentence, where the sentence itself provides context.</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4. Semi-Supervised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A Mix of Learning with and without a Teacher</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Semi-supervised learning uses a combination of labeled and unlabeled data. It's like having a few questions with answers and a lot of questions without answers. The algorithm learns from the labeled data and uses this knowledge to make sense of the unlabeled data. This approach is useful when labeling data is expensive or time-consuming.</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5. Reinforcement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Learning by Trial and Error</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1500"/>
              </a:spcAft>
              <a:buNone/>
            </a:pPr>
            <a:r>
              <a:rPr lang="en" sz="1200">
                <a:solidFill>
                  <a:srgbClr val="0D0D0D"/>
                </a:solidFill>
                <a:highlight>
                  <a:srgbClr val="FFFFFF"/>
                </a:highlight>
                <a:latin typeface="Roboto"/>
                <a:ea typeface="Roboto"/>
                <a:cs typeface="Roboto"/>
                <a:sym typeface="Roboto"/>
              </a:rPr>
              <a:t>Description: Reinforcement learning involves learning by taking actions and receiving rewards or penalties. It's like training a dog where good behavior is rewarded with treats and bad behavior is discouraged. The algorithm learns the best actions to take in different situations to maximize rewards over time. This is often used in game playing and robotics.</a:t>
            </a:r>
            <a:endParaRPr sz="1200">
              <a:solidFill>
                <a:srgbClr val="0D0D0D"/>
              </a:solidFill>
              <a:highlight>
                <a:srgbClr val="FFFFFF"/>
              </a:highlight>
              <a:latin typeface="Roboto"/>
              <a:ea typeface="Roboto"/>
              <a:cs typeface="Roboto"/>
              <a:sym typeface="Roboto"/>
            </a:endParaRPr>
          </a:p>
        </p:txBody>
      </p:sp>
      <p:sp>
        <p:nvSpPr>
          <p:cNvPr id="755" name="Google Shape;755;p9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99"/>
          <p:cNvSpPr txBox="1"/>
          <p:nvPr>
            <p:ph type="title"/>
          </p:nvPr>
        </p:nvSpPr>
        <p:spPr>
          <a:xfrm>
            <a:off x="819150" y="267850"/>
            <a:ext cx="7505700" cy="66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61" name="Google Shape;761;p99"/>
          <p:cNvSpPr txBox="1"/>
          <p:nvPr/>
        </p:nvSpPr>
        <p:spPr>
          <a:xfrm>
            <a:off x="301025" y="770350"/>
            <a:ext cx="8346000" cy="369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600"/>
              </a:spcBef>
              <a:spcAft>
                <a:spcPts val="2100"/>
              </a:spcAft>
              <a:buNone/>
            </a:pPr>
            <a:r>
              <a:t/>
            </a:r>
            <a:endParaRPr sz="1200">
              <a:solidFill>
                <a:srgbClr val="0D0D0D"/>
              </a:solidFill>
              <a:highlight>
                <a:srgbClr val="FFFFFF"/>
              </a:highlight>
              <a:latin typeface="Roboto"/>
              <a:ea typeface="Roboto"/>
              <a:cs typeface="Roboto"/>
              <a:sym typeface="Roboto"/>
            </a:endParaRPr>
          </a:p>
        </p:txBody>
      </p:sp>
      <p:sp>
        <p:nvSpPr>
          <p:cNvPr id="762" name="Google Shape;762;p99"/>
          <p:cNvSpPr txBox="1"/>
          <p:nvPr/>
        </p:nvSpPr>
        <p:spPr>
          <a:xfrm>
            <a:off x="819150" y="850925"/>
            <a:ext cx="73629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700"/>
              <a:t>1. Linear Regression</a:t>
            </a:r>
            <a:endParaRPr b="1" sz="1700"/>
          </a:p>
          <a:p>
            <a:pPr indent="0" lvl="0" marL="0" rtl="0" algn="l">
              <a:lnSpc>
                <a:spcPct val="115000"/>
              </a:lnSpc>
              <a:spcBef>
                <a:spcPts val="0"/>
              </a:spcBef>
              <a:spcAft>
                <a:spcPts val="0"/>
              </a:spcAft>
              <a:buNone/>
            </a:pPr>
            <a:r>
              <a:rPr b="1" lang="en" sz="1700"/>
              <a:t>2. Logistic Regression</a:t>
            </a:r>
            <a:endParaRPr b="1" sz="1700"/>
          </a:p>
          <a:p>
            <a:pPr indent="0" lvl="0" marL="0" rtl="0" algn="l">
              <a:lnSpc>
                <a:spcPct val="115000"/>
              </a:lnSpc>
              <a:spcBef>
                <a:spcPts val="0"/>
              </a:spcBef>
              <a:spcAft>
                <a:spcPts val="0"/>
              </a:spcAft>
              <a:buNone/>
            </a:pPr>
            <a:r>
              <a:rPr b="1" lang="en" sz="1700"/>
              <a:t>3. Decision Trees</a:t>
            </a:r>
            <a:endParaRPr b="1" sz="1700"/>
          </a:p>
          <a:p>
            <a:pPr indent="0" lvl="0" marL="0" rtl="0" algn="l">
              <a:lnSpc>
                <a:spcPct val="115000"/>
              </a:lnSpc>
              <a:spcBef>
                <a:spcPts val="0"/>
              </a:spcBef>
              <a:spcAft>
                <a:spcPts val="0"/>
              </a:spcAft>
              <a:buNone/>
            </a:pPr>
            <a:r>
              <a:rPr b="1" lang="en" sz="1700"/>
              <a:t>4. Random Forest</a:t>
            </a:r>
            <a:endParaRPr b="1" sz="1700"/>
          </a:p>
          <a:p>
            <a:pPr indent="0" lvl="0" marL="0" rtl="0" algn="l">
              <a:lnSpc>
                <a:spcPct val="115000"/>
              </a:lnSpc>
              <a:spcBef>
                <a:spcPts val="0"/>
              </a:spcBef>
              <a:spcAft>
                <a:spcPts val="0"/>
              </a:spcAft>
              <a:buNone/>
            </a:pPr>
            <a:r>
              <a:rPr b="1" lang="en" sz="1700"/>
              <a:t>5. K-Nearest Neighbors (KNN)</a:t>
            </a:r>
            <a:endParaRPr b="1" sz="1700"/>
          </a:p>
          <a:p>
            <a:pPr indent="0" lvl="0" marL="0" rtl="0" algn="l">
              <a:lnSpc>
                <a:spcPct val="115000"/>
              </a:lnSpc>
              <a:spcBef>
                <a:spcPts val="0"/>
              </a:spcBef>
              <a:spcAft>
                <a:spcPts val="0"/>
              </a:spcAft>
              <a:buNone/>
            </a:pPr>
            <a:r>
              <a:rPr b="1" lang="en" sz="1700"/>
              <a:t>6. Support Vector Machines (SVM)</a:t>
            </a:r>
            <a:endParaRPr b="1" sz="1700"/>
          </a:p>
          <a:p>
            <a:pPr indent="0" lvl="0" marL="0" rtl="0" algn="l">
              <a:lnSpc>
                <a:spcPct val="115000"/>
              </a:lnSpc>
              <a:spcBef>
                <a:spcPts val="0"/>
              </a:spcBef>
              <a:spcAft>
                <a:spcPts val="0"/>
              </a:spcAft>
              <a:buNone/>
            </a:pPr>
            <a:r>
              <a:rPr b="1" lang="en" sz="1700"/>
              <a:t>7. Naive Bayes</a:t>
            </a:r>
            <a:endParaRPr b="1" sz="1700"/>
          </a:p>
          <a:p>
            <a:pPr indent="0" lvl="0" marL="0" rtl="0" algn="l">
              <a:lnSpc>
                <a:spcPct val="115000"/>
              </a:lnSpc>
              <a:spcBef>
                <a:spcPts val="0"/>
              </a:spcBef>
              <a:spcAft>
                <a:spcPts val="0"/>
              </a:spcAft>
              <a:buNone/>
            </a:pPr>
            <a:r>
              <a:rPr b="1" lang="en" sz="1700"/>
              <a:t>8. K-Means Clustering</a:t>
            </a:r>
            <a:endParaRPr b="1" sz="1700"/>
          </a:p>
          <a:p>
            <a:pPr indent="0" lvl="0" marL="0" rtl="0" algn="l">
              <a:lnSpc>
                <a:spcPct val="115000"/>
              </a:lnSpc>
              <a:spcBef>
                <a:spcPts val="0"/>
              </a:spcBef>
              <a:spcAft>
                <a:spcPts val="0"/>
              </a:spcAft>
              <a:buNone/>
            </a:pPr>
            <a:r>
              <a:rPr b="1" lang="en" sz="1700"/>
              <a:t>9. Principal Component Analysis (PCA)</a:t>
            </a:r>
            <a:endParaRPr b="1" sz="1700"/>
          </a:p>
          <a:p>
            <a:pPr indent="0" lvl="0" marL="0" rtl="0" algn="l">
              <a:lnSpc>
                <a:spcPct val="115000"/>
              </a:lnSpc>
              <a:spcBef>
                <a:spcPts val="0"/>
              </a:spcBef>
              <a:spcAft>
                <a:spcPts val="0"/>
              </a:spcAft>
              <a:buNone/>
            </a:pPr>
            <a:r>
              <a:rPr b="1" lang="en" sz="1700"/>
              <a:t>10. Neural Networks</a:t>
            </a:r>
            <a:endParaRPr b="1" sz="1700"/>
          </a:p>
          <a:p>
            <a:pPr indent="0" lvl="0" marL="0" rtl="0" algn="l">
              <a:lnSpc>
                <a:spcPct val="115000"/>
              </a:lnSpc>
              <a:spcBef>
                <a:spcPts val="0"/>
              </a:spcBef>
              <a:spcAft>
                <a:spcPts val="0"/>
              </a:spcAft>
              <a:buNone/>
            </a:pPr>
            <a:r>
              <a:rPr b="1" lang="en" sz="1700"/>
              <a:t>11. Reinforcement Learning</a:t>
            </a:r>
            <a:endParaRPr b="1" sz="1700"/>
          </a:p>
        </p:txBody>
      </p:sp>
      <p:sp>
        <p:nvSpPr>
          <p:cNvPr id="763" name="Google Shape;763;p9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00"/>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69" name="Google Shape;769;p100"/>
          <p:cNvSpPr txBox="1"/>
          <p:nvPr/>
        </p:nvSpPr>
        <p:spPr>
          <a:xfrm>
            <a:off x="234650" y="1083225"/>
            <a:ext cx="8744100" cy="41481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1. Linear Regression</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Predicting a Continuous Value</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Linear Regression is like drawing a straight line through a set of points on a graph to find a trend. For example, if you have data on house sizes and their prices, you can use linear regression to predict the price of a house based on its size.</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2. Logistic Regression</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Predicting Categories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Logistic Regression helps to categorize things into groups. It's like sorting emails into "spam" or "not spam" by looking at the content. Even though it's called regression, it's used for classification.</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3. Decision Trees</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Making Decisions with If-Else</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Decision Trees work like a flowchart of decisions. Each decision is a branch, and the final outcomes are leaves. For instance, you might decide whether to play outside based on weather: if it's sunny, go play; if it's rainy, stay inside.</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1500"/>
              </a:spcAft>
              <a:buNone/>
            </a:pPr>
            <a:r>
              <a:rPr lang="en" sz="1200">
                <a:solidFill>
                  <a:srgbClr val="0D0D0D"/>
                </a:solidFill>
                <a:highlight>
                  <a:srgbClr val="FFFFFF"/>
                </a:highlight>
                <a:latin typeface="Roboto"/>
                <a:ea typeface="Roboto"/>
                <a:cs typeface="Roboto"/>
                <a:sym typeface="Roboto"/>
              </a:rPr>
              <a:t>.</a:t>
            </a:r>
            <a:endParaRPr sz="1200">
              <a:solidFill>
                <a:srgbClr val="0D0D0D"/>
              </a:solidFill>
              <a:highlight>
                <a:srgbClr val="FFFFFF"/>
              </a:highlight>
              <a:latin typeface="Roboto"/>
              <a:ea typeface="Roboto"/>
              <a:cs typeface="Roboto"/>
              <a:sym typeface="Roboto"/>
            </a:endParaRPr>
          </a:p>
        </p:txBody>
      </p:sp>
      <p:sp>
        <p:nvSpPr>
          <p:cNvPr id="770" name="Google Shape;770;p10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01"/>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76" name="Google Shape;776;p101"/>
          <p:cNvSpPr txBox="1"/>
          <p:nvPr/>
        </p:nvSpPr>
        <p:spPr>
          <a:xfrm>
            <a:off x="234650" y="1083225"/>
            <a:ext cx="8744100" cy="41481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4. Random Forest</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A Forest of Decision Trees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Random Forests are a bunch of decision trees working together. Each tree gives a vote, and the majority vote decides the final outcome. It's like asking multiple experts for their opinion and choosing the most common answer.</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5. K-Nearest Neighbors (KNN)</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Finding Similar Things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KNN looks at the closest examples to make a decision. If you want to know if a fruit is an apple or an orange, you look at the nearest fruits. If most nearby fruits are apples, it's likely an apple.</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6. Support Vector Machines (SVM)</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Drawing the Best Boundary</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SVM finds the best line or boundary that separates different groups. Imagine drawing a line on the ground to separate cats from dogs. The SVM ensures this line is as far away from both groups as possible.</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1500"/>
              </a:spcAft>
              <a:buNone/>
            </a:pPr>
            <a:r>
              <a:t/>
            </a:r>
            <a:endParaRPr sz="1200">
              <a:solidFill>
                <a:srgbClr val="0D0D0D"/>
              </a:solidFill>
              <a:highlight>
                <a:srgbClr val="FFFFFF"/>
              </a:highlight>
              <a:latin typeface="Roboto"/>
              <a:ea typeface="Roboto"/>
              <a:cs typeface="Roboto"/>
              <a:sym typeface="Roboto"/>
            </a:endParaRPr>
          </a:p>
        </p:txBody>
      </p:sp>
      <p:sp>
        <p:nvSpPr>
          <p:cNvPr id="777" name="Google Shape;777;p10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02"/>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83" name="Google Shape;783;p102"/>
          <p:cNvSpPr txBox="1"/>
          <p:nvPr/>
        </p:nvSpPr>
        <p:spPr>
          <a:xfrm>
            <a:off x="234650" y="1016850"/>
            <a:ext cx="8744100" cy="41481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7. Naive Bayes</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Probabilistic Classifier</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Naive Bayes is based on probability. It calculates the likelihood that something belongs to a category based on past data. For example, it might predict if a message is spam based on the frequency of certain words.</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8. K-Means Clustering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Grouping Similar Items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K-Means groups similar items into clusters. It's like organizing a pile of mixed candies into groups based on color. The algorithm keeps refining the groups until the items in each group are very similar.</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9. Principal Component Analysis (PCA)</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Reducing Dimensionality</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PCA simplifies data by reducing the number of dimensions (features) while preserving important information. Think of it as summarizing a long book into a shorter version without losing the main points.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1500"/>
              </a:spcAft>
              <a:buNone/>
            </a:pPr>
            <a:r>
              <a:t/>
            </a:r>
            <a:endParaRPr sz="1200">
              <a:solidFill>
                <a:srgbClr val="0D0D0D"/>
              </a:solidFill>
              <a:highlight>
                <a:srgbClr val="FFFFFF"/>
              </a:highlight>
              <a:latin typeface="Roboto"/>
              <a:ea typeface="Roboto"/>
              <a:cs typeface="Roboto"/>
              <a:sym typeface="Roboto"/>
            </a:endParaRPr>
          </a:p>
        </p:txBody>
      </p:sp>
      <p:sp>
        <p:nvSpPr>
          <p:cNvPr id="784" name="Google Shape;784;p10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03"/>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ML Algorithms</a:t>
            </a:r>
            <a:endParaRPr/>
          </a:p>
        </p:txBody>
      </p:sp>
      <p:sp>
        <p:nvSpPr>
          <p:cNvPr id="790" name="Google Shape;790;p103"/>
          <p:cNvSpPr txBox="1"/>
          <p:nvPr/>
        </p:nvSpPr>
        <p:spPr>
          <a:xfrm>
            <a:off x="234650" y="1204725"/>
            <a:ext cx="8744100" cy="24837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400"/>
              </a:spcBef>
              <a:spcAft>
                <a:spcPts val="0"/>
              </a:spcAft>
              <a:buNone/>
            </a:pPr>
            <a:r>
              <a:rPr b="1" lang="en" sz="1650">
                <a:solidFill>
                  <a:srgbClr val="0D0D0D"/>
                </a:solidFill>
                <a:highlight>
                  <a:srgbClr val="FFFFFF"/>
                </a:highlight>
                <a:latin typeface="Roboto"/>
                <a:ea typeface="Roboto"/>
                <a:cs typeface="Roboto"/>
                <a:sym typeface="Roboto"/>
              </a:rPr>
              <a:t>10. Neural Networks</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Mimicking the Brain</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Description: Neural Networks are like a simplified version of the human brain. They consist of interconnected nodes (neurons) that process information and learn patterns. They're used in applications like image recognition and language processing.</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500"/>
              </a:spcBef>
              <a:spcAft>
                <a:spcPts val="0"/>
              </a:spcAft>
              <a:buNone/>
            </a:pPr>
            <a:r>
              <a:rPr b="1" lang="en" sz="1650">
                <a:solidFill>
                  <a:srgbClr val="0D0D0D"/>
                </a:solidFill>
                <a:highlight>
                  <a:srgbClr val="FFFFFF"/>
                </a:highlight>
                <a:latin typeface="Roboto"/>
                <a:ea typeface="Roboto"/>
                <a:cs typeface="Roboto"/>
                <a:sym typeface="Roboto"/>
              </a:rPr>
              <a:t>11. Reinforcement Learning</a:t>
            </a:r>
            <a:endParaRPr b="1" sz="1650">
              <a:solidFill>
                <a:srgbClr val="0D0D0D"/>
              </a:solidFill>
              <a:highlight>
                <a:srgbClr val="FFFFFF"/>
              </a:highlight>
              <a:latin typeface="Roboto"/>
              <a:ea typeface="Roboto"/>
              <a:cs typeface="Roboto"/>
              <a:sym typeface="Roboto"/>
            </a:endParaRPr>
          </a:p>
          <a:p>
            <a:pPr indent="0" lvl="0" marL="0" rtl="0" algn="l">
              <a:spcBef>
                <a:spcPts val="400"/>
              </a:spcBef>
              <a:spcAft>
                <a:spcPts val="0"/>
              </a:spcAft>
              <a:buNone/>
            </a:pPr>
            <a:r>
              <a:rPr lang="en" sz="1200">
                <a:solidFill>
                  <a:srgbClr val="0D0D0D"/>
                </a:solidFill>
                <a:highlight>
                  <a:srgbClr val="FFFFFF"/>
                </a:highlight>
                <a:latin typeface="Roboto"/>
                <a:ea typeface="Roboto"/>
                <a:cs typeface="Roboto"/>
                <a:sym typeface="Roboto"/>
              </a:rPr>
              <a:t>Title: Learning by Rewards</a:t>
            </a:r>
            <a:endParaRPr sz="1200">
              <a:solidFill>
                <a:srgbClr val="0D0D0D"/>
              </a:solidFill>
              <a:highlight>
                <a:srgbClr val="FFFFFF"/>
              </a:highlight>
              <a:latin typeface="Roboto"/>
              <a:ea typeface="Roboto"/>
              <a:cs typeface="Roboto"/>
              <a:sym typeface="Roboto"/>
            </a:endParaRPr>
          </a:p>
          <a:p>
            <a:pPr indent="0" lvl="0" marL="0" rtl="0" algn="l">
              <a:lnSpc>
                <a:spcPct val="115000"/>
              </a:lnSpc>
              <a:spcBef>
                <a:spcPts val="0"/>
              </a:spcBef>
              <a:spcAft>
                <a:spcPts val="1500"/>
              </a:spcAft>
              <a:buNone/>
            </a:pPr>
            <a:r>
              <a:rPr lang="en" sz="1200">
                <a:solidFill>
                  <a:srgbClr val="0D0D0D"/>
                </a:solidFill>
                <a:highlight>
                  <a:srgbClr val="FFFFFF"/>
                </a:highlight>
                <a:latin typeface="Roboto"/>
                <a:ea typeface="Roboto"/>
                <a:cs typeface="Roboto"/>
                <a:sym typeface="Roboto"/>
              </a:rPr>
              <a:t>Description: Reinforcement Learning is like training a pet. The algorithm learns by trying actions and receiving rewards or penalties. Over time, it learns the best actions to maximize rewards, like a dog learning tricks for treats.</a:t>
            </a:r>
            <a:endParaRPr sz="1200">
              <a:solidFill>
                <a:srgbClr val="0D0D0D"/>
              </a:solidFill>
              <a:highlight>
                <a:srgbClr val="FFFFFF"/>
              </a:highlight>
              <a:latin typeface="Roboto"/>
              <a:ea typeface="Roboto"/>
              <a:cs typeface="Roboto"/>
              <a:sym typeface="Roboto"/>
            </a:endParaRPr>
          </a:p>
        </p:txBody>
      </p:sp>
      <p:sp>
        <p:nvSpPr>
          <p:cNvPr id="791" name="Google Shape;791;p10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04"/>
          <p:cNvSpPr txBox="1"/>
          <p:nvPr>
            <p:ph type="title"/>
          </p:nvPr>
        </p:nvSpPr>
        <p:spPr>
          <a:xfrm>
            <a:off x="627075" y="222250"/>
            <a:ext cx="6643500" cy="552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ML </a:t>
            </a:r>
            <a:r>
              <a:rPr lang="en" u="sng">
                <a:solidFill>
                  <a:schemeClr val="hlink"/>
                </a:solidFill>
                <a:hlinkClick r:id="rId3"/>
              </a:rPr>
              <a:t>algorithms</a:t>
            </a:r>
            <a:r>
              <a:rPr lang="en"/>
              <a:t> Code Sample </a:t>
            </a:r>
            <a:r>
              <a:rPr lang="en" u="sng">
                <a:solidFill>
                  <a:schemeClr val="hlink"/>
                </a:solidFill>
                <a:hlinkClick r:id="rId4"/>
              </a:rPr>
              <a:t>Gitlab</a:t>
            </a:r>
            <a:r>
              <a:rPr lang="en"/>
              <a:t> links</a:t>
            </a:r>
            <a:endParaRPr/>
          </a:p>
        </p:txBody>
      </p:sp>
      <p:sp>
        <p:nvSpPr>
          <p:cNvPr id="797" name="Google Shape;797;p10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98" name="Google Shape;798;p104"/>
          <p:cNvGraphicFramePr/>
          <p:nvPr/>
        </p:nvGraphicFramePr>
        <p:xfrm>
          <a:off x="952500" y="1238250"/>
          <a:ext cx="3000000" cy="3000000"/>
        </p:xfrm>
        <a:graphic>
          <a:graphicData uri="http://schemas.openxmlformats.org/drawingml/2006/table">
            <a:tbl>
              <a:tblPr>
                <a:noFill/>
                <a:tableStyleId>{A5F71DC0-B734-49B0-82BF-47BBF8BC9791}</a:tableStyleId>
              </a:tblPr>
              <a:tblGrid>
                <a:gridCol w="3259825"/>
                <a:gridCol w="3823925"/>
              </a:tblGrid>
              <a:tr h="381000">
                <a:tc>
                  <a:txBody>
                    <a:bodyPr/>
                    <a:lstStyle/>
                    <a:p>
                      <a:pPr indent="0" lvl="0" marL="0" rtl="0" algn="l">
                        <a:spcBef>
                          <a:spcPts val="0"/>
                        </a:spcBef>
                        <a:spcAft>
                          <a:spcPts val="0"/>
                        </a:spcAft>
                        <a:buNone/>
                      </a:pPr>
                      <a:r>
                        <a:rPr b="1" lang="en" sz="1500" u="sng">
                          <a:solidFill>
                            <a:schemeClr val="hlink"/>
                          </a:solidFill>
                          <a:hlinkClick r:id="rId5"/>
                        </a:rPr>
                        <a:t>1. Linear Regression</a:t>
                      </a:r>
                      <a:endParaRPr b="1" sz="1500"/>
                    </a:p>
                  </a:txBody>
                  <a:tcPr marT="91425" marB="91425" marR="91425" marL="91425"/>
                </a:tc>
                <a:tc>
                  <a:txBody>
                    <a:bodyPr/>
                    <a:lstStyle/>
                    <a:p>
                      <a:pPr indent="0" lvl="0" marL="0" rtl="0" algn="l">
                        <a:spcBef>
                          <a:spcPts val="0"/>
                        </a:spcBef>
                        <a:spcAft>
                          <a:spcPts val="0"/>
                        </a:spcAft>
                        <a:buNone/>
                      </a:pPr>
                      <a:r>
                        <a:rPr b="1" lang="en" sz="1500"/>
                        <a:t>7. Naive Bayes</a:t>
                      </a:r>
                      <a:endParaRPr b="1" sz="1500"/>
                    </a:p>
                  </a:txBody>
                  <a:tcPr marT="91425" marB="91425" marR="91425" marL="91425"/>
                </a:tc>
              </a:tr>
              <a:tr h="381000">
                <a:tc>
                  <a:txBody>
                    <a:bodyPr/>
                    <a:lstStyle/>
                    <a:p>
                      <a:pPr indent="0" lvl="0" marL="0" rtl="0" algn="l">
                        <a:spcBef>
                          <a:spcPts val="0"/>
                        </a:spcBef>
                        <a:spcAft>
                          <a:spcPts val="0"/>
                        </a:spcAft>
                        <a:buNone/>
                      </a:pPr>
                      <a:r>
                        <a:rPr b="1" lang="en" sz="1500"/>
                        <a:t>2. Logistic Regression</a:t>
                      </a:r>
                      <a:endParaRPr b="1" sz="1500"/>
                    </a:p>
                  </a:txBody>
                  <a:tcPr marT="91425" marB="91425" marR="91425" marL="91425"/>
                </a:tc>
                <a:tc>
                  <a:txBody>
                    <a:bodyPr/>
                    <a:lstStyle/>
                    <a:p>
                      <a:pPr indent="0" lvl="0" marL="0" rtl="0" algn="l">
                        <a:spcBef>
                          <a:spcPts val="0"/>
                        </a:spcBef>
                        <a:spcAft>
                          <a:spcPts val="0"/>
                        </a:spcAft>
                        <a:buNone/>
                      </a:pPr>
                      <a:r>
                        <a:rPr b="1" lang="en" sz="1500"/>
                        <a:t>8. K-Means Clustering</a:t>
                      </a:r>
                      <a:endParaRPr b="1" sz="1500"/>
                    </a:p>
                  </a:txBody>
                  <a:tcPr marT="91425" marB="91425" marR="91425" marL="91425"/>
                </a:tc>
              </a:tr>
              <a:tr h="381000">
                <a:tc>
                  <a:txBody>
                    <a:bodyPr/>
                    <a:lstStyle/>
                    <a:p>
                      <a:pPr indent="0" lvl="0" marL="0" rtl="0" algn="l">
                        <a:spcBef>
                          <a:spcPts val="0"/>
                        </a:spcBef>
                        <a:spcAft>
                          <a:spcPts val="0"/>
                        </a:spcAft>
                        <a:buNone/>
                      </a:pPr>
                      <a:r>
                        <a:rPr b="1" lang="en" sz="1500"/>
                        <a:t>3. Decision Trees</a:t>
                      </a:r>
                      <a:endParaRPr b="1" sz="1500"/>
                    </a:p>
                  </a:txBody>
                  <a:tcPr marT="91425" marB="91425" marR="91425" marL="91425"/>
                </a:tc>
                <a:tc>
                  <a:txBody>
                    <a:bodyPr/>
                    <a:lstStyle/>
                    <a:p>
                      <a:pPr indent="0" lvl="0" marL="0" rtl="0" algn="l">
                        <a:spcBef>
                          <a:spcPts val="0"/>
                        </a:spcBef>
                        <a:spcAft>
                          <a:spcPts val="0"/>
                        </a:spcAft>
                        <a:buNone/>
                      </a:pPr>
                      <a:r>
                        <a:rPr b="1" lang="en" sz="1500"/>
                        <a:t>9. Principal Component Analysis (PCA)</a:t>
                      </a:r>
                      <a:endParaRPr b="1" sz="1500"/>
                    </a:p>
                  </a:txBody>
                  <a:tcPr marT="91425" marB="91425" marR="91425" marL="91425"/>
                </a:tc>
              </a:tr>
              <a:tr h="381000">
                <a:tc>
                  <a:txBody>
                    <a:bodyPr/>
                    <a:lstStyle/>
                    <a:p>
                      <a:pPr indent="0" lvl="0" marL="0" rtl="0" algn="l">
                        <a:spcBef>
                          <a:spcPts val="0"/>
                        </a:spcBef>
                        <a:spcAft>
                          <a:spcPts val="0"/>
                        </a:spcAft>
                        <a:buNone/>
                      </a:pPr>
                      <a:r>
                        <a:rPr b="1" lang="en" sz="1500"/>
                        <a:t>4. Random Forest</a:t>
                      </a:r>
                      <a:endParaRPr b="1" sz="1500"/>
                    </a:p>
                  </a:txBody>
                  <a:tcPr marT="91425" marB="91425" marR="91425" marL="91425"/>
                </a:tc>
                <a:tc>
                  <a:txBody>
                    <a:bodyPr/>
                    <a:lstStyle/>
                    <a:p>
                      <a:pPr indent="0" lvl="0" marL="0" rtl="0" algn="l">
                        <a:spcBef>
                          <a:spcPts val="0"/>
                        </a:spcBef>
                        <a:spcAft>
                          <a:spcPts val="0"/>
                        </a:spcAft>
                        <a:buNone/>
                      </a:pPr>
                      <a:r>
                        <a:rPr b="1" lang="en" sz="1500"/>
                        <a:t>10. Neural Networks</a:t>
                      </a:r>
                      <a:endParaRPr b="1" sz="1500"/>
                    </a:p>
                  </a:txBody>
                  <a:tcPr marT="91425" marB="91425" marR="91425" marL="91425"/>
                </a:tc>
              </a:tr>
              <a:tr h="381000">
                <a:tc>
                  <a:txBody>
                    <a:bodyPr/>
                    <a:lstStyle/>
                    <a:p>
                      <a:pPr indent="0" lvl="0" marL="0" rtl="0" algn="l">
                        <a:spcBef>
                          <a:spcPts val="0"/>
                        </a:spcBef>
                        <a:spcAft>
                          <a:spcPts val="0"/>
                        </a:spcAft>
                        <a:buNone/>
                      </a:pPr>
                      <a:r>
                        <a:rPr b="1" lang="en" sz="1500"/>
                        <a:t>5. K-Nearest Neighbors (KNN)</a:t>
                      </a:r>
                      <a:endParaRPr b="1" sz="1500"/>
                    </a:p>
                  </a:txBody>
                  <a:tcPr marT="91425" marB="91425" marR="91425" marL="91425"/>
                </a:tc>
                <a:tc>
                  <a:txBody>
                    <a:bodyPr/>
                    <a:lstStyle/>
                    <a:p>
                      <a:pPr indent="0" lvl="0" marL="0" rtl="0" algn="l">
                        <a:spcBef>
                          <a:spcPts val="0"/>
                        </a:spcBef>
                        <a:spcAft>
                          <a:spcPts val="0"/>
                        </a:spcAft>
                        <a:buNone/>
                      </a:pPr>
                      <a:r>
                        <a:rPr b="1" lang="en" sz="1500"/>
                        <a:t>11. Reinforcement Learning</a:t>
                      </a:r>
                      <a:endParaRPr b="1" sz="1500"/>
                    </a:p>
                  </a:txBody>
                  <a:tcPr marT="91425" marB="91425" marR="91425" marL="91425"/>
                </a:tc>
              </a:tr>
              <a:tr h="381000">
                <a:tc>
                  <a:txBody>
                    <a:bodyPr/>
                    <a:lstStyle/>
                    <a:p>
                      <a:pPr indent="0" lvl="0" marL="0" rtl="0" algn="l">
                        <a:spcBef>
                          <a:spcPts val="0"/>
                        </a:spcBef>
                        <a:spcAft>
                          <a:spcPts val="0"/>
                        </a:spcAft>
                        <a:buNone/>
                      </a:pPr>
                      <a:r>
                        <a:rPr b="1" lang="en" sz="1500"/>
                        <a:t>6. Support Vector Machines (SVM)</a:t>
                      </a:r>
                      <a:endParaRPr b="1" sz="1500"/>
                    </a:p>
                    <a:p>
                      <a:pPr indent="0" lvl="0" marL="0" rtl="0" algn="l">
                        <a:spcBef>
                          <a:spcPts val="0"/>
                        </a:spcBef>
                        <a:spcAft>
                          <a:spcPts val="0"/>
                        </a:spcAft>
                        <a:buNone/>
                      </a:pPr>
                      <a:r>
                        <a:t/>
                      </a:r>
                      <a:endParaRPr b="1" sz="1500"/>
                    </a:p>
                  </a:txBody>
                  <a:tcPr marT="91425" marB="91425" marR="91425" marL="91425"/>
                </a:tc>
                <a:tc>
                  <a:txBody>
                    <a:bodyPr/>
                    <a:lstStyle/>
                    <a:p>
                      <a:pPr indent="0" lvl="0" marL="0" rtl="0" algn="l">
                        <a:spcBef>
                          <a:spcPts val="0"/>
                        </a:spcBef>
                        <a:spcAft>
                          <a:spcPts val="0"/>
                        </a:spcAft>
                        <a:buNone/>
                      </a:pPr>
                      <a:r>
                        <a:t/>
                      </a:r>
                      <a:endParaRPr b="1" sz="1500"/>
                    </a:p>
                  </a:txBody>
                  <a:tcPr marT="91425" marB="91425" marR="91425" marL="91425"/>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0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Transformers</a:t>
            </a:r>
            <a:endParaRPr/>
          </a:p>
        </p:txBody>
      </p:sp>
      <p:sp>
        <p:nvSpPr>
          <p:cNvPr id="804" name="Google Shape;804;p105"/>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805" name="Google Shape;805;p10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06"/>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it is ? - </a:t>
            </a:r>
            <a:r>
              <a:rPr lang="en" u="sng">
                <a:solidFill>
                  <a:schemeClr val="hlink"/>
                </a:solidFill>
                <a:hlinkClick r:id="rId3"/>
              </a:rPr>
              <a:t>READ</a:t>
            </a:r>
            <a:endParaRPr/>
          </a:p>
        </p:txBody>
      </p:sp>
      <p:sp>
        <p:nvSpPr>
          <p:cNvPr id="811" name="Google Shape;811;p106"/>
          <p:cNvSpPr txBox="1"/>
          <p:nvPr/>
        </p:nvSpPr>
        <p:spPr>
          <a:xfrm>
            <a:off x="549925" y="1204725"/>
            <a:ext cx="7466100" cy="316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2150">
                <a:solidFill>
                  <a:srgbClr val="001C3B"/>
                </a:solidFill>
                <a:highlight>
                  <a:srgbClr val="FFFFFF"/>
                </a:highlight>
                <a:latin typeface="Roboto"/>
                <a:ea typeface="Roboto"/>
                <a:cs typeface="Roboto"/>
                <a:sym typeface="Roboto"/>
              </a:rPr>
              <a:t>Transformers are a type of neural network architecture in artificial intelligence (AI) that can change an input sequence into an output sequence. They do this by learning the context and relationships between the components of the sequence. Transformer models are a key part of generative AI and are used in many applications, including: Natural language processing (NLP), Translating text and speech, Understanding DNA and proteins, Drug discovery, and Medical research.</a:t>
            </a:r>
            <a:endParaRPr b="1" sz="3600"/>
          </a:p>
        </p:txBody>
      </p:sp>
      <p:sp>
        <p:nvSpPr>
          <p:cNvPr id="812" name="Google Shape;812;p10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7"/>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Sky is ?</a:t>
            </a:r>
            <a:endParaRPr/>
          </a:p>
        </p:txBody>
      </p:sp>
      <p:sp>
        <p:nvSpPr>
          <p:cNvPr id="818" name="Google Shape;818;p107"/>
          <p:cNvSpPr txBox="1"/>
          <p:nvPr/>
        </p:nvSpPr>
        <p:spPr>
          <a:xfrm>
            <a:off x="549925" y="1204725"/>
            <a:ext cx="74661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2600">
                <a:solidFill>
                  <a:srgbClr val="0D0D0D"/>
                </a:solidFill>
                <a:highlight>
                  <a:srgbClr val="FFFFFF"/>
                </a:highlight>
                <a:latin typeface="Roboto"/>
                <a:ea typeface="Roboto"/>
                <a:cs typeface="Roboto"/>
                <a:sym typeface="Roboto"/>
              </a:rPr>
              <a:t>How a transformer model processes an input sentence, generates a context-aware response, and learns to improve its predictions through training. Understanding each key term and its role helps demystify how advanced AI models like transformers operate to generate accurate and relevant responses</a:t>
            </a:r>
            <a:endParaRPr b="1" sz="2800"/>
          </a:p>
        </p:txBody>
      </p:sp>
      <p:sp>
        <p:nvSpPr>
          <p:cNvPr id="819" name="Google Shape;819;p10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08"/>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Sky is ?</a:t>
            </a:r>
            <a:endParaRPr/>
          </a:p>
        </p:txBody>
      </p:sp>
      <p:sp>
        <p:nvSpPr>
          <p:cNvPr id="825" name="Google Shape;825;p108"/>
          <p:cNvSpPr txBox="1"/>
          <p:nvPr/>
        </p:nvSpPr>
        <p:spPr>
          <a:xfrm>
            <a:off x="549925" y="1204725"/>
            <a:ext cx="74661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2600">
                <a:solidFill>
                  <a:srgbClr val="0D0D0D"/>
                </a:solidFill>
                <a:highlight>
                  <a:srgbClr val="FFFFFF"/>
                </a:highlight>
                <a:latin typeface="Roboto"/>
                <a:ea typeface="Roboto"/>
                <a:cs typeface="Roboto"/>
                <a:sym typeface="Roboto"/>
              </a:rPr>
              <a:t>How a transformer model processes an input sentence, generates a context-aware response, and learns to improve its predictions through training. Understanding each key term and its role helps demystify how advanced AI models like transformers operate to generate accurate and relevant responses</a:t>
            </a:r>
            <a:endParaRPr b="1" sz="2800"/>
          </a:p>
        </p:txBody>
      </p:sp>
      <p:sp>
        <p:nvSpPr>
          <p:cNvPr id="826" name="Google Shape;826;p10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pic>
        <p:nvPicPr>
          <p:cNvPr id="831" name="Google Shape;831;p109"/>
          <p:cNvPicPr preferRelativeResize="0"/>
          <p:nvPr/>
        </p:nvPicPr>
        <p:blipFill>
          <a:blip r:embed="rId3">
            <a:alphaModFix/>
          </a:blip>
          <a:stretch>
            <a:fillRect/>
          </a:stretch>
        </p:blipFill>
        <p:spPr>
          <a:xfrm>
            <a:off x="152400" y="152400"/>
            <a:ext cx="8839204" cy="4730355"/>
          </a:xfrm>
          <a:prstGeom prst="rect">
            <a:avLst/>
          </a:prstGeom>
          <a:noFill/>
          <a:ln>
            <a:noFill/>
          </a:ln>
        </p:spPr>
      </p:pic>
      <p:sp>
        <p:nvSpPr>
          <p:cNvPr id="832" name="Google Shape;832;p10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110"/>
          <p:cNvPicPr preferRelativeResize="0"/>
          <p:nvPr/>
        </p:nvPicPr>
        <p:blipFill>
          <a:blip r:embed="rId3">
            <a:alphaModFix/>
          </a:blip>
          <a:stretch>
            <a:fillRect/>
          </a:stretch>
        </p:blipFill>
        <p:spPr>
          <a:xfrm>
            <a:off x="152400" y="152400"/>
            <a:ext cx="8043556" cy="4838702"/>
          </a:xfrm>
          <a:prstGeom prst="rect">
            <a:avLst/>
          </a:prstGeom>
          <a:noFill/>
          <a:ln>
            <a:noFill/>
          </a:ln>
        </p:spPr>
      </p:pic>
      <p:sp>
        <p:nvSpPr>
          <p:cNvPr id="838" name="Google Shape;838;p1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pic>
        <p:nvPicPr>
          <p:cNvPr id="843" name="Google Shape;843;p111"/>
          <p:cNvPicPr preferRelativeResize="0"/>
          <p:nvPr/>
        </p:nvPicPr>
        <p:blipFill>
          <a:blip r:embed="rId3">
            <a:alphaModFix/>
          </a:blip>
          <a:stretch>
            <a:fillRect/>
          </a:stretch>
        </p:blipFill>
        <p:spPr>
          <a:xfrm>
            <a:off x="152400" y="152400"/>
            <a:ext cx="8839204" cy="4048424"/>
          </a:xfrm>
          <a:prstGeom prst="rect">
            <a:avLst/>
          </a:prstGeom>
          <a:noFill/>
          <a:ln>
            <a:noFill/>
          </a:ln>
        </p:spPr>
      </p:pic>
      <p:sp>
        <p:nvSpPr>
          <p:cNvPr id="844" name="Google Shape;844;p1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pic>
        <p:nvPicPr>
          <p:cNvPr id="849" name="Google Shape;849;p112"/>
          <p:cNvPicPr preferRelativeResize="0"/>
          <p:nvPr/>
        </p:nvPicPr>
        <p:blipFill>
          <a:blip r:embed="rId3">
            <a:alphaModFix/>
          </a:blip>
          <a:stretch>
            <a:fillRect/>
          </a:stretch>
        </p:blipFill>
        <p:spPr>
          <a:xfrm>
            <a:off x="152400" y="152400"/>
            <a:ext cx="8839204" cy="3111849"/>
          </a:xfrm>
          <a:prstGeom prst="rect">
            <a:avLst/>
          </a:prstGeom>
          <a:noFill/>
          <a:ln>
            <a:noFill/>
          </a:ln>
        </p:spPr>
      </p:pic>
      <p:sp>
        <p:nvSpPr>
          <p:cNvPr id="850" name="Google Shape;850;p1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p113"/>
          <p:cNvPicPr preferRelativeResize="0"/>
          <p:nvPr/>
        </p:nvPicPr>
        <p:blipFill>
          <a:blip r:embed="rId3">
            <a:alphaModFix/>
          </a:blip>
          <a:stretch>
            <a:fillRect/>
          </a:stretch>
        </p:blipFill>
        <p:spPr>
          <a:xfrm>
            <a:off x="152400" y="152400"/>
            <a:ext cx="8839204" cy="4549082"/>
          </a:xfrm>
          <a:prstGeom prst="rect">
            <a:avLst/>
          </a:prstGeom>
          <a:noFill/>
          <a:ln>
            <a:noFill/>
          </a:ln>
        </p:spPr>
      </p:pic>
      <p:sp>
        <p:nvSpPr>
          <p:cNvPr id="856" name="Google Shape;856;p11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p114"/>
          <p:cNvPicPr preferRelativeResize="0"/>
          <p:nvPr/>
        </p:nvPicPr>
        <p:blipFill>
          <a:blip r:embed="rId3">
            <a:alphaModFix/>
          </a:blip>
          <a:stretch>
            <a:fillRect/>
          </a:stretch>
        </p:blipFill>
        <p:spPr>
          <a:xfrm>
            <a:off x="152400" y="152400"/>
            <a:ext cx="8210156" cy="4838700"/>
          </a:xfrm>
          <a:prstGeom prst="rect">
            <a:avLst/>
          </a:prstGeom>
          <a:noFill/>
          <a:ln>
            <a:noFill/>
          </a:ln>
        </p:spPr>
      </p:pic>
      <p:sp>
        <p:nvSpPr>
          <p:cNvPr id="862" name="Google Shape;862;p1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p115"/>
          <p:cNvPicPr preferRelativeResize="0"/>
          <p:nvPr/>
        </p:nvPicPr>
        <p:blipFill>
          <a:blip r:embed="rId3">
            <a:alphaModFix/>
          </a:blip>
          <a:stretch>
            <a:fillRect/>
          </a:stretch>
        </p:blipFill>
        <p:spPr>
          <a:xfrm>
            <a:off x="152400" y="152400"/>
            <a:ext cx="7832262" cy="4838699"/>
          </a:xfrm>
          <a:prstGeom prst="rect">
            <a:avLst/>
          </a:prstGeom>
          <a:noFill/>
          <a:ln>
            <a:noFill/>
          </a:ln>
        </p:spPr>
      </p:pic>
      <p:sp>
        <p:nvSpPr>
          <p:cNvPr id="868" name="Google Shape;868;p1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pic>
        <p:nvPicPr>
          <p:cNvPr id="873" name="Google Shape;873;p116"/>
          <p:cNvPicPr preferRelativeResize="0"/>
          <p:nvPr/>
        </p:nvPicPr>
        <p:blipFill>
          <a:blip r:embed="rId3">
            <a:alphaModFix/>
          </a:blip>
          <a:stretch>
            <a:fillRect/>
          </a:stretch>
        </p:blipFill>
        <p:spPr>
          <a:xfrm>
            <a:off x="152400" y="152400"/>
            <a:ext cx="8839204" cy="3858520"/>
          </a:xfrm>
          <a:prstGeom prst="rect">
            <a:avLst/>
          </a:prstGeom>
          <a:noFill/>
          <a:ln>
            <a:noFill/>
          </a:ln>
        </p:spPr>
      </p:pic>
      <p:sp>
        <p:nvSpPr>
          <p:cNvPr id="874" name="Google Shape;874;p1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pic>
        <p:nvPicPr>
          <p:cNvPr id="879" name="Google Shape;879;p117"/>
          <p:cNvPicPr preferRelativeResize="0"/>
          <p:nvPr/>
        </p:nvPicPr>
        <p:blipFill>
          <a:blip r:embed="rId3">
            <a:alphaModFix/>
          </a:blip>
          <a:stretch>
            <a:fillRect/>
          </a:stretch>
        </p:blipFill>
        <p:spPr>
          <a:xfrm>
            <a:off x="152400" y="152400"/>
            <a:ext cx="8839204" cy="3526186"/>
          </a:xfrm>
          <a:prstGeom prst="rect">
            <a:avLst/>
          </a:prstGeom>
          <a:noFill/>
          <a:ln>
            <a:noFill/>
          </a:ln>
        </p:spPr>
      </p:pic>
      <p:sp>
        <p:nvSpPr>
          <p:cNvPr id="880" name="Google Shape;880;p1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id="885" name="Google Shape;885;p118"/>
          <p:cNvPicPr preferRelativeResize="0"/>
          <p:nvPr/>
        </p:nvPicPr>
        <p:blipFill>
          <a:blip r:embed="rId3">
            <a:alphaModFix/>
          </a:blip>
          <a:stretch>
            <a:fillRect/>
          </a:stretch>
        </p:blipFill>
        <p:spPr>
          <a:xfrm>
            <a:off x="152400" y="152400"/>
            <a:ext cx="8839204" cy="3793779"/>
          </a:xfrm>
          <a:prstGeom prst="rect">
            <a:avLst/>
          </a:prstGeom>
          <a:noFill/>
          <a:ln>
            <a:noFill/>
          </a:ln>
        </p:spPr>
      </p:pic>
      <p:sp>
        <p:nvSpPr>
          <p:cNvPr id="886" name="Google Shape;886;p1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p119"/>
          <p:cNvPicPr preferRelativeResize="0"/>
          <p:nvPr/>
        </p:nvPicPr>
        <p:blipFill>
          <a:blip r:embed="rId3">
            <a:alphaModFix/>
          </a:blip>
          <a:stretch>
            <a:fillRect/>
          </a:stretch>
        </p:blipFill>
        <p:spPr>
          <a:xfrm>
            <a:off x="152400" y="152400"/>
            <a:ext cx="8839199" cy="4232600"/>
          </a:xfrm>
          <a:prstGeom prst="rect">
            <a:avLst/>
          </a:prstGeom>
          <a:noFill/>
          <a:ln>
            <a:noFill/>
          </a:ln>
        </p:spPr>
      </p:pic>
      <p:sp>
        <p:nvSpPr>
          <p:cNvPr id="892" name="Google Shape;892;p1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pic>
        <p:nvPicPr>
          <p:cNvPr id="897" name="Google Shape;897;p120"/>
          <p:cNvPicPr preferRelativeResize="0"/>
          <p:nvPr/>
        </p:nvPicPr>
        <p:blipFill>
          <a:blip r:embed="rId3">
            <a:alphaModFix/>
          </a:blip>
          <a:stretch>
            <a:fillRect/>
          </a:stretch>
        </p:blipFill>
        <p:spPr>
          <a:xfrm>
            <a:off x="152400" y="152400"/>
            <a:ext cx="8839204" cy="4523186"/>
          </a:xfrm>
          <a:prstGeom prst="rect">
            <a:avLst/>
          </a:prstGeom>
          <a:noFill/>
          <a:ln>
            <a:noFill/>
          </a:ln>
        </p:spPr>
      </p:pic>
      <p:sp>
        <p:nvSpPr>
          <p:cNvPr id="898" name="Google Shape;898;p1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p121"/>
          <p:cNvPicPr preferRelativeResize="0"/>
          <p:nvPr/>
        </p:nvPicPr>
        <p:blipFill>
          <a:blip r:embed="rId3">
            <a:alphaModFix/>
          </a:blip>
          <a:stretch>
            <a:fillRect/>
          </a:stretch>
        </p:blipFill>
        <p:spPr>
          <a:xfrm>
            <a:off x="152400" y="152400"/>
            <a:ext cx="8839204" cy="4570663"/>
          </a:xfrm>
          <a:prstGeom prst="rect">
            <a:avLst/>
          </a:prstGeom>
          <a:noFill/>
          <a:ln>
            <a:noFill/>
          </a:ln>
        </p:spPr>
      </p:pic>
      <p:sp>
        <p:nvSpPr>
          <p:cNvPr id="904" name="Google Shape;904;p1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pic>
        <p:nvPicPr>
          <p:cNvPr id="909" name="Google Shape;909;p122"/>
          <p:cNvPicPr preferRelativeResize="0"/>
          <p:nvPr/>
        </p:nvPicPr>
        <p:blipFill>
          <a:blip r:embed="rId3">
            <a:alphaModFix/>
          </a:blip>
          <a:stretch>
            <a:fillRect/>
          </a:stretch>
        </p:blipFill>
        <p:spPr>
          <a:xfrm>
            <a:off x="152400" y="152400"/>
            <a:ext cx="8839204" cy="4130429"/>
          </a:xfrm>
          <a:prstGeom prst="rect">
            <a:avLst/>
          </a:prstGeom>
          <a:noFill/>
          <a:ln>
            <a:noFill/>
          </a:ln>
        </p:spPr>
      </p:pic>
      <p:sp>
        <p:nvSpPr>
          <p:cNvPr id="910" name="Google Shape;910;p1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id="915" name="Google Shape;915;p123"/>
          <p:cNvPicPr preferRelativeResize="0"/>
          <p:nvPr/>
        </p:nvPicPr>
        <p:blipFill>
          <a:blip r:embed="rId3">
            <a:alphaModFix/>
          </a:blip>
          <a:stretch>
            <a:fillRect/>
          </a:stretch>
        </p:blipFill>
        <p:spPr>
          <a:xfrm>
            <a:off x="152400" y="152400"/>
            <a:ext cx="8839204" cy="3945132"/>
          </a:xfrm>
          <a:prstGeom prst="rect">
            <a:avLst/>
          </a:prstGeom>
          <a:noFill/>
          <a:ln>
            <a:noFill/>
          </a:ln>
        </p:spPr>
      </p:pic>
      <p:sp>
        <p:nvSpPr>
          <p:cNvPr id="916" name="Google Shape;916;p1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id="921" name="Google Shape;921;p124"/>
          <p:cNvPicPr preferRelativeResize="0"/>
          <p:nvPr/>
        </p:nvPicPr>
        <p:blipFill>
          <a:blip r:embed="rId3">
            <a:alphaModFix/>
          </a:blip>
          <a:stretch>
            <a:fillRect/>
          </a:stretch>
        </p:blipFill>
        <p:spPr>
          <a:xfrm>
            <a:off x="152400" y="152400"/>
            <a:ext cx="8839204" cy="3711775"/>
          </a:xfrm>
          <a:prstGeom prst="rect">
            <a:avLst/>
          </a:prstGeom>
          <a:noFill/>
          <a:ln>
            <a:noFill/>
          </a:ln>
        </p:spPr>
      </p:pic>
      <p:sp>
        <p:nvSpPr>
          <p:cNvPr id="922" name="Google Shape;922;p1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p125"/>
          <p:cNvPicPr preferRelativeResize="0"/>
          <p:nvPr/>
        </p:nvPicPr>
        <p:blipFill>
          <a:blip r:embed="rId3">
            <a:alphaModFix/>
          </a:blip>
          <a:stretch>
            <a:fillRect/>
          </a:stretch>
        </p:blipFill>
        <p:spPr>
          <a:xfrm>
            <a:off x="152400" y="605800"/>
            <a:ext cx="8839204" cy="3931892"/>
          </a:xfrm>
          <a:prstGeom prst="rect">
            <a:avLst/>
          </a:prstGeom>
          <a:noFill/>
          <a:ln>
            <a:noFill/>
          </a:ln>
        </p:spPr>
      </p:pic>
      <p:sp>
        <p:nvSpPr>
          <p:cNvPr id="928" name="Google Shape;928;p12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pic>
        <p:nvPicPr>
          <p:cNvPr id="933" name="Google Shape;933;p126"/>
          <p:cNvPicPr preferRelativeResize="0"/>
          <p:nvPr/>
        </p:nvPicPr>
        <p:blipFill>
          <a:blip r:embed="rId3">
            <a:alphaModFix/>
          </a:blip>
          <a:stretch>
            <a:fillRect/>
          </a:stretch>
        </p:blipFill>
        <p:spPr>
          <a:xfrm>
            <a:off x="152400" y="699950"/>
            <a:ext cx="8839204" cy="3508922"/>
          </a:xfrm>
          <a:prstGeom prst="rect">
            <a:avLst/>
          </a:prstGeom>
          <a:noFill/>
          <a:ln>
            <a:noFill/>
          </a:ln>
        </p:spPr>
      </p:pic>
      <p:sp>
        <p:nvSpPr>
          <p:cNvPr id="934" name="Google Shape;934;p12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pic>
        <p:nvPicPr>
          <p:cNvPr id="939" name="Google Shape;939;p127"/>
          <p:cNvPicPr preferRelativeResize="0"/>
          <p:nvPr/>
        </p:nvPicPr>
        <p:blipFill>
          <a:blip r:embed="rId3">
            <a:alphaModFix/>
          </a:blip>
          <a:stretch>
            <a:fillRect/>
          </a:stretch>
        </p:blipFill>
        <p:spPr>
          <a:xfrm>
            <a:off x="218775" y="948800"/>
            <a:ext cx="8839204" cy="3465762"/>
          </a:xfrm>
          <a:prstGeom prst="rect">
            <a:avLst/>
          </a:prstGeom>
          <a:noFill/>
          <a:ln>
            <a:noFill/>
          </a:ln>
        </p:spPr>
      </p:pic>
      <p:sp>
        <p:nvSpPr>
          <p:cNvPr id="940" name="Google Shape;940;p12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pic>
        <p:nvPicPr>
          <p:cNvPr id="945" name="Google Shape;945;p128"/>
          <p:cNvPicPr preferRelativeResize="0"/>
          <p:nvPr/>
        </p:nvPicPr>
        <p:blipFill>
          <a:blip r:embed="rId3">
            <a:alphaModFix/>
          </a:blip>
          <a:stretch>
            <a:fillRect/>
          </a:stretch>
        </p:blipFill>
        <p:spPr>
          <a:xfrm>
            <a:off x="152400" y="152400"/>
            <a:ext cx="8839204" cy="3746303"/>
          </a:xfrm>
          <a:prstGeom prst="rect">
            <a:avLst/>
          </a:prstGeom>
          <a:noFill/>
          <a:ln>
            <a:noFill/>
          </a:ln>
        </p:spPr>
      </p:pic>
      <p:sp>
        <p:nvSpPr>
          <p:cNvPr id="946" name="Google Shape;946;p12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id="951" name="Google Shape;951;p129"/>
          <p:cNvPicPr preferRelativeResize="0"/>
          <p:nvPr/>
        </p:nvPicPr>
        <p:blipFill>
          <a:blip r:embed="rId3">
            <a:alphaModFix/>
          </a:blip>
          <a:stretch>
            <a:fillRect/>
          </a:stretch>
        </p:blipFill>
        <p:spPr>
          <a:xfrm>
            <a:off x="152400" y="716525"/>
            <a:ext cx="8839204" cy="3379442"/>
          </a:xfrm>
          <a:prstGeom prst="rect">
            <a:avLst/>
          </a:prstGeom>
          <a:noFill/>
          <a:ln>
            <a:noFill/>
          </a:ln>
        </p:spPr>
      </p:pic>
      <p:sp>
        <p:nvSpPr>
          <p:cNvPr id="952" name="Google Shape;952;p12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p130"/>
          <p:cNvPicPr preferRelativeResize="0"/>
          <p:nvPr/>
        </p:nvPicPr>
        <p:blipFill>
          <a:blip r:embed="rId3">
            <a:alphaModFix/>
          </a:blip>
          <a:stretch>
            <a:fillRect/>
          </a:stretch>
        </p:blipFill>
        <p:spPr>
          <a:xfrm>
            <a:off x="152400" y="152400"/>
            <a:ext cx="8839198" cy="3357662"/>
          </a:xfrm>
          <a:prstGeom prst="rect">
            <a:avLst/>
          </a:prstGeom>
          <a:noFill/>
          <a:ln>
            <a:noFill/>
          </a:ln>
        </p:spPr>
      </p:pic>
      <p:sp>
        <p:nvSpPr>
          <p:cNvPr id="958" name="Google Shape;958;p13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p131"/>
          <p:cNvPicPr preferRelativeResize="0"/>
          <p:nvPr/>
        </p:nvPicPr>
        <p:blipFill>
          <a:blip r:embed="rId3">
            <a:alphaModFix/>
          </a:blip>
          <a:stretch>
            <a:fillRect/>
          </a:stretch>
        </p:blipFill>
        <p:spPr>
          <a:xfrm>
            <a:off x="152400" y="152400"/>
            <a:ext cx="8839200" cy="4458558"/>
          </a:xfrm>
          <a:prstGeom prst="rect">
            <a:avLst/>
          </a:prstGeom>
          <a:noFill/>
          <a:ln>
            <a:noFill/>
          </a:ln>
        </p:spPr>
      </p:pic>
      <p:sp>
        <p:nvSpPr>
          <p:cNvPr id="964" name="Google Shape;964;p13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3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3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3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3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Prompt Engineering</a:t>
            </a:r>
            <a:endParaRPr/>
          </a:p>
        </p:txBody>
      </p:sp>
      <p:sp>
        <p:nvSpPr>
          <p:cNvPr id="985" name="Google Shape;985;p135"/>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986" name="Google Shape;986;p13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36"/>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Prompt Engineering? </a:t>
            </a:r>
            <a:endParaRPr/>
          </a:p>
        </p:txBody>
      </p:sp>
      <p:sp>
        <p:nvSpPr>
          <p:cNvPr id="992" name="Google Shape;992;p136"/>
          <p:cNvSpPr txBox="1"/>
          <p:nvPr/>
        </p:nvSpPr>
        <p:spPr>
          <a:xfrm>
            <a:off x="549925" y="1204725"/>
            <a:ext cx="7466100" cy="295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3000">
                <a:solidFill>
                  <a:srgbClr val="202122"/>
                </a:solidFill>
                <a:highlight>
                  <a:srgbClr val="FFFFFF"/>
                </a:highlight>
              </a:rPr>
              <a:t>Prompt engineering</a:t>
            </a:r>
            <a:r>
              <a:rPr lang="en" sz="3000">
                <a:solidFill>
                  <a:srgbClr val="202122"/>
                </a:solidFill>
                <a:highlight>
                  <a:srgbClr val="FFFFFF"/>
                </a:highlight>
              </a:rPr>
              <a:t> is the process of structuring an instruction that can be interpreted and understood by a </a:t>
            </a:r>
            <a:r>
              <a:rPr lang="en" sz="3000">
                <a:solidFill>
                  <a:schemeClr val="hlink"/>
                </a:solidFill>
                <a:highlight>
                  <a:srgbClr val="FFFFFF"/>
                </a:highlight>
                <a:uFill>
                  <a:noFill/>
                </a:uFill>
                <a:hlinkClick r:id="rId3"/>
              </a:rPr>
              <a:t>generative AI</a:t>
            </a:r>
            <a:r>
              <a:rPr lang="en" sz="3000">
                <a:solidFill>
                  <a:srgbClr val="202122"/>
                </a:solidFill>
                <a:highlight>
                  <a:srgbClr val="FFFFFF"/>
                </a:highlight>
              </a:rPr>
              <a:t> model.</a:t>
            </a:r>
            <a:r>
              <a:rPr baseline="30000" lang="en" sz="3000">
                <a:solidFill>
                  <a:schemeClr val="hlink"/>
                </a:solidFill>
                <a:highlight>
                  <a:srgbClr val="FFFFFF"/>
                </a:highlight>
                <a:uFill>
                  <a:noFill/>
                </a:uFill>
                <a:hlinkClick r:id="rId4"/>
              </a:rPr>
              <a:t>[1]</a:t>
            </a:r>
            <a:r>
              <a:rPr baseline="30000" lang="en" sz="3000">
                <a:solidFill>
                  <a:schemeClr val="hlink"/>
                </a:solidFill>
                <a:highlight>
                  <a:srgbClr val="FFFFFF"/>
                </a:highlight>
                <a:uFill>
                  <a:noFill/>
                </a:uFill>
                <a:hlinkClick r:id="rId5"/>
              </a:rPr>
              <a:t>[2]</a:t>
            </a:r>
            <a:r>
              <a:rPr lang="en" sz="3000">
                <a:solidFill>
                  <a:srgbClr val="202122"/>
                </a:solidFill>
                <a:highlight>
                  <a:srgbClr val="FFFFFF"/>
                </a:highlight>
              </a:rPr>
              <a:t> A </a:t>
            </a:r>
            <a:r>
              <a:rPr b="1" lang="en" sz="3000">
                <a:solidFill>
                  <a:srgbClr val="202122"/>
                </a:solidFill>
                <a:highlight>
                  <a:srgbClr val="FFFFFF"/>
                </a:highlight>
              </a:rPr>
              <a:t>prompt</a:t>
            </a:r>
            <a:r>
              <a:rPr lang="en" sz="3000">
                <a:solidFill>
                  <a:srgbClr val="202122"/>
                </a:solidFill>
                <a:highlight>
                  <a:srgbClr val="FFFFFF"/>
                </a:highlight>
              </a:rPr>
              <a:t> is </a:t>
            </a:r>
            <a:r>
              <a:rPr lang="en" sz="3000">
                <a:solidFill>
                  <a:schemeClr val="hlink"/>
                </a:solidFill>
                <a:highlight>
                  <a:srgbClr val="FFFFFF"/>
                </a:highlight>
                <a:uFill>
                  <a:noFill/>
                </a:uFill>
                <a:hlinkClick r:id="rId6"/>
              </a:rPr>
              <a:t>natural language</a:t>
            </a:r>
            <a:r>
              <a:rPr lang="en" sz="3000">
                <a:solidFill>
                  <a:srgbClr val="202122"/>
                </a:solidFill>
                <a:highlight>
                  <a:srgbClr val="FFFFFF"/>
                </a:highlight>
              </a:rPr>
              <a:t> text describing the task that an AI should perform</a:t>
            </a:r>
            <a:endParaRPr b="1" sz="3000"/>
          </a:p>
        </p:txBody>
      </p:sp>
      <p:sp>
        <p:nvSpPr>
          <p:cNvPr id="993" name="Google Shape;993;p13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37"/>
          <p:cNvSpPr txBox="1"/>
          <p:nvPr>
            <p:ph type="title"/>
          </p:nvPr>
        </p:nvSpPr>
        <p:spPr>
          <a:xfrm>
            <a:off x="424800" y="420225"/>
            <a:ext cx="7899900" cy="78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System context (Act like a 5 year old boy)</a:t>
            </a:r>
            <a:endParaRPr/>
          </a:p>
          <a:p>
            <a:pPr indent="0" lvl="0" marL="0" rtl="0" algn="l">
              <a:spcBef>
                <a:spcPts val="0"/>
              </a:spcBef>
              <a:spcAft>
                <a:spcPts val="0"/>
              </a:spcAft>
              <a:buNone/>
            </a:pPr>
            <a:r>
              <a:rPr lang="en"/>
              <a:t>The sky is …</a:t>
            </a:r>
            <a:endParaRPr/>
          </a:p>
        </p:txBody>
      </p:sp>
      <p:sp>
        <p:nvSpPr>
          <p:cNvPr id="999" name="Google Shape;999;p13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00" name="Google Shape;1000;p137"/>
          <p:cNvPicPr preferRelativeResize="0"/>
          <p:nvPr/>
        </p:nvPicPr>
        <p:blipFill>
          <a:blip r:embed="rId3">
            <a:alphaModFix/>
          </a:blip>
          <a:stretch>
            <a:fillRect/>
          </a:stretch>
        </p:blipFill>
        <p:spPr>
          <a:xfrm>
            <a:off x="424800" y="1357125"/>
            <a:ext cx="8155599" cy="242455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38"/>
          <p:cNvSpPr txBox="1"/>
          <p:nvPr>
            <p:ph type="title"/>
          </p:nvPr>
        </p:nvSpPr>
        <p:spPr>
          <a:xfrm>
            <a:off x="424800" y="420225"/>
            <a:ext cx="7899900" cy="78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System context (Act like an astronaut)</a:t>
            </a:r>
            <a:endParaRPr/>
          </a:p>
          <a:p>
            <a:pPr indent="0" lvl="0" marL="0" rtl="0" algn="l">
              <a:spcBef>
                <a:spcPts val="0"/>
              </a:spcBef>
              <a:spcAft>
                <a:spcPts val="0"/>
              </a:spcAft>
              <a:buNone/>
            </a:pPr>
            <a:r>
              <a:rPr lang="en"/>
              <a:t>The sky is …</a:t>
            </a:r>
            <a:endParaRPr/>
          </a:p>
        </p:txBody>
      </p:sp>
      <p:sp>
        <p:nvSpPr>
          <p:cNvPr id="1006" name="Google Shape;1006;p13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07" name="Google Shape;1007;p138"/>
          <p:cNvPicPr preferRelativeResize="0"/>
          <p:nvPr/>
        </p:nvPicPr>
        <p:blipFill>
          <a:blip r:embed="rId3">
            <a:alphaModFix/>
          </a:blip>
          <a:stretch>
            <a:fillRect/>
          </a:stretch>
        </p:blipFill>
        <p:spPr>
          <a:xfrm>
            <a:off x="832675" y="1303300"/>
            <a:ext cx="6676372" cy="363397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39"/>
          <p:cNvSpPr txBox="1"/>
          <p:nvPr>
            <p:ph type="title"/>
          </p:nvPr>
        </p:nvSpPr>
        <p:spPr>
          <a:xfrm>
            <a:off x="251250" y="420225"/>
            <a:ext cx="8561700" cy="78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System context (Act like a metrologist)</a:t>
            </a:r>
            <a:endParaRPr/>
          </a:p>
          <a:p>
            <a:pPr indent="0" lvl="0" marL="0" rtl="0" algn="l">
              <a:spcBef>
                <a:spcPts val="0"/>
              </a:spcBef>
              <a:spcAft>
                <a:spcPts val="0"/>
              </a:spcAft>
              <a:buNone/>
            </a:pPr>
            <a:r>
              <a:rPr lang="en"/>
              <a:t>The sky is …</a:t>
            </a:r>
            <a:endParaRPr/>
          </a:p>
        </p:txBody>
      </p:sp>
      <p:sp>
        <p:nvSpPr>
          <p:cNvPr id="1013" name="Google Shape;1013;p13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14" name="Google Shape;1014;p139"/>
          <p:cNvPicPr preferRelativeResize="0"/>
          <p:nvPr/>
        </p:nvPicPr>
        <p:blipFill>
          <a:blip r:embed="rId3">
            <a:alphaModFix/>
          </a:blip>
          <a:stretch>
            <a:fillRect/>
          </a:stretch>
        </p:blipFill>
        <p:spPr>
          <a:xfrm>
            <a:off x="799475" y="1303300"/>
            <a:ext cx="6634117" cy="363397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40"/>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Prompt Engineering Types Google </a:t>
            </a:r>
            <a:r>
              <a:rPr lang="en" u="sng">
                <a:solidFill>
                  <a:schemeClr val="hlink"/>
                </a:solidFill>
                <a:hlinkClick r:id="rId3"/>
              </a:rPr>
              <a:t>Link</a:t>
            </a:r>
            <a:endParaRPr/>
          </a:p>
        </p:txBody>
      </p:sp>
      <p:sp>
        <p:nvSpPr>
          <p:cNvPr id="1020" name="Google Shape;1020;p140"/>
          <p:cNvSpPr txBox="1"/>
          <p:nvPr/>
        </p:nvSpPr>
        <p:spPr>
          <a:xfrm>
            <a:off x="549925" y="1204725"/>
            <a:ext cx="7466100" cy="2493600"/>
          </a:xfrm>
          <a:prstGeom prst="rect">
            <a:avLst/>
          </a:prstGeom>
          <a:noFill/>
          <a:ln>
            <a:noFill/>
          </a:ln>
        </p:spPr>
        <p:txBody>
          <a:bodyPr anchorCtr="0" anchor="t" bIns="91425" lIns="91425" spcFirstLastPara="1" rIns="91425" wrap="square" tIns="91425">
            <a:spAutoFit/>
          </a:bodyPr>
          <a:lstStyle/>
          <a:p>
            <a:pPr indent="-419100" lvl="0" marL="457200" rtl="0" algn="just">
              <a:spcBef>
                <a:spcPts val="0"/>
              </a:spcBef>
              <a:spcAft>
                <a:spcPts val="0"/>
              </a:spcAft>
              <a:buClr>
                <a:srgbClr val="202122"/>
              </a:buClr>
              <a:buSzPts val="3000"/>
              <a:buChar char="●"/>
            </a:pPr>
            <a:r>
              <a:rPr b="1" lang="en" sz="3000">
                <a:solidFill>
                  <a:srgbClr val="202122"/>
                </a:solidFill>
                <a:highlight>
                  <a:srgbClr val="FFFFFF"/>
                </a:highlight>
              </a:rPr>
              <a:t>Zero Shot</a:t>
            </a:r>
            <a:endParaRPr b="1" sz="3000">
              <a:solidFill>
                <a:srgbClr val="202122"/>
              </a:solidFill>
              <a:highlight>
                <a:srgbClr val="FFFFFF"/>
              </a:highlight>
            </a:endParaRPr>
          </a:p>
          <a:p>
            <a:pPr indent="-419100" lvl="0" marL="457200" rtl="0" algn="just">
              <a:spcBef>
                <a:spcPts val="0"/>
              </a:spcBef>
              <a:spcAft>
                <a:spcPts val="0"/>
              </a:spcAft>
              <a:buClr>
                <a:srgbClr val="202122"/>
              </a:buClr>
              <a:buSzPts val="3000"/>
              <a:buChar char="●"/>
            </a:pPr>
            <a:r>
              <a:rPr b="1" lang="en" sz="3000">
                <a:solidFill>
                  <a:srgbClr val="202122"/>
                </a:solidFill>
                <a:highlight>
                  <a:srgbClr val="FFFFFF"/>
                </a:highlight>
              </a:rPr>
              <a:t>One Shot</a:t>
            </a:r>
            <a:endParaRPr b="1" sz="3000">
              <a:solidFill>
                <a:srgbClr val="202122"/>
              </a:solidFill>
              <a:highlight>
                <a:srgbClr val="FFFFFF"/>
              </a:highlight>
            </a:endParaRPr>
          </a:p>
          <a:p>
            <a:pPr indent="-419100" lvl="0" marL="457200" rtl="0" algn="just">
              <a:spcBef>
                <a:spcPts val="0"/>
              </a:spcBef>
              <a:spcAft>
                <a:spcPts val="0"/>
              </a:spcAft>
              <a:buClr>
                <a:srgbClr val="202122"/>
              </a:buClr>
              <a:buSzPts val="3000"/>
              <a:buChar char="●"/>
            </a:pPr>
            <a:r>
              <a:rPr b="1" lang="en" sz="3000">
                <a:solidFill>
                  <a:srgbClr val="202122"/>
                </a:solidFill>
                <a:highlight>
                  <a:srgbClr val="FFFFFF"/>
                </a:highlight>
              </a:rPr>
              <a:t>Few Shot</a:t>
            </a:r>
            <a:endParaRPr b="1" sz="3000">
              <a:solidFill>
                <a:srgbClr val="202122"/>
              </a:solidFill>
              <a:highlight>
                <a:srgbClr val="FFFFFF"/>
              </a:highlight>
            </a:endParaRPr>
          </a:p>
          <a:p>
            <a:pPr indent="-419100" lvl="0" marL="457200" rtl="0" algn="just">
              <a:spcBef>
                <a:spcPts val="0"/>
              </a:spcBef>
              <a:spcAft>
                <a:spcPts val="0"/>
              </a:spcAft>
              <a:buClr>
                <a:srgbClr val="202122"/>
              </a:buClr>
              <a:buSzPts val="3000"/>
              <a:buChar char="●"/>
            </a:pPr>
            <a:r>
              <a:rPr b="1" lang="en" sz="3000">
                <a:solidFill>
                  <a:srgbClr val="202122"/>
                </a:solidFill>
                <a:highlight>
                  <a:srgbClr val="FFFFFF"/>
                </a:highlight>
              </a:rPr>
              <a:t>Chain of Thought</a:t>
            </a:r>
            <a:endParaRPr b="1" sz="3000">
              <a:solidFill>
                <a:srgbClr val="202122"/>
              </a:solidFill>
              <a:highlight>
                <a:srgbClr val="FFFFFF"/>
              </a:highlight>
            </a:endParaRPr>
          </a:p>
          <a:p>
            <a:pPr indent="-419100" lvl="0" marL="457200" rtl="0" algn="just">
              <a:spcBef>
                <a:spcPts val="0"/>
              </a:spcBef>
              <a:spcAft>
                <a:spcPts val="0"/>
              </a:spcAft>
              <a:buClr>
                <a:srgbClr val="202122"/>
              </a:buClr>
              <a:buSzPts val="3000"/>
              <a:buChar char="●"/>
            </a:pPr>
            <a:r>
              <a:rPr b="1" lang="en" sz="3000">
                <a:solidFill>
                  <a:srgbClr val="202122"/>
                </a:solidFill>
                <a:highlight>
                  <a:srgbClr val="FFFFFF"/>
                </a:highlight>
              </a:rPr>
              <a:t>Tree of Thoughts</a:t>
            </a:r>
            <a:endParaRPr b="1" sz="3000">
              <a:solidFill>
                <a:srgbClr val="202122"/>
              </a:solidFill>
              <a:highlight>
                <a:srgbClr val="FFFFFF"/>
              </a:highlight>
            </a:endParaRPr>
          </a:p>
        </p:txBody>
      </p:sp>
      <p:sp>
        <p:nvSpPr>
          <p:cNvPr id="1021" name="Google Shape;1021;p14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41"/>
          <p:cNvSpPr txBox="1"/>
          <p:nvPr>
            <p:ph type="title"/>
          </p:nvPr>
        </p:nvSpPr>
        <p:spPr>
          <a:xfrm>
            <a:off x="819150" y="845600"/>
            <a:ext cx="7505700" cy="39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Definitions of Types of Prompting styles</a:t>
            </a:r>
            <a:endParaRPr/>
          </a:p>
        </p:txBody>
      </p:sp>
      <p:sp>
        <p:nvSpPr>
          <p:cNvPr id="1027" name="Google Shape;1027;p141"/>
          <p:cNvSpPr txBox="1"/>
          <p:nvPr>
            <p:ph idx="1" type="body"/>
          </p:nvPr>
        </p:nvSpPr>
        <p:spPr>
          <a:xfrm>
            <a:off x="819150" y="1580975"/>
            <a:ext cx="7505700" cy="285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Zero Shot</a:t>
            </a:r>
            <a:r>
              <a:rPr lang="en" sz="1100">
                <a:solidFill>
                  <a:srgbClr val="000000"/>
                </a:solidFill>
                <a:latin typeface="Arial"/>
                <a:ea typeface="Arial"/>
                <a:cs typeface="Arial"/>
                <a:sym typeface="Arial"/>
              </a:rPr>
              <a:t>: Making predictions without prior task-specific training. Useful in sentiment analysis and classification tasks.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One Shot</a:t>
            </a:r>
            <a:r>
              <a:rPr lang="en" sz="1100">
                <a:solidFill>
                  <a:srgbClr val="000000"/>
                </a:solidFill>
                <a:latin typeface="Arial"/>
                <a:ea typeface="Arial"/>
                <a:cs typeface="Arial"/>
                <a:sym typeface="Arial"/>
              </a:rPr>
              <a:t>: Learning from a single example to generalize. Useful in tasks like text classification.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Few Shot</a:t>
            </a:r>
            <a:r>
              <a:rPr lang="en" sz="1100">
                <a:solidFill>
                  <a:srgbClr val="000000"/>
                </a:solidFill>
                <a:latin typeface="Arial"/>
                <a:ea typeface="Arial"/>
                <a:cs typeface="Arial"/>
                <a:sym typeface="Arial"/>
              </a:rPr>
              <a:t>: Learning from a few examples to understand and perform tasks. Useful in text completion and generation.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Chain of Thought</a:t>
            </a:r>
            <a:r>
              <a:rPr lang="en" sz="1100">
                <a:solidFill>
                  <a:srgbClr val="000000"/>
                </a:solidFill>
                <a:latin typeface="Arial"/>
                <a:ea typeface="Arial"/>
                <a:cs typeface="Arial"/>
                <a:sym typeface="Arial"/>
              </a:rPr>
              <a:t>: Step-by-step reasoning to solve complex tasks. Useful in arithmetic and logical problem solving.</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Tree of Thought</a:t>
            </a:r>
            <a:r>
              <a:rPr lang="en" sz="1100">
                <a:solidFill>
                  <a:srgbClr val="000000"/>
                </a:solidFill>
                <a:latin typeface="Arial"/>
                <a:ea typeface="Arial"/>
                <a:cs typeface="Arial"/>
                <a:sym typeface="Arial"/>
              </a:rPr>
              <a:t>: Exploring multiple branches of reasoning for decision-making. Useful in strategic planning and game theory.</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028" name="Google Shape;1028;p14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4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34" name="Google Shape;1034;p142"/>
          <p:cNvPicPr preferRelativeResize="0"/>
          <p:nvPr/>
        </p:nvPicPr>
        <p:blipFill>
          <a:blip r:embed="rId3">
            <a:alphaModFix/>
          </a:blip>
          <a:stretch>
            <a:fillRect/>
          </a:stretch>
        </p:blipFill>
        <p:spPr>
          <a:xfrm>
            <a:off x="914925" y="152400"/>
            <a:ext cx="6852475" cy="48387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4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40" name="Google Shape;1040;p143"/>
          <p:cNvPicPr preferRelativeResize="0"/>
          <p:nvPr/>
        </p:nvPicPr>
        <p:blipFill>
          <a:blip r:embed="rId3">
            <a:alphaModFix/>
          </a:blip>
          <a:stretch>
            <a:fillRect/>
          </a:stretch>
        </p:blipFill>
        <p:spPr>
          <a:xfrm>
            <a:off x="1413375" y="152400"/>
            <a:ext cx="6757650" cy="4838698"/>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4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46" name="Google Shape;1046;p144"/>
          <p:cNvPicPr preferRelativeResize="0"/>
          <p:nvPr/>
        </p:nvPicPr>
        <p:blipFill>
          <a:blip r:embed="rId3">
            <a:alphaModFix/>
          </a:blip>
          <a:stretch>
            <a:fillRect/>
          </a:stretch>
        </p:blipFill>
        <p:spPr>
          <a:xfrm>
            <a:off x="152400" y="152400"/>
            <a:ext cx="8085930" cy="475514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4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52" name="Google Shape;1052;p145"/>
          <p:cNvPicPr preferRelativeResize="0"/>
          <p:nvPr/>
        </p:nvPicPr>
        <p:blipFill>
          <a:blip r:embed="rId3">
            <a:alphaModFix/>
          </a:blip>
          <a:stretch>
            <a:fillRect/>
          </a:stretch>
        </p:blipFill>
        <p:spPr>
          <a:xfrm>
            <a:off x="304800" y="733100"/>
            <a:ext cx="8839201" cy="3538016"/>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4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58" name="Google Shape;1058;p146"/>
          <p:cNvSpPr txBox="1"/>
          <p:nvPr/>
        </p:nvSpPr>
        <p:spPr>
          <a:xfrm>
            <a:off x="1021875" y="1071475"/>
            <a:ext cx="6366000" cy="29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2"/>
                </a:solidFill>
                <a:latin typeface="Calibri"/>
                <a:ea typeface="Calibri"/>
                <a:cs typeface="Calibri"/>
                <a:sym typeface="Calibri"/>
              </a:rPr>
              <a:t>References:</a:t>
            </a:r>
            <a:endParaRPr b="1" sz="1700">
              <a:solidFill>
                <a:schemeClr val="dk2"/>
              </a:solidFill>
              <a:latin typeface="Calibri"/>
              <a:ea typeface="Calibri"/>
              <a:cs typeface="Calibri"/>
              <a:sym typeface="Calibri"/>
            </a:endParaRPr>
          </a:p>
          <a:p>
            <a:pPr indent="0" lvl="0" marL="0" rtl="0" algn="l">
              <a:spcBef>
                <a:spcPts val="0"/>
              </a:spcBef>
              <a:spcAft>
                <a:spcPts val="0"/>
              </a:spcAft>
              <a:buNone/>
            </a:pPr>
            <a:r>
              <a:t/>
            </a:r>
            <a:endParaRPr b="1" sz="1700">
              <a:solidFill>
                <a:schemeClr val="dk2"/>
              </a:solidFill>
              <a:latin typeface="Calibri"/>
              <a:ea typeface="Calibri"/>
              <a:cs typeface="Calibri"/>
              <a:sym typeface="Calibri"/>
            </a:endParaRPr>
          </a:p>
          <a:p>
            <a:pPr indent="0" lvl="0" marL="0" rtl="0" algn="l">
              <a:spcBef>
                <a:spcPts val="0"/>
              </a:spcBef>
              <a:spcAft>
                <a:spcPts val="0"/>
              </a:spcAft>
              <a:buNone/>
            </a:pPr>
            <a:r>
              <a:rPr b="1" lang="en" sz="1700" u="sng">
                <a:solidFill>
                  <a:schemeClr val="hlink"/>
                </a:solidFill>
                <a:latin typeface="Calibri"/>
                <a:ea typeface="Calibri"/>
                <a:cs typeface="Calibri"/>
                <a:sym typeface="Calibri"/>
                <a:hlinkClick r:id="rId3"/>
              </a:rPr>
              <a:t>https://www.promptingguide.ai/</a:t>
            </a:r>
            <a:endParaRPr b="1" sz="1700">
              <a:solidFill>
                <a:schemeClr val="dk2"/>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4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Where to start handson</a:t>
            </a:r>
            <a:endParaRPr/>
          </a:p>
        </p:txBody>
      </p:sp>
      <p:sp>
        <p:nvSpPr>
          <p:cNvPr id="1064" name="Google Shape;1064;p14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65" name="Google Shape;1065;p147"/>
          <p:cNvPicPr preferRelativeResize="0"/>
          <p:nvPr/>
        </p:nvPicPr>
        <p:blipFill>
          <a:blip r:embed="rId3">
            <a:alphaModFix/>
          </a:blip>
          <a:stretch>
            <a:fillRect/>
          </a:stretch>
        </p:blipFill>
        <p:spPr>
          <a:xfrm>
            <a:off x="3622628" y="484225"/>
            <a:ext cx="1619197" cy="1651798"/>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48"/>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 (Python/vscode)</a:t>
            </a:r>
            <a:endParaRPr/>
          </a:p>
        </p:txBody>
      </p:sp>
      <p:sp>
        <p:nvSpPr>
          <p:cNvPr id="1071" name="Google Shape;1071;p148"/>
          <p:cNvSpPr txBox="1"/>
          <p:nvPr>
            <p:ph idx="1" type="body"/>
          </p:nvPr>
        </p:nvSpPr>
        <p:spPr>
          <a:xfrm>
            <a:off x="264075" y="1204725"/>
            <a:ext cx="8630700" cy="3234000"/>
          </a:xfrm>
          <a:prstGeom prst="rect">
            <a:avLst/>
          </a:prstGeom>
        </p:spPr>
        <p:txBody>
          <a:bodyPr anchorCtr="0" anchor="t" bIns="91425" lIns="91425" spcFirstLastPara="1" rIns="91425" wrap="square" tIns="91425">
            <a:normAutofit lnSpcReduction="20000"/>
          </a:bodyPr>
          <a:lstStyle/>
          <a:p>
            <a:pPr indent="-393700" lvl="0" marL="457200" rtl="0" algn="l">
              <a:spcBef>
                <a:spcPts val="0"/>
              </a:spcBef>
              <a:spcAft>
                <a:spcPts val="0"/>
              </a:spcAft>
              <a:buSzPts val="2600"/>
              <a:buChar char="●"/>
            </a:pPr>
            <a:r>
              <a:rPr b="1" lang="en" sz="2600"/>
              <a:t>Vscode</a:t>
            </a:r>
            <a:endParaRPr b="1" sz="2600"/>
          </a:p>
          <a:p>
            <a:pPr indent="-393700" lvl="1" marL="914400" rtl="0" algn="l">
              <a:spcBef>
                <a:spcPts val="0"/>
              </a:spcBef>
              <a:spcAft>
                <a:spcPts val="0"/>
              </a:spcAft>
              <a:buSzPts val="2600"/>
              <a:buChar char="○"/>
            </a:pPr>
            <a:r>
              <a:rPr b="1" lang="en" sz="2600"/>
              <a:t>https://code.visualstudio.com/docs/setup/setup-overview</a:t>
            </a:r>
            <a:endParaRPr b="1" sz="2600"/>
          </a:p>
          <a:p>
            <a:pPr indent="-393700" lvl="0" marL="457200" rtl="0" algn="l">
              <a:spcBef>
                <a:spcPts val="0"/>
              </a:spcBef>
              <a:spcAft>
                <a:spcPts val="0"/>
              </a:spcAft>
              <a:buSzPts val="2600"/>
              <a:buChar char="●"/>
            </a:pPr>
            <a:r>
              <a:rPr b="1" lang="en" sz="2600"/>
              <a:t>Install Java/JRE</a:t>
            </a:r>
            <a:endParaRPr b="1" sz="2600"/>
          </a:p>
          <a:p>
            <a:pPr indent="-393700" lvl="0" marL="457200" rtl="0" algn="l">
              <a:spcBef>
                <a:spcPts val="0"/>
              </a:spcBef>
              <a:spcAft>
                <a:spcPts val="0"/>
              </a:spcAft>
              <a:buSzPts val="2600"/>
              <a:buChar char="●"/>
            </a:pPr>
            <a:r>
              <a:rPr b="1" lang="en" sz="2600"/>
              <a:t>Install Python extensions</a:t>
            </a:r>
            <a:endParaRPr b="1" sz="2600"/>
          </a:p>
          <a:p>
            <a:pPr indent="-393700" lvl="0" marL="457200" rtl="0" algn="l">
              <a:spcBef>
                <a:spcPts val="0"/>
              </a:spcBef>
              <a:spcAft>
                <a:spcPts val="0"/>
              </a:spcAft>
              <a:buSzPts val="2600"/>
              <a:buChar char="●"/>
            </a:pPr>
            <a:r>
              <a:rPr b="1" lang="en" sz="2600"/>
              <a:t>Virtual env : </a:t>
            </a:r>
            <a:endParaRPr b="1" sz="2600"/>
          </a:p>
          <a:p>
            <a:pPr indent="-393700" lvl="1" marL="914400" rtl="0" algn="l">
              <a:spcBef>
                <a:spcPts val="0"/>
              </a:spcBef>
              <a:spcAft>
                <a:spcPts val="0"/>
              </a:spcAft>
              <a:buSzPts val="2600"/>
              <a:buChar char="○"/>
            </a:pPr>
            <a:r>
              <a:rPr b="1" lang="en" sz="2600"/>
              <a:t>python3 -m venv myenv1; source myenv1/bin/activate</a:t>
            </a:r>
            <a:endParaRPr b="1" sz="2600"/>
          </a:p>
          <a:p>
            <a:pPr indent="0" lvl="0" marL="0" rtl="0" algn="l">
              <a:spcBef>
                <a:spcPts val="1200"/>
              </a:spcBef>
              <a:spcAft>
                <a:spcPts val="1200"/>
              </a:spcAft>
              <a:buNone/>
            </a:pPr>
            <a:r>
              <a:t/>
            </a:r>
            <a:endParaRPr b="1"/>
          </a:p>
        </p:txBody>
      </p:sp>
      <p:sp>
        <p:nvSpPr>
          <p:cNvPr id="1072" name="Google Shape;1072;p14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49"/>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resources (OpenAI)</a:t>
            </a:r>
            <a:endParaRPr/>
          </a:p>
        </p:txBody>
      </p:sp>
      <p:sp>
        <p:nvSpPr>
          <p:cNvPr id="1078" name="Google Shape;1078;p149"/>
          <p:cNvSpPr txBox="1"/>
          <p:nvPr>
            <p:ph idx="1" type="body"/>
          </p:nvPr>
        </p:nvSpPr>
        <p:spPr>
          <a:xfrm>
            <a:off x="424800" y="1070600"/>
            <a:ext cx="8469900" cy="3368100"/>
          </a:xfrm>
          <a:prstGeom prst="rect">
            <a:avLst/>
          </a:prstGeom>
        </p:spPr>
        <p:txBody>
          <a:bodyPr anchorCtr="0" anchor="t" bIns="91425" lIns="91425" spcFirstLastPara="1" rIns="91425" wrap="square" tIns="91425">
            <a:normAutofit fontScale="77500" lnSpcReduction="20000"/>
          </a:bodyPr>
          <a:lstStyle/>
          <a:p>
            <a:pPr indent="-356552" lvl="0" marL="457200" rtl="0" algn="l">
              <a:spcBef>
                <a:spcPts val="0"/>
              </a:spcBef>
              <a:spcAft>
                <a:spcPts val="0"/>
              </a:spcAft>
              <a:buSzPct val="100000"/>
              <a:buChar char="●"/>
            </a:pPr>
            <a:r>
              <a:rPr b="1" lang="en" sz="2600"/>
              <a:t>OpenAI:</a:t>
            </a:r>
            <a:endParaRPr b="1" sz="2600"/>
          </a:p>
          <a:p>
            <a:pPr indent="-356552" lvl="1" marL="914400" rtl="0" algn="l">
              <a:spcBef>
                <a:spcPts val="0"/>
              </a:spcBef>
              <a:spcAft>
                <a:spcPts val="0"/>
              </a:spcAft>
              <a:buSzPct val="100000"/>
              <a:buChar char="○"/>
            </a:pPr>
            <a:r>
              <a:rPr b="1" lang="en" sz="2600" u="sng">
                <a:solidFill>
                  <a:schemeClr val="hlink"/>
                </a:solidFill>
                <a:hlinkClick r:id="rId3"/>
              </a:rPr>
              <a:t>https://platform.openai.com/docs/quickstart</a:t>
            </a:r>
            <a:endParaRPr b="1" sz="2600"/>
          </a:p>
          <a:p>
            <a:pPr indent="-356552" lvl="0" marL="457200" rtl="0" algn="l">
              <a:spcBef>
                <a:spcPts val="0"/>
              </a:spcBef>
              <a:spcAft>
                <a:spcPts val="0"/>
              </a:spcAft>
              <a:buSzPct val="100000"/>
              <a:buChar char="●"/>
            </a:pPr>
            <a:r>
              <a:rPr b="1" lang="en" sz="2600"/>
              <a:t>API keys: </a:t>
            </a:r>
            <a:endParaRPr b="1" sz="2600"/>
          </a:p>
          <a:p>
            <a:pPr indent="-356552" lvl="1" marL="914400" rtl="0" algn="l">
              <a:spcBef>
                <a:spcPts val="0"/>
              </a:spcBef>
              <a:spcAft>
                <a:spcPts val="0"/>
              </a:spcAft>
              <a:buSzPct val="100000"/>
              <a:buChar char="○"/>
            </a:pPr>
            <a:r>
              <a:rPr b="1" lang="en" sz="2600" u="sng">
                <a:solidFill>
                  <a:schemeClr val="hlink"/>
                </a:solidFill>
                <a:hlinkClick r:id="rId4"/>
              </a:rPr>
              <a:t>https://platform.openai.com/organization/api-keys</a:t>
            </a:r>
            <a:endParaRPr b="1" sz="2600"/>
          </a:p>
          <a:p>
            <a:pPr indent="-356552" lvl="0" marL="457200" rtl="0" algn="l">
              <a:spcBef>
                <a:spcPts val="0"/>
              </a:spcBef>
              <a:spcAft>
                <a:spcPts val="0"/>
              </a:spcAft>
              <a:buSzPct val="100000"/>
              <a:buChar char="●"/>
            </a:pPr>
            <a:r>
              <a:rPr b="1" lang="en" sz="2600"/>
              <a:t>Set env</a:t>
            </a:r>
            <a:endParaRPr b="1" sz="2600"/>
          </a:p>
          <a:p>
            <a:pPr indent="-356552" lvl="1" marL="914400" rtl="0" algn="l">
              <a:spcBef>
                <a:spcPts val="0"/>
              </a:spcBef>
              <a:spcAft>
                <a:spcPts val="0"/>
              </a:spcAft>
              <a:buSzPct val="100000"/>
              <a:buChar char="○"/>
            </a:pPr>
            <a:r>
              <a:rPr b="1" lang="en" sz="2600"/>
              <a:t>Create .env and set OPENAI_API_KEY=’your key’</a:t>
            </a:r>
            <a:endParaRPr b="1" sz="2600"/>
          </a:p>
          <a:p>
            <a:pPr indent="-356552" lvl="1" marL="914400" rtl="0" algn="l">
              <a:spcBef>
                <a:spcPts val="0"/>
              </a:spcBef>
              <a:spcAft>
                <a:spcPts val="0"/>
              </a:spcAft>
              <a:buSzPct val="100000"/>
              <a:buChar char="○"/>
            </a:pPr>
            <a:r>
              <a:rPr b="1" lang="en" sz="2600"/>
              <a:t>printenv, </a:t>
            </a:r>
            <a:endParaRPr b="1" sz="2600"/>
          </a:p>
          <a:p>
            <a:pPr indent="-356552" lvl="1" marL="914400" rtl="0" algn="l">
              <a:spcBef>
                <a:spcPts val="0"/>
              </a:spcBef>
              <a:spcAft>
                <a:spcPts val="0"/>
              </a:spcAft>
              <a:buSzPct val="100000"/>
              <a:buChar char="○"/>
            </a:pPr>
            <a:r>
              <a:rPr b="1" lang="en" sz="2600"/>
              <a:t>export OPENAI_API_KEY=’your key’, </a:t>
            </a:r>
            <a:endParaRPr b="1" sz="2600"/>
          </a:p>
          <a:p>
            <a:pPr indent="-356552" lvl="1" marL="914400" rtl="0" algn="l">
              <a:spcBef>
                <a:spcPts val="0"/>
              </a:spcBef>
              <a:spcAft>
                <a:spcPts val="0"/>
              </a:spcAft>
              <a:buSzPct val="100000"/>
              <a:buChar char="○"/>
            </a:pPr>
            <a:r>
              <a:rPr b="1" lang="en" sz="2600"/>
              <a:t>echo $OPENAI_API_KEY</a:t>
            </a:r>
            <a:endParaRPr sz="850">
              <a:solidFill>
                <a:srgbClr val="000000"/>
              </a:solidFill>
              <a:latin typeface="Arial"/>
              <a:ea typeface="Arial"/>
              <a:cs typeface="Arial"/>
              <a:sym typeface="Arial"/>
            </a:endParaRPr>
          </a:p>
          <a:p>
            <a:pPr indent="0" lvl="0" marL="0" rtl="0" algn="l">
              <a:spcBef>
                <a:spcPts val="1200"/>
              </a:spcBef>
              <a:spcAft>
                <a:spcPts val="1200"/>
              </a:spcAft>
              <a:buNone/>
            </a:pPr>
            <a:r>
              <a:t/>
            </a:r>
            <a:endParaRPr b="1"/>
          </a:p>
        </p:txBody>
      </p:sp>
      <p:sp>
        <p:nvSpPr>
          <p:cNvPr id="1079" name="Google Shape;1079;p14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50"/>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resources (Prompt Engineering)</a:t>
            </a:r>
            <a:endParaRPr/>
          </a:p>
        </p:txBody>
      </p:sp>
      <p:sp>
        <p:nvSpPr>
          <p:cNvPr id="1085" name="Google Shape;1085;p150"/>
          <p:cNvSpPr txBox="1"/>
          <p:nvPr>
            <p:ph idx="1" type="body"/>
          </p:nvPr>
        </p:nvSpPr>
        <p:spPr>
          <a:xfrm>
            <a:off x="424800" y="1070600"/>
            <a:ext cx="8469900" cy="3368100"/>
          </a:xfrm>
          <a:prstGeom prst="rect">
            <a:avLst/>
          </a:prstGeom>
        </p:spPr>
        <p:txBody>
          <a:bodyPr anchorCtr="0" anchor="t" bIns="91425" lIns="91425" spcFirstLastPara="1" rIns="91425" wrap="square" tIns="91425">
            <a:normAutofit/>
          </a:bodyPr>
          <a:lstStyle/>
          <a:p>
            <a:pPr indent="-393700" lvl="0" marL="457200" rtl="0" algn="l">
              <a:spcBef>
                <a:spcPts val="0"/>
              </a:spcBef>
              <a:spcAft>
                <a:spcPts val="0"/>
              </a:spcAft>
              <a:buSzPts val="2600"/>
              <a:buChar char="●"/>
            </a:pPr>
            <a:r>
              <a:rPr b="1" lang="en" sz="2600"/>
              <a:t>Sentimental prompts:</a:t>
            </a:r>
            <a:endParaRPr b="1" sz="2600"/>
          </a:p>
          <a:p>
            <a:pPr indent="-393700" lvl="1" marL="914400" rtl="0" algn="l">
              <a:spcBef>
                <a:spcPts val="0"/>
              </a:spcBef>
              <a:spcAft>
                <a:spcPts val="0"/>
              </a:spcAft>
              <a:buSzPts val="2600"/>
              <a:buChar char="○"/>
            </a:pPr>
            <a:r>
              <a:rPr b="1" lang="en" sz="2600"/>
              <a:t>https://www.promptingguide.ai/prompts/classification/sentiment</a:t>
            </a:r>
            <a:endParaRPr b="1" sz="2600"/>
          </a:p>
          <a:p>
            <a:pPr indent="0" lvl="0" marL="0" rtl="0" algn="l">
              <a:spcBef>
                <a:spcPts val="1200"/>
              </a:spcBef>
              <a:spcAft>
                <a:spcPts val="1200"/>
              </a:spcAft>
              <a:buNone/>
            </a:pPr>
            <a:r>
              <a:t/>
            </a:r>
            <a:endParaRPr b="1"/>
          </a:p>
        </p:txBody>
      </p:sp>
      <p:sp>
        <p:nvSpPr>
          <p:cNvPr id="1086" name="Google Shape;1086;p15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51"/>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resources (langchain)</a:t>
            </a:r>
            <a:endParaRPr/>
          </a:p>
        </p:txBody>
      </p:sp>
      <p:sp>
        <p:nvSpPr>
          <p:cNvPr id="1092" name="Google Shape;1092;p151"/>
          <p:cNvSpPr txBox="1"/>
          <p:nvPr>
            <p:ph idx="1" type="body"/>
          </p:nvPr>
        </p:nvSpPr>
        <p:spPr>
          <a:xfrm>
            <a:off x="424800" y="1070600"/>
            <a:ext cx="8469900" cy="336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rPr b="1" lang="en" sz="1600"/>
              <a:t>Examples:</a:t>
            </a:r>
            <a:endParaRPr b="1" sz="1600"/>
          </a:p>
          <a:p>
            <a:pPr indent="0" lvl="0" marL="0" rtl="0" algn="l">
              <a:spcBef>
                <a:spcPts val="1200"/>
              </a:spcBef>
              <a:spcAft>
                <a:spcPts val="1200"/>
              </a:spcAft>
              <a:buNone/>
            </a:pPr>
            <a:r>
              <a:rPr b="1" lang="en" sz="1600"/>
              <a:t>https://python.langchain.com/v0.2/docs/tutorials/llm_chain/</a:t>
            </a:r>
            <a:endParaRPr b="1" sz="1600"/>
          </a:p>
        </p:txBody>
      </p:sp>
      <p:sp>
        <p:nvSpPr>
          <p:cNvPr id="1093" name="Google Shape;1093;p15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52"/>
          <p:cNvSpPr txBox="1"/>
          <p:nvPr>
            <p:ph type="title"/>
          </p:nvPr>
        </p:nvSpPr>
        <p:spPr>
          <a:xfrm>
            <a:off x="424800" y="420225"/>
            <a:ext cx="78999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resources (higgingface)</a:t>
            </a:r>
            <a:endParaRPr/>
          </a:p>
        </p:txBody>
      </p:sp>
      <p:sp>
        <p:nvSpPr>
          <p:cNvPr id="1099" name="Google Shape;1099;p152"/>
          <p:cNvSpPr txBox="1"/>
          <p:nvPr>
            <p:ph idx="1" type="body"/>
          </p:nvPr>
        </p:nvSpPr>
        <p:spPr>
          <a:xfrm>
            <a:off x="424800" y="1070600"/>
            <a:ext cx="8469900" cy="3368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https://huggingface.co/docs/transformers/v4.15.0/en/examples</a:t>
            </a:r>
            <a:endParaRPr b="1"/>
          </a:p>
        </p:txBody>
      </p:sp>
      <p:sp>
        <p:nvSpPr>
          <p:cNvPr id="1100" name="Google Shape;1100;p15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53"/>
          <p:cNvSpPr txBox="1"/>
          <p:nvPr>
            <p:ph type="ctrTitle"/>
          </p:nvPr>
        </p:nvSpPr>
        <p:spPr>
          <a:xfrm>
            <a:off x="652674" y="1821700"/>
            <a:ext cx="65673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5633"/>
              <a:t>LLM</a:t>
            </a:r>
            <a:endParaRPr b="1" sz="5633"/>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1106" name="Google Shape;1106;p15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54"/>
          <p:cNvSpPr txBox="1"/>
          <p:nvPr>
            <p:ph type="ctrTitle"/>
          </p:nvPr>
        </p:nvSpPr>
        <p:spPr>
          <a:xfrm>
            <a:off x="652674" y="1821700"/>
            <a:ext cx="65673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3744"/>
              <a:t>Large Lang Models are Trained in Public huge datasets like  10TB approx  with large GPU machines like 6000 GPUs and cost 2M takes to 12 days to train</a:t>
            </a:r>
            <a:endParaRPr b="1" sz="3744"/>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1112" name="Google Shape;1112;p15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55"/>
          <p:cNvSpPr txBox="1"/>
          <p:nvPr>
            <p:ph idx="1" type="body"/>
          </p:nvPr>
        </p:nvSpPr>
        <p:spPr>
          <a:xfrm>
            <a:off x="660400" y="1219200"/>
            <a:ext cx="5892900" cy="3219600"/>
          </a:xfrm>
          <a:prstGeom prst="rect">
            <a:avLst/>
          </a:prstGeom>
        </p:spPr>
        <p:txBody>
          <a:bodyPr anchorCtr="0" anchor="t" bIns="91425" lIns="91425" spcFirstLastPara="1" rIns="91425" wrap="square" tIns="91425">
            <a:normAutofit lnSpcReduction="20000"/>
          </a:bodyPr>
          <a:lstStyle/>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3"/>
              </a:rPr>
              <a:t>1. Common Crawl</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4"/>
              </a:rPr>
              <a:t>2. RefinedWeb</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5"/>
              </a:rPr>
              <a:t>3. The Pile</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6"/>
              </a:rPr>
              <a:t>4. C4</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7"/>
              </a:rPr>
              <a:t>5. Starcoder Data</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8"/>
              </a:rPr>
              <a:t>6. BookCorpus</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9"/>
              </a:rPr>
              <a:t>7. ROOTS</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10"/>
              </a:rPr>
              <a:t>8. Wikipedia</a:t>
            </a:r>
            <a:endParaRPr sz="2050" u="sng">
              <a:solidFill>
                <a:schemeClr val="hlink"/>
              </a:solidFill>
              <a:latin typeface="Times New Roman"/>
              <a:ea typeface="Times New Roman"/>
              <a:cs typeface="Times New Roman"/>
              <a:sym typeface="Times New Roman"/>
            </a:endParaRPr>
          </a:p>
          <a:p>
            <a:pPr indent="-228600" lvl="1" marL="1447800" rtl="0" algn="l">
              <a:spcBef>
                <a:spcPts val="0"/>
              </a:spcBef>
              <a:spcAft>
                <a:spcPts val="0"/>
              </a:spcAft>
              <a:buClr>
                <a:srgbClr val="081819"/>
              </a:buClr>
              <a:buSzPts val="2050"/>
              <a:buFont typeface="Times New Roman"/>
              <a:buNone/>
            </a:pPr>
            <a:r>
              <a:rPr lang="en" sz="2050" u="sng">
                <a:solidFill>
                  <a:schemeClr val="hlink"/>
                </a:solidFill>
                <a:latin typeface="Times New Roman"/>
                <a:ea typeface="Times New Roman"/>
                <a:cs typeface="Times New Roman"/>
                <a:sym typeface="Times New Roman"/>
                <a:hlinkClick r:id="rId11"/>
              </a:rPr>
              <a:t>9. Red Pajama</a:t>
            </a:r>
            <a:endParaRPr sz="2050" u="sng">
              <a:solidFill>
                <a:schemeClr val="hlink"/>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
        <p:nvSpPr>
          <p:cNvPr id="1118" name="Google Shape;1118;p155"/>
          <p:cNvSpPr txBox="1"/>
          <p:nvPr/>
        </p:nvSpPr>
        <p:spPr>
          <a:xfrm>
            <a:off x="660400" y="495300"/>
            <a:ext cx="7289700" cy="5841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950" u="sng">
                <a:solidFill>
                  <a:schemeClr val="accent5"/>
                </a:solidFill>
                <a:latin typeface="Times New Roman"/>
                <a:ea typeface="Times New Roman"/>
                <a:cs typeface="Times New Roman"/>
                <a:sym typeface="Times New Roman"/>
                <a:hlinkClick r:id="rId12">
                  <a:extLst>
                    <a:ext uri="{A12FA001-AC4F-418D-AE19-62706E023703}">
                      <ahyp:hlinkClr val="tx"/>
                    </a:ext>
                  </a:extLst>
                </a:hlinkClick>
              </a:rPr>
              <a:t>Popular Open Source Datasets for Training LLMs</a:t>
            </a:r>
            <a:endParaRPr sz="1950" u="sng">
              <a:solidFill>
                <a:schemeClr val="accent5"/>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1119" name="Google Shape;1119;p15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56"/>
          <p:cNvSpPr txBox="1"/>
          <p:nvPr/>
        </p:nvSpPr>
        <p:spPr>
          <a:xfrm>
            <a:off x="647700" y="1079500"/>
            <a:ext cx="7532700" cy="3551100"/>
          </a:xfrm>
          <a:prstGeom prst="rect">
            <a:avLst/>
          </a:prstGeom>
          <a:noFill/>
          <a:ln>
            <a:noFill/>
          </a:ln>
        </p:spPr>
        <p:txBody>
          <a:bodyPr anchorCtr="0" anchor="t" bIns="91425" lIns="91425" spcFirstLastPara="1" rIns="91425" wrap="square" tIns="91425">
            <a:noAutofit/>
          </a:bodyPr>
          <a:lstStyle/>
          <a:p>
            <a:pPr indent="-346075" lvl="0" marL="660400" rtl="0" algn="l">
              <a:lnSpc>
                <a:spcPct val="115000"/>
              </a:lnSpc>
              <a:spcBef>
                <a:spcPts val="110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3"/>
              </a:rPr>
              <a:t>GPT-4</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for creating marketing content.</a:t>
            </a:r>
            <a:endParaRPr sz="1850">
              <a:solidFill>
                <a:srgbClr val="222222"/>
              </a:solidFill>
              <a:highlight>
                <a:srgbClr val="FFFFFF"/>
              </a:highlight>
              <a:latin typeface="Verdana"/>
              <a:ea typeface="Verdana"/>
              <a:cs typeface="Verdana"/>
              <a:sym typeface="Verdana"/>
            </a:endParaRPr>
          </a:p>
          <a:p>
            <a:pPr indent="-346075" lvl="0" marL="660400" rtl="0" algn="l">
              <a:lnSpc>
                <a:spcPct val="115000"/>
              </a:lnSpc>
              <a:spcBef>
                <a:spcPts val="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4"/>
              </a:rPr>
              <a:t>Falcon</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for a human-like, conversational chatbot.</a:t>
            </a:r>
            <a:endParaRPr sz="1850">
              <a:solidFill>
                <a:srgbClr val="222222"/>
              </a:solidFill>
              <a:highlight>
                <a:srgbClr val="FFFFFF"/>
              </a:highlight>
              <a:latin typeface="Verdana"/>
              <a:ea typeface="Verdana"/>
              <a:cs typeface="Verdana"/>
              <a:sym typeface="Verdana"/>
            </a:endParaRPr>
          </a:p>
          <a:p>
            <a:pPr indent="-346075" lvl="0" marL="660400" rtl="0" algn="l">
              <a:lnSpc>
                <a:spcPct val="115000"/>
              </a:lnSpc>
              <a:spcBef>
                <a:spcPts val="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5"/>
              </a:rPr>
              <a:t>Llama 2</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for a free, resource-light, customizable LLM.</a:t>
            </a:r>
            <a:endParaRPr sz="1850">
              <a:solidFill>
                <a:srgbClr val="222222"/>
              </a:solidFill>
              <a:highlight>
                <a:srgbClr val="FFFFFF"/>
              </a:highlight>
              <a:latin typeface="Verdana"/>
              <a:ea typeface="Verdana"/>
              <a:cs typeface="Verdana"/>
              <a:sym typeface="Verdana"/>
            </a:endParaRPr>
          </a:p>
          <a:p>
            <a:pPr indent="-346075" lvl="0" marL="660400" rtl="0" algn="l">
              <a:lnSpc>
                <a:spcPct val="115000"/>
              </a:lnSpc>
              <a:spcBef>
                <a:spcPts val="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6"/>
              </a:rPr>
              <a:t>Cohere</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enterprise LLM for building a company-wide search engine.</a:t>
            </a:r>
            <a:endParaRPr sz="1850">
              <a:solidFill>
                <a:srgbClr val="222222"/>
              </a:solidFill>
              <a:highlight>
                <a:srgbClr val="FFFFFF"/>
              </a:highlight>
              <a:latin typeface="Verdana"/>
              <a:ea typeface="Verdana"/>
              <a:cs typeface="Verdana"/>
              <a:sym typeface="Verdana"/>
            </a:endParaRPr>
          </a:p>
          <a:p>
            <a:pPr indent="-346075" lvl="0" marL="660400" rtl="0" algn="l">
              <a:lnSpc>
                <a:spcPct val="115000"/>
              </a:lnSpc>
              <a:spcBef>
                <a:spcPts val="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7"/>
              </a:rPr>
              <a:t>Gemini</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for an AI assistant in Google Workspace.</a:t>
            </a:r>
            <a:endParaRPr sz="1850">
              <a:solidFill>
                <a:srgbClr val="222222"/>
              </a:solidFill>
              <a:highlight>
                <a:srgbClr val="FFFFFF"/>
              </a:highlight>
              <a:latin typeface="Verdana"/>
              <a:ea typeface="Verdana"/>
              <a:cs typeface="Verdana"/>
              <a:sym typeface="Verdana"/>
            </a:endParaRPr>
          </a:p>
          <a:p>
            <a:pPr indent="-346075" lvl="0" marL="660400" rtl="0" algn="l">
              <a:lnSpc>
                <a:spcPct val="115000"/>
              </a:lnSpc>
              <a:spcBef>
                <a:spcPts val="0"/>
              </a:spcBef>
              <a:spcAft>
                <a:spcPts val="0"/>
              </a:spcAft>
              <a:buClr>
                <a:srgbClr val="222222"/>
              </a:buClr>
              <a:buSzPts val="1850"/>
              <a:buFont typeface="Verdana"/>
              <a:buChar char="●"/>
            </a:pPr>
            <a:r>
              <a:rPr b="1" lang="en" sz="1850">
                <a:solidFill>
                  <a:schemeClr val="hlink"/>
                </a:solidFill>
                <a:highlight>
                  <a:srgbClr val="FFFFFF"/>
                </a:highlight>
                <a:uFill>
                  <a:noFill/>
                </a:uFill>
                <a:latin typeface="Verdana"/>
                <a:ea typeface="Verdana"/>
                <a:cs typeface="Verdana"/>
                <a:sym typeface="Verdana"/>
                <a:hlinkClick r:id="rId8"/>
              </a:rPr>
              <a:t>Claude 3</a:t>
            </a:r>
            <a:r>
              <a:rPr b="1" lang="en" sz="1850">
                <a:solidFill>
                  <a:srgbClr val="222222"/>
                </a:solidFill>
                <a:highlight>
                  <a:srgbClr val="FFFFFF"/>
                </a:highlight>
                <a:latin typeface="Verdana"/>
                <a:ea typeface="Verdana"/>
                <a:cs typeface="Verdana"/>
                <a:sym typeface="Verdana"/>
              </a:rPr>
              <a:t>:</a:t>
            </a:r>
            <a:r>
              <a:rPr lang="en" sz="1850">
                <a:solidFill>
                  <a:srgbClr val="222222"/>
                </a:solidFill>
                <a:highlight>
                  <a:srgbClr val="FFFFFF"/>
                </a:highlight>
                <a:latin typeface="Verdana"/>
                <a:ea typeface="Verdana"/>
                <a:cs typeface="Verdana"/>
                <a:sym typeface="Verdana"/>
              </a:rPr>
              <a:t> Best for a large context window.</a:t>
            </a:r>
            <a:endParaRPr sz="1850">
              <a:solidFill>
                <a:srgbClr val="222222"/>
              </a:solidFill>
              <a:highlight>
                <a:srgbClr val="FFFFFF"/>
              </a:highlight>
              <a:latin typeface="Verdana"/>
              <a:ea typeface="Verdana"/>
              <a:cs typeface="Verdana"/>
              <a:sym typeface="Verdana"/>
            </a:endParaRPr>
          </a:p>
          <a:p>
            <a:pPr indent="0" lvl="0" marL="0" rtl="0" algn="l">
              <a:spcBef>
                <a:spcPts val="2000"/>
              </a:spcBef>
              <a:spcAft>
                <a:spcPts val="0"/>
              </a:spcAft>
              <a:buNone/>
            </a:pPr>
            <a:r>
              <a:t/>
            </a:r>
            <a:endParaRPr sz="2000">
              <a:solidFill>
                <a:schemeClr val="dk2"/>
              </a:solidFill>
            </a:endParaRPr>
          </a:p>
        </p:txBody>
      </p:sp>
      <p:sp>
        <p:nvSpPr>
          <p:cNvPr id="1125" name="Google Shape;1125;p156"/>
          <p:cNvSpPr txBox="1"/>
          <p:nvPr/>
        </p:nvSpPr>
        <p:spPr>
          <a:xfrm>
            <a:off x="777875" y="333375"/>
            <a:ext cx="65565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Calibri"/>
                <a:ea typeface="Calibri"/>
                <a:cs typeface="Calibri"/>
                <a:sym typeface="Calibri"/>
              </a:rPr>
              <a:t>Popular LLMs</a:t>
            </a:r>
            <a:endParaRPr b="1" sz="2600">
              <a:solidFill>
                <a:schemeClr val="dk2"/>
              </a:solidFill>
              <a:latin typeface="Calibri"/>
              <a:ea typeface="Calibri"/>
              <a:cs typeface="Calibri"/>
              <a:sym typeface="Calibri"/>
            </a:endParaRPr>
          </a:p>
        </p:txBody>
      </p:sp>
      <p:sp>
        <p:nvSpPr>
          <p:cNvPr id="1126" name="Google Shape;1126;p15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57"/>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LLM  (open sourced/comercial/closed/community)</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Public data sets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Instruct based Datasets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Private datasets(RAG)</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Benchmarks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Evaluation Metrics</a:t>
            </a:r>
            <a:endParaRPr sz="2000">
              <a:solidFill>
                <a:schemeClr val="dk2"/>
              </a:solidFill>
            </a:endParaRPr>
          </a:p>
          <a:p>
            <a:pPr indent="0" lvl="0" marL="457200" rtl="0" algn="l">
              <a:spcBef>
                <a:spcPts val="0"/>
              </a:spcBef>
              <a:spcAft>
                <a:spcPts val="0"/>
              </a:spcAft>
              <a:buNone/>
            </a:pPr>
            <a:r>
              <a:t/>
            </a:r>
            <a:endParaRPr sz="2000">
              <a:solidFill>
                <a:schemeClr val="dk2"/>
              </a:solidFill>
            </a:endParaRPr>
          </a:p>
        </p:txBody>
      </p:sp>
      <p:sp>
        <p:nvSpPr>
          <p:cNvPr id="1132" name="Google Shape;1132;p15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158"/>
          <p:cNvSpPr txBox="1"/>
          <p:nvPr>
            <p:ph type="ctrTitle"/>
          </p:nvPr>
        </p:nvSpPr>
        <p:spPr>
          <a:xfrm>
            <a:off x="652674" y="1821700"/>
            <a:ext cx="65673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3744"/>
              <a:t>LLM Architecture</a:t>
            </a:r>
            <a:endParaRPr b="1" sz="3744"/>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1138" name="Google Shape;1138;p15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159"/>
          <p:cNvSpPr txBox="1"/>
          <p:nvPr/>
        </p:nvSpPr>
        <p:spPr>
          <a:xfrm>
            <a:off x="902850" y="725025"/>
            <a:ext cx="7277400" cy="390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Parameters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Tokens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Neural networks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Multiple layers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Transformers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Encoder/decoder/encoder-decoder</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Activation functions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Attention mechanism</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Gradient functions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CNN/RNN</a:t>
            </a:r>
            <a:endParaRPr sz="2000">
              <a:solidFill>
                <a:schemeClr val="dk2"/>
              </a:solidFill>
            </a:endParaRPr>
          </a:p>
        </p:txBody>
      </p:sp>
      <p:sp>
        <p:nvSpPr>
          <p:cNvPr id="1144" name="Google Shape;1144;p15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160"/>
          <p:cNvSpPr txBox="1"/>
          <p:nvPr/>
        </p:nvSpPr>
        <p:spPr>
          <a:xfrm>
            <a:off x="902850" y="725025"/>
            <a:ext cx="7277400" cy="3925500"/>
          </a:xfrm>
          <a:prstGeom prst="rect">
            <a:avLst/>
          </a:prstGeom>
          <a:noFill/>
          <a:ln>
            <a:noFill/>
          </a:ln>
        </p:spPr>
        <p:txBody>
          <a:bodyPr anchorCtr="0" anchor="t" bIns="91425" lIns="91425" spcFirstLastPara="1" rIns="91425" wrap="square" tIns="91425">
            <a:noAutofit/>
          </a:bodyPr>
          <a:lstStyle/>
          <a:p>
            <a:pPr indent="-635000" lvl="0" marL="457200" rtl="0" algn="l">
              <a:spcBef>
                <a:spcPts val="0"/>
              </a:spcBef>
              <a:spcAft>
                <a:spcPts val="0"/>
              </a:spcAft>
              <a:buClr>
                <a:schemeClr val="dk2"/>
              </a:buClr>
              <a:buSzPts val="6400"/>
              <a:buChar char="●"/>
            </a:pPr>
            <a:r>
              <a:rPr lang="en" sz="6400" u="sng">
                <a:solidFill>
                  <a:schemeClr val="hlink"/>
                </a:solidFill>
                <a:hlinkClick r:id="rId3"/>
              </a:rPr>
              <a:t>ChatGPT</a:t>
            </a:r>
            <a:endParaRPr sz="6400">
              <a:solidFill>
                <a:schemeClr val="dk2"/>
              </a:solidFill>
            </a:endParaRPr>
          </a:p>
          <a:p>
            <a:pPr indent="-635000" lvl="0" marL="457200" rtl="0" algn="l">
              <a:spcBef>
                <a:spcPts val="0"/>
              </a:spcBef>
              <a:spcAft>
                <a:spcPts val="0"/>
              </a:spcAft>
              <a:buClr>
                <a:schemeClr val="dk2"/>
              </a:buClr>
              <a:buSzPts val="6400"/>
              <a:buChar char="●"/>
            </a:pPr>
            <a:r>
              <a:rPr lang="en" sz="6400" u="sng">
                <a:solidFill>
                  <a:schemeClr val="hlink"/>
                </a:solidFill>
                <a:hlinkClick r:id="rId4"/>
              </a:rPr>
              <a:t>MetaAI</a:t>
            </a:r>
            <a:endParaRPr sz="6400">
              <a:solidFill>
                <a:schemeClr val="dk2"/>
              </a:solidFill>
            </a:endParaRPr>
          </a:p>
          <a:p>
            <a:pPr indent="-635000" lvl="0" marL="457200" rtl="0" algn="l">
              <a:spcBef>
                <a:spcPts val="0"/>
              </a:spcBef>
              <a:spcAft>
                <a:spcPts val="0"/>
              </a:spcAft>
              <a:buClr>
                <a:schemeClr val="dk2"/>
              </a:buClr>
              <a:buSzPts val="6400"/>
              <a:buChar char="●"/>
            </a:pPr>
            <a:r>
              <a:rPr lang="en" sz="6400" u="sng">
                <a:solidFill>
                  <a:schemeClr val="hlink"/>
                </a:solidFill>
                <a:hlinkClick r:id="rId5"/>
              </a:rPr>
              <a:t>MS Copilot</a:t>
            </a:r>
            <a:endParaRPr sz="6400">
              <a:solidFill>
                <a:schemeClr val="dk2"/>
              </a:solidFill>
            </a:endParaRPr>
          </a:p>
          <a:p>
            <a:pPr indent="-635000" lvl="0" marL="457200" rtl="0" algn="l">
              <a:spcBef>
                <a:spcPts val="0"/>
              </a:spcBef>
              <a:spcAft>
                <a:spcPts val="0"/>
              </a:spcAft>
              <a:buClr>
                <a:schemeClr val="dk2"/>
              </a:buClr>
              <a:buSzPts val="6400"/>
              <a:buChar char="●"/>
            </a:pPr>
            <a:r>
              <a:rPr lang="en" sz="6400" u="sng">
                <a:solidFill>
                  <a:schemeClr val="hlink"/>
                </a:solidFill>
                <a:hlinkClick r:id="rId6"/>
              </a:rPr>
              <a:t>Google AI</a:t>
            </a:r>
            <a:endParaRPr sz="6400">
              <a:solidFill>
                <a:schemeClr val="dk2"/>
              </a:solidFill>
            </a:endParaRPr>
          </a:p>
        </p:txBody>
      </p:sp>
      <p:sp>
        <p:nvSpPr>
          <p:cNvPr id="1150" name="Google Shape;1150;p16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51" name="Google Shape;1151;p160"/>
          <p:cNvSpPr/>
          <p:nvPr/>
        </p:nvSpPr>
        <p:spPr>
          <a:xfrm>
            <a:off x="5842725" y="1680525"/>
            <a:ext cx="2156976" cy="1874880"/>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latin typeface="Calibri"/>
                <a:ea typeface="Calibri"/>
                <a:cs typeface="Calibri"/>
                <a:sym typeface="Calibri"/>
              </a:rPr>
              <a:t>LLMs</a:t>
            </a:r>
            <a:endParaRPr sz="4100">
              <a:latin typeface="Calibri"/>
              <a:ea typeface="Calibri"/>
              <a:cs typeface="Calibri"/>
              <a:sym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61"/>
          <p:cNvSpPr txBox="1"/>
          <p:nvPr/>
        </p:nvSpPr>
        <p:spPr>
          <a:xfrm>
            <a:off x="902850" y="725025"/>
            <a:ext cx="7277400" cy="3926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AI ML DL GemAI/LLM Basics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Different types of LLM</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a:t>
            </a:r>
            <a:r>
              <a:rPr lang="en" sz="2000" u="sng">
                <a:solidFill>
                  <a:schemeClr val="hlink"/>
                </a:solidFill>
                <a:hlinkClick r:id="rId3"/>
              </a:rPr>
              <a:t>Architecture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a:t>
            </a:r>
            <a:r>
              <a:rPr lang="en" sz="2000" u="sng">
                <a:solidFill>
                  <a:schemeClr val="hlink"/>
                </a:solidFill>
                <a:hlinkClick r:id="rId4"/>
              </a:rPr>
              <a:t>Frameworks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Stages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Industry Use cases</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5"/>
              </a:rPr>
              <a:t>LLM TUNING</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product dev process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LLM Devops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Python Basics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E2E project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Internet Resources</a:t>
            </a:r>
            <a:endParaRPr sz="2000">
              <a:solidFill>
                <a:schemeClr val="dk2"/>
              </a:solidFill>
            </a:endParaRPr>
          </a:p>
        </p:txBody>
      </p:sp>
      <p:sp>
        <p:nvSpPr>
          <p:cNvPr id="1157" name="Google Shape;1157;p16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62"/>
          <p:cNvSpPr txBox="1"/>
          <p:nvPr/>
        </p:nvSpPr>
        <p:spPr>
          <a:xfrm>
            <a:off x="902850" y="725025"/>
            <a:ext cx="3857700" cy="351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Language Translation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Text Summarization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Content Creation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Sentence auto correction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Sentence auto completion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Sentimental Analysis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Speech to Text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Text to Speech</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Image Identifier</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Image Classification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Image to Text]Text to image</a:t>
            </a:r>
            <a:endParaRPr sz="2000">
              <a:solidFill>
                <a:schemeClr val="dk2"/>
              </a:solidFill>
            </a:endParaRPr>
          </a:p>
          <a:p>
            <a:pPr indent="0" lvl="0" marL="457200" rtl="0" algn="l">
              <a:spcBef>
                <a:spcPts val="0"/>
              </a:spcBef>
              <a:spcAft>
                <a:spcPts val="0"/>
              </a:spcAft>
              <a:buNone/>
            </a:pPr>
            <a:r>
              <a:t/>
            </a:r>
            <a:endParaRPr sz="2000">
              <a:solidFill>
                <a:schemeClr val="dk2"/>
              </a:solidFill>
            </a:endParaRPr>
          </a:p>
        </p:txBody>
      </p:sp>
      <p:sp>
        <p:nvSpPr>
          <p:cNvPr id="1163" name="Google Shape;1163;p162"/>
          <p:cNvSpPr txBox="1"/>
          <p:nvPr/>
        </p:nvSpPr>
        <p:spPr>
          <a:xfrm>
            <a:off x="4899200" y="725025"/>
            <a:ext cx="3857700" cy="351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Fraud detection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Retina identification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Fingerprint authentication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Voice recognition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Article Recommendations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Product Recommendations</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Conversational BOT</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Medical Dictation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Medical Image processing</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Stock Price Prediction</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Renewal score predection</a:t>
            </a:r>
            <a:endParaRPr sz="2000">
              <a:solidFill>
                <a:schemeClr val="dk2"/>
              </a:solidFill>
            </a:endParaRPr>
          </a:p>
        </p:txBody>
      </p:sp>
      <p:sp>
        <p:nvSpPr>
          <p:cNvPr id="1164" name="Google Shape;1164;p162"/>
          <p:cNvSpPr txBox="1"/>
          <p:nvPr/>
        </p:nvSpPr>
        <p:spPr>
          <a:xfrm>
            <a:off x="2222500" y="301625"/>
            <a:ext cx="4032300" cy="42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2"/>
                </a:solidFill>
                <a:latin typeface="Calibri"/>
                <a:ea typeface="Calibri"/>
                <a:cs typeface="Calibri"/>
                <a:sym typeface="Calibri"/>
              </a:rPr>
              <a:t>LLM can do below but not limited to</a:t>
            </a:r>
            <a:endParaRPr b="1" sz="1700">
              <a:solidFill>
                <a:schemeClr val="dk2"/>
              </a:solidFill>
              <a:latin typeface="Calibri"/>
              <a:ea typeface="Calibri"/>
              <a:cs typeface="Calibri"/>
              <a:sym typeface="Calibri"/>
            </a:endParaRPr>
          </a:p>
        </p:txBody>
      </p:sp>
      <p:sp>
        <p:nvSpPr>
          <p:cNvPr id="1165" name="Google Shape;1165;p16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63"/>
          <p:cNvSpPr/>
          <p:nvPr/>
        </p:nvSpPr>
        <p:spPr>
          <a:xfrm>
            <a:off x="656625" y="465100"/>
            <a:ext cx="1313100" cy="13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SFDC/App</a:t>
            </a:r>
            <a:endParaRPr>
              <a:latin typeface="Calibri"/>
              <a:ea typeface="Calibri"/>
              <a:cs typeface="Calibri"/>
              <a:sym typeface="Calibri"/>
            </a:endParaRPr>
          </a:p>
        </p:txBody>
      </p:sp>
      <p:sp>
        <p:nvSpPr>
          <p:cNvPr id="1171" name="Google Shape;1171;p163"/>
          <p:cNvSpPr/>
          <p:nvPr/>
        </p:nvSpPr>
        <p:spPr>
          <a:xfrm>
            <a:off x="5487450" y="535425"/>
            <a:ext cx="1313100" cy="13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RAG</a:t>
            </a:r>
            <a:endParaRPr>
              <a:latin typeface="Calibri"/>
              <a:ea typeface="Calibri"/>
              <a:cs typeface="Calibri"/>
              <a:sym typeface="Calibri"/>
            </a:endParaRPr>
          </a:p>
        </p:txBody>
      </p:sp>
      <p:sp>
        <p:nvSpPr>
          <p:cNvPr id="1172" name="Google Shape;1172;p163"/>
          <p:cNvSpPr/>
          <p:nvPr/>
        </p:nvSpPr>
        <p:spPr>
          <a:xfrm>
            <a:off x="2224125" y="2365525"/>
            <a:ext cx="1313100" cy="13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LLM</a:t>
            </a:r>
            <a:endParaRPr>
              <a:latin typeface="Calibri"/>
              <a:ea typeface="Calibri"/>
              <a:cs typeface="Calibri"/>
              <a:sym typeface="Calibri"/>
            </a:endParaRPr>
          </a:p>
        </p:txBody>
      </p:sp>
      <p:sp>
        <p:nvSpPr>
          <p:cNvPr id="1173" name="Google Shape;1173;p163"/>
          <p:cNvSpPr/>
          <p:nvPr/>
        </p:nvSpPr>
        <p:spPr>
          <a:xfrm>
            <a:off x="5885225" y="2862900"/>
            <a:ext cx="1313100" cy="13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LLM AGENTS</a:t>
            </a:r>
            <a:endParaRPr>
              <a:latin typeface="Calibri"/>
              <a:ea typeface="Calibri"/>
              <a:cs typeface="Calibri"/>
              <a:sym typeface="Calibri"/>
            </a:endParaRPr>
          </a:p>
        </p:txBody>
      </p:sp>
      <p:sp>
        <p:nvSpPr>
          <p:cNvPr id="1174" name="Google Shape;1174;p163"/>
          <p:cNvSpPr/>
          <p:nvPr/>
        </p:nvSpPr>
        <p:spPr>
          <a:xfrm>
            <a:off x="2534575" y="4025525"/>
            <a:ext cx="13131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Instruction Trained</a:t>
            </a:r>
            <a:endParaRPr>
              <a:latin typeface="Calibri"/>
              <a:ea typeface="Calibri"/>
              <a:cs typeface="Calibri"/>
              <a:sym typeface="Calibri"/>
            </a:endParaRPr>
          </a:p>
        </p:txBody>
      </p:sp>
      <p:cxnSp>
        <p:nvCxnSpPr>
          <p:cNvPr id="1175" name="Google Shape;1175;p163"/>
          <p:cNvCxnSpPr>
            <a:stCxn id="1170" idx="3"/>
            <a:endCxn id="1172" idx="0"/>
          </p:cNvCxnSpPr>
          <p:nvPr/>
        </p:nvCxnSpPr>
        <p:spPr>
          <a:xfrm>
            <a:off x="1969725" y="1121650"/>
            <a:ext cx="911100" cy="1243800"/>
          </a:xfrm>
          <a:prstGeom prst="curvedConnector2">
            <a:avLst/>
          </a:prstGeom>
          <a:noFill/>
          <a:ln cap="flat" cmpd="sng" w="9525">
            <a:solidFill>
              <a:schemeClr val="dk2"/>
            </a:solidFill>
            <a:prstDash val="dot"/>
            <a:round/>
            <a:headEnd len="med" w="med" type="none"/>
            <a:tailEnd len="med" w="med" type="none"/>
          </a:ln>
        </p:spPr>
      </p:cxnSp>
      <p:cxnSp>
        <p:nvCxnSpPr>
          <p:cNvPr id="1176" name="Google Shape;1176;p163"/>
          <p:cNvCxnSpPr>
            <a:stCxn id="1172" idx="3"/>
            <a:endCxn id="1171" idx="2"/>
          </p:cNvCxnSpPr>
          <p:nvPr/>
        </p:nvCxnSpPr>
        <p:spPr>
          <a:xfrm flipH="1" rot="10800000">
            <a:off x="3537225" y="1848475"/>
            <a:ext cx="2606700" cy="1173600"/>
          </a:xfrm>
          <a:prstGeom prst="curvedConnector2">
            <a:avLst/>
          </a:prstGeom>
          <a:noFill/>
          <a:ln cap="flat" cmpd="sng" w="9525">
            <a:solidFill>
              <a:schemeClr val="dk2"/>
            </a:solidFill>
            <a:prstDash val="solid"/>
            <a:round/>
            <a:headEnd len="med" w="med" type="none"/>
            <a:tailEnd len="med" w="med" type="none"/>
          </a:ln>
        </p:spPr>
      </p:cxnSp>
      <p:cxnSp>
        <p:nvCxnSpPr>
          <p:cNvPr id="1177" name="Google Shape;1177;p163"/>
          <p:cNvCxnSpPr>
            <a:stCxn id="1172" idx="3"/>
            <a:endCxn id="1173" idx="1"/>
          </p:cNvCxnSpPr>
          <p:nvPr/>
        </p:nvCxnSpPr>
        <p:spPr>
          <a:xfrm>
            <a:off x="3537225" y="3022075"/>
            <a:ext cx="2348100" cy="497400"/>
          </a:xfrm>
          <a:prstGeom prst="curvedConnector3">
            <a:avLst>
              <a:gd fmla="val 49998" name="adj1"/>
            </a:avLst>
          </a:prstGeom>
          <a:noFill/>
          <a:ln cap="flat" cmpd="sng" w="9525">
            <a:solidFill>
              <a:schemeClr val="dk2"/>
            </a:solidFill>
            <a:prstDash val="dot"/>
            <a:round/>
            <a:headEnd len="med" w="med" type="none"/>
            <a:tailEnd len="med" w="med" type="none"/>
          </a:ln>
        </p:spPr>
      </p:cxnSp>
      <p:cxnSp>
        <p:nvCxnSpPr>
          <p:cNvPr id="1178" name="Google Shape;1178;p163"/>
          <p:cNvCxnSpPr>
            <a:stCxn id="1172" idx="1"/>
            <a:endCxn id="1170" idx="2"/>
          </p:cNvCxnSpPr>
          <p:nvPr/>
        </p:nvCxnSpPr>
        <p:spPr>
          <a:xfrm rot="10800000">
            <a:off x="1313025" y="1778275"/>
            <a:ext cx="911100" cy="1243800"/>
          </a:xfrm>
          <a:prstGeom prst="curvedConnector2">
            <a:avLst/>
          </a:prstGeom>
          <a:noFill/>
          <a:ln cap="flat" cmpd="sng" w="9525">
            <a:solidFill>
              <a:schemeClr val="dk2"/>
            </a:solidFill>
            <a:prstDash val="solid"/>
            <a:round/>
            <a:headEnd len="med" w="med" type="none"/>
            <a:tailEnd len="med" w="med" type="none"/>
          </a:ln>
        </p:spPr>
      </p:cxnSp>
      <p:sp>
        <p:nvSpPr>
          <p:cNvPr id="1179" name="Google Shape;1179;p163"/>
          <p:cNvSpPr/>
          <p:nvPr/>
        </p:nvSpPr>
        <p:spPr>
          <a:xfrm>
            <a:off x="826550" y="4025525"/>
            <a:ext cx="13131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Pre Trained</a:t>
            </a:r>
            <a:endParaRPr>
              <a:latin typeface="Calibri"/>
              <a:ea typeface="Calibri"/>
              <a:cs typeface="Calibri"/>
              <a:sym typeface="Calibri"/>
            </a:endParaRPr>
          </a:p>
        </p:txBody>
      </p:sp>
      <p:sp>
        <p:nvSpPr>
          <p:cNvPr id="1180" name="Google Shape;1180;p163"/>
          <p:cNvSpPr/>
          <p:nvPr/>
        </p:nvSpPr>
        <p:spPr>
          <a:xfrm>
            <a:off x="3462388" y="855000"/>
            <a:ext cx="658500" cy="8616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Vector DB</a:t>
            </a:r>
            <a:endParaRPr>
              <a:latin typeface="Calibri"/>
              <a:ea typeface="Calibri"/>
              <a:cs typeface="Calibri"/>
              <a:sym typeface="Calibri"/>
            </a:endParaRPr>
          </a:p>
        </p:txBody>
      </p:sp>
      <p:cxnSp>
        <p:nvCxnSpPr>
          <p:cNvPr id="1181" name="Google Shape;1181;p163"/>
          <p:cNvCxnSpPr>
            <a:stCxn id="1170" idx="3"/>
            <a:endCxn id="1180" idx="1"/>
          </p:cNvCxnSpPr>
          <p:nvPr/>
        </p:nvCxnSpPr>
        <p:spPr>
          <a:xfrm flipH="1" rot="10800000">
            <a:off x="1969725" y="854950"/>
            <a:ext cx="1821900" cy="266700"/>
          </a:xfrm>
          <a:prstGeom prst="curvedConnector4">
            <a:avLst>
              <a:gd fmla="val 40964" name="adj1"/>
              <a:gd fmla="val 189267" name="adj2"/>
            </a:avLst>
          </a:prstGeom>
          <a:noFill/>
          <a:ln cap="flat" cmpd="sng" w="9525">
            <a:solidFill>
              <a:schemeClr val="dk2"/>
            </a:solidFill>
            <a:prstDash val="solid"/>
            <a:round/>
            <a:headEnd len="med" w="med" type="none"/>
            <a:tailEnd len="med" w="med" type="none"/>
          </a:ln>
        </p:spPr>
      </p:cxnSp>
      <p:cxnSp>
        <p:nvCxnSpPr>
          <p:cNvPr id="1182" name="Google Shape;1182;p163"/>
          <p:cNvCxnSpPr>
            <a:stCxn id="1180" idx="3"/>
            <a:endCxn id="1171" idx="1"/>
          </p:cNvCxnSpPr>
          <p:nvPr/>
        </p:nvCxnSpPr>
        <p:spPr>
          <a:xfrm rot="-5400000">
            <a:off x="4377238" y="606300"/>
            <a:ext cx="524700" cy="1695900"/>
          </a:xfrm>
          <a:prstGeom prst="curvedConnector4">
            <a:avLst>
              <a:gd fmla="val -45383" name="adj1"/>
              <a:gd fmla="val 59705" name="adj2"/>
            </a:avLst>
          </a:prstGeom>
          <a:noFill/>
          <a:ln cap="flat" cmpd="sng" w="9525">
            <a:solidFill>
              <a:schemeClr val="dk2"/>
            </a:solidFill>
            <a:prstDash val="solid"/>
            <a:round/>
            <a:headEnd len="med" w="med" type="none"/>
            <a:tailEnd len="med" w="med" type="none"/>
          </a:ln>
        </p:spPr>
      </p:cxnSp>
      <p:sp>
        <p:nvSpPr>
          <p:cNvPr id="1183" name="Google Shape;1183;p163"/>
          <p:cNvSpPr txBox="1"/>
          <p:nvPr/>
        </p:nvSpPr>
        <p:spPr>
          <a:xfrm>
            <a:off x="1219200" y="3606800"/>
            <a:ext cx="3429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1</a:t>
            </a:r>
            <a:endParaRPr sz="1300">
              <a:solidFill>
                <a:schemeClr val="dk2"/>
              </a:solidFill>
              <a:latin typeface="Calibri"/>
              <a:ea typeface="Calibri"/>
              <a:cs typeface="Calibri"/>
              <a:sym typeface="Calibri"/>
            </a:endParaRPr>
          </a:p>
        </p:txBody>
      </p:sp>
      <p:sp>
        <p:nvSpPr>
          <p:cNvPr id="1184" name="Google Shape;1184;p163"/>
          <p:cNvSpPr txBox="1"/>
          <p:nvPr/>
        </p:nvSpPr>
        <p:spPr>
          <a:xfrm>
            <a:off x="3791625" y="3748900"/>
            <a:ext cx="3429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2</a:t>
            </a:r>
            <a:endParaRPr sz="1300">
              <a:solidFill>
                <a:schemeClr val="dk2"/>
              </a:solidFill>
              <a:latin typeface="Calibri"/>
              <a:ea typeface="Calibri"/>
              <a:cs typeface="Calibri"/>
              <a:sym typeface="Calibri"/>
            </a:endParaRPr>
          </a:p>
        </p:txBody>
      </p:sp>
      <p:sp>
        <p:nvSpPr>
          <p:cNvPr id="1185" name="Google Shape;1185;p16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86" name="Google Shape;1186;p163"/>
          <p:cNvSpPr/>
          <p:nvPr/>
        </p:nvSpPr>
        <p:spPr>
          <a:xfrm>
            <a:off x="6857999" y="1564375"/>
            <a:ext cx="1821852" cy="1576260"/>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LLM Architecture</a:t>
            </a:r>
            <a:endParaRPr>
              <a:latin typeface="Calibri"/>
              <a:ea typeface="Calibri"/>
              <a:cs typeface="Calibri"/>
              <a:sym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pic>
        <p:nvPicPr>
          <p:cNvPr id="1191" name="Google Shape;1191;p164"/>
          <p:cNvPicPr preferRelativeResize="0"/>
          <p:nvPr/>
        </p:nvPicPr>
        <p:blipFill>
          <a:blip r:embed="rId3">
            <a:alphaModFix/>
          </a:blip>
          <a:stretch>
            <a:fillRect/>
          </a:stretch>
        </p:blipFill>
        <p:spPr>
          <a:xfrm>
            <a:off x="1059313" y="411475"/>
            <a:ext cx="6505575" cy="4019550"/>
          </a:xfrm>
          <a:prstGeom prst="rect">
            <a:avLst/>
          </a:prstGeom>
          <a:noFill/>
          <a:ln>
            <a:noFill/>
          </a:ln>
        </p:spPr>
      </p:pic>
      <p:sp>
        <p:nvSpPr>
          <p:cNvPr id="1192" name="Google Shape;1192;p16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93" name="Google Shape;1193;p164"/>
          <p:cNvSpPr/>
          <p:nvPr/>
        </p:nvSpPr>
        <p:spPr>
          <a:xfrm>
            <a:off x="3661074" y="3116750"/>
            <a:ext cx="1821852" cy="1576260"/>
          </a:xfrm>
          <a:prstGeom prst="cloud">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RAG Architecture</a:t>
            </a:r>
            <a:endParaRPr>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65"/>
          <p:cNvSpPr txBox="1"/>
          <p:nvPr/>
        </p:nvSpPr>
        <p:spPr>
          <a:xfrm>
            <a:off x="902850" y="1508125"/>
            <a:ext cx="7277400" cy="2732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u="sng">
                <a:solidFill>
                  <a:schemeClr val="hlink"/>
                </a:solidFill>
                <a:hlinkClick r:id="rId3"/>
              </a:rPr>
              <a:t>https://www.elastic.co/what-is/large-language-models</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4"/>
              </a:rPr>
              <a:t>https://aws.amazon.com/what-is/large-language-model/</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5"/>
              </a:rPr>
              <a:t>https://en.wikipedia.org/wiki/Large_language_model</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6"/>
              </a:rPr>
              <a:t>https://medium.com/@vipra_singh/building-llm-applications-introduction-part-1-1c90294b155b</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7"/>
              </a:rPr>
              <a:t>https://www.elastic.co/what-is/semantic-search</a:t>
            </a:r>
            <a:endParaRPr sz="2000">
              <a:solidFill>
                <a:schemeClr val="dk2"/>
              </a:solidFill>
            </a:endParaRPr>
          </a:p>
          <a:p>
            <a:pPr indent="-355600" lvl="0" marL="457200" rtl="0" algn="l">
              <a:spcBef>
                <a:spcPts val="0"/>
              </a:spcBef>
              <a:spcAft>
                <a:spcPts val="0"/>
              </a:spcAft>
              <a:buClr>
                <a:schemeClr val="dk2"/>
              </a:buClr>
              <a:buSzPts val="2000"/>
              <a:buChar char="●"/>
            </a:pPr>
            <a:r>
              <a:rPr lang="en" sz="2000" u="sng">
                <a:solidFill>
                  <a:schemeClr val="hlink"/>
                </a:solidFill>
                <a:hlinkClick r:id="rId8"/>
              </a:rPr>
              <a:t>https://arxiv.org/list/cs.AI/recent</a:t>
            </a:r>
            <a:endParaRPr sz="2000">
              <a:solidFill>
                <a:schemeClr val="dk2"/>
              </a:solidFill>
            </a:endParaRPr>
          </a:p>
          <a:p>
            <a:pPr indent="-355600" lvl="0" marL="457200" rtl="0" algn="l">
              <a:spcBef>
                <a:spcPts val="0"/>
              </a:spcBef>
              <a:spcAft>
                <a:spcPts val="0"/>
              </a:spcAft>
              <a:buClr>
                <a:schemeClr val="dk2"/>
              </a:buClr>
              <a:buSzPts val="2000"/>
              <a:buChar char="●"/>
            </a:pPr>
            <a:r>
              <a:t/>
            </a:r>
            <a:endParaRPr sz="2000">
              <a:solidFill>
                <a:schemeClr val="dk2"/>
              </a:solidFill>
            </a:endParaRPr>
          </a:p>
          <a:p>
            <a:pPr indent="0" lvl="0" marL="457200" rtl="0" algn="l">
              <a:spcBef>
                <a:spcPts val="0"/>
              </a:spcBef>
              <a:spcAft>
                <a:spcPts val="0"/>
              </a:spcAft>
              <a:buNone/>
            </a:pPr>
            <a:r>
              <a:t/>
            </a:r>
            <a:endParaRPr sz="2000">
              <a:solidFill>
                <a:schemeClr val="dk2"/>
              </a:solidFill>
            </a:endParaRPr>
          </a:p>
        </p:txBody>
      </p:sp>
      <p:sp>
        <p:nvSpPr>
          <p:cNvPr id="1199" name="Google Shape;1199;p165"/>
          <p:cNvSpPr txBox="1"/>
          <p:nvPr/>
        </p:nvSpPr>
        <p:spPr>
          <a:xfrm>
            <a:off x="1476375" y="523875"/>
            <a:ext cx="5365800" cy="7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2"/>
                </a:solidFill>
                <a:latin typeface="Calibri"/>
                <a:ea typeface="Calibri"/>
                <a:cs typeface="Calibri"/>
                <a:sym typeface="Calibri"/>
              </a:rPr>
              <a:t>LLM AI References</a:t>
            </a:r>
            <a:endParaRPr b="1" sz="2300">
              <a:solidFill>
                <a:schemeClr val="dk2"/>
              </a:solidFill>
              <a:latin typeface="Calibri"/>
              <a:ea typeface="Calibri"/>
              <a:cs typeface="Calibri"/>
              <a:sym typeface="Calibri"/>
            </a:endParaRPr>
          </a:p>
        </p:txBody>
      </p:sp>
      <p:sp>
        <p:nvSpPr>
          <p:cNvPr id="1200" name="Google Shape;1200;p16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66"/>
          <p:cNvSpPr txBox="1"/>
          <p:nvPr/>
        </p:nvSpPr>
        <p:spPr>
          <a:xfrm>
            <a:off x="902850" y="725025"/>
            <a:ext cx="7277400" cy="3515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Char char="●"/>
            </a:pPr>
            <a:r>
              <a:rPr lang="en" sz="2000">
                <a:solidFill>
                  <a:schemeClr val="dk2"/>
                </a:solidFill>
              </a:rPr>
              <a:t>empty</a:t>
            </a:r>
            <a:endParaRPr sz="2000">
              <a:solidFill>
                <a:schemeClr val="dk2"/>
              </a:solidFill>
            </a:endParaRPr>
          </a:p>
        </p:txBody>
      </p:sp>
      <p:sp>
        <p:nvSpPr>
          <p:cNvPr id="1206" name="Google Shape;1206;p16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67"/>
          <p:cNvSpPr txBox="1"/>
          <p:nvPr>
            <p:ph type="ctrTitle"/>
          </p:nvPr>
        </p:nvSpPr>
        <p:spPr>
          <a:xfrm>
            <a:off x="652674" y="1821700"/>
            <a:ext cx="6567300" cy="1449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sz="3744"/>
          </a:p>
          <a:p>
            <a:pPr indent="0" lvl="0" marL="0" rtl="0" algn="ctr">
              <a:spcBef>
                <a:spcPts val="0"/>
              </a:spcBef>
              <a:spcAft>
                <a:spcPts val="0"/>
              </a:spcAft>
              <a:buNone/>
            </a:pPr>
            <a:r>
              <a:rPr b="1" lang="en" sz="5633"/>
              <a:t>OpenAI</a:t>
            </a:r>
            <a:endParaRPr b="1" sz="5633"/>
          </a:p>
          <a:p>
            <a:pPr indent="0" lvl="0" marL="0" rtl="0" algn="ctr">
              <a:spcBef>
                <a:spcPts val="0"/>
              </a:spcBef>
              <a:spcAft>
                <a:spcPts val="0"/>
              </a:spcAft>
              <a:buNone/>
            </a:pPr>
            <a:r>
              <a:t/>
            </a:r>
            <a:endParaRPr b="1" sz="1800"/>
          </a:p>
          <a:p>
            <a:pPr indent="0" lvl="0" marL="0" rtl="0" algn="ctr">
              <a:spcBef>
                <a:spcPts val="0"/>
              </a:spcBef>
              <a:spcAft>
                <a:spcPts val="0"/>
              </a:spcAft>
              <a:buNone/>
            </a:pPr>
            <a:r>
              <a:t/>
            </a:r>
            <a:endParaRPr b="1" sz="2022"/>
          </a:p>
        </p:txBody>
      </p:sp>
      <p:sp>
        <p:nvSpPr>
          <p:cNvPr id="1212" name="Google Shape;1212;p16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68"/>
          <p:cNvSpPr txBox="1"/>
          <p:nvPr/>
        </p:nvSpPr>
        <p:spPr>
          <a:xfrm>
            <a:off x="483525" y="784550"/>
            <a:ext cx="8279400" cy="3846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rPr>
              <a:t>MODELS LIST : </a:t>
            </a:r>
            <a:r>
              <a:rPr lang="en" sz="2000" u="sng">
                <a:solidFill>
                  <a:schemeClr val="hlink"/>
                </a:solidFill>
                <a:hlinkClick r:id="rId3"/>
              </a:rPr>
              <a:t>https://platform.openai.com/docs/models/gpt-4-turbo-and-gpt-4</a:t>
            </a:r>
            <a:endParaRPr sz="2000">
              <a:solidFill>
                <a:schemeClr val="dk2"/>
              </a:solidFill>
            </a:endParaRPr>
          </a:p>
          <a:p>
            <a:pPr indent="0" lvl="0" marL="0" rtl="0" algn="l">
              <a:spcBef>
                <a:spcPts val="0"/>
              </a:spcBef>
              <a:spcAft>
                <a:spcPts val="0"/>
              </a:spcAft>
              <a:buNone/>
            </a:pPr>
            <a:r>
              <a:t/>
            </a:r>
            <a:endParaRPr sz="2000">
              <a:solidFill>
                <a:schemeClr val="dk2"/>
              </a:solidFill>
            </a:endParaRPr>
          </a:p>
          <a:p>
            <a:pPr indent="0" lvl="0" marL="0" rtl="0" algn="l">
              <a:spcBef>
                <a:spcPts val="0"/>
              </a:spcBef>
              <a:spcAft>
                <a:spcPts val="0"/>
              </a:spcAft>
              <a:buNone/>
            </a:pPr>
            <a:r>
              <a:rPr lang="en" sz="2000">
                <a:solidFill>
                  <a:schemeClr val="dk2"/>
                </a:solidFill>
              </a:rPr>
              <a:t>MODEL PARAMETERS</a:t>
            </a:r>
            <a:endParaRPr sz="2000">
              <a:solidFill>
                <a:schemeClr val="dk2"/>
              </a:solidFill>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model=GPT_MODEL,</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temperature=0,</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max_tokens=200,</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top_p=0.5,</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n=1,</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stop="Translate:",</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frequency_penalty=0.6,</a:t>
            </a:r>
            <a:endParaRPr b="1" sz="900">
              <a:solidFill>
                <a:srgbClr val="0D0D0D"/>
              </a:solidFill>
              <a:highlight>
                <a:schemeClr val="dk1"/>
              </a:highlight>
              <a:latin typeface="Courier New"/>
              <a:ea typeface="Courier New"/>
              <a:cs typeface="Courier New"/>
              <a:sym typeface="Courier New"/>
            </a:endParaRPr>
          </a:p>
          <a:p>
            <a:pPr indent="-285750" lvl="0" marL="457200" rtl="0" algn="l">
              <a:lnSpc>
                <a:spcPct val="150000"/>
              </a:lnSpc>
              <a:spcBef>
                <a:spcPts val="0"/>
              </a:spcBef>
              <a:spcAft>
                <a:spcPts val="0"/>
              </a:spcAft>
              <a:buClr>
                <a:srgbClr val="0D0D0D"/>
              </a:buClr>
              <a:buSzPts val="900"/>
              <a:buFont typeface="Courier New"/>
              <a:buChar char="●"/>
            </a:pPr>
            <a:r>
              <a:rPr b="1" lang="en" sz="900">
                <a:solidFill>
                  <a:srgbClr val="0D0D0D"/>
                </a:solidFill>
                <a:highlight>
                  <a:schemeClr val="dk1"/>
                </a:highlight>
                <a:latin typeface="Courier New"/>
                <a:ea typeface="Courier New"/>
                <a:cs typeface="Courier New"/>
                <a:sym typeface="Courier New"/>
              </a:rPr>
              <a:t>   presence_penalty=0.8,</a:t>
            </a:r>
            <a:endParaRPr b="1" sz="900">
              <a:solidFill>
                <a:srgbClr val="0D0D0D"/>
              </a:solidFill>
              <a:highlight>
                <a:schemeClr val="dk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2"/>
                </a:solidFill>
              </a:rPr>
              <a:t>REF: </a:t>
            </a:r>
            <a:r>
              <a:rPr lang="en" sz="1600" u="sng">
                <a:solidFill>
                  <a:schemeClr val="hlink"/>
                </a:solidFill>
                <a:hlinkClick r:id="rId4"/>
              </a:rPr>
              <a:t>https://medium.com/@csakash03/model-parameters-in-openai-api-fe6101d3f813</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MODEL PROMPTS:</a:t>
            </a:r>
            <a:endParaRPr sz="1600">
              <a:solidFill>
                <a:schemeClr val="dk2"/>
              </a:solidFill>
            </a:endParaRPr>
          </a:p>
          <a:p>
            <a:pPr indent="0" lvl="0" marL="0" rtl="0" algn="l">
              <a:spcBef>
                <a:spcPts val="0"/>
              </a:spcBef>
              <a:spcAft>
                <a:spcPts val="0"/>
              </a:spcAft>
              <a:buNone/>
            </a:pPr>
            <a:r>
              <a:rPr lang="en" sz="1600" u="sng">
                <a:solidFill>
                  <a:schemeClr val="hlink"/>
                </a:solidFill>
                <a:hlinkClick r:id="rId5"/>
              </a:rPr>
              <a:t>https://platform.openai.com/docs/examples</a:t>
            </a:r>
            <a:endParaRPr sz="16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1218" name="Google Shape;1218;p168"/>
          <p:cNvSpPr txBox="1"/>
          <p:nvPr/>
        </p:nvSpPr>
        <p:spPr>
          <a:xfrm>
            <a:off x="777875" y="333375"/>
            <a:ext cx="65565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Calibri"/>
                <a:ea typeface="Calibri"/>
                <a:cs typeface="Calibri"/>
                <a:sym typeface="Calibri"/>
              </a:rPr>
              <a:t>OpenAI MODELS</a:t>
            </a:r>
            <a:endParaRPr b="1" sz="2600">
              <a:solidFill>
                <a:schemeClr val="dk2"/>
              </a:solidFill>
              <a:latin typeface="Calibri"/>
              <a:ea typeface="Calibri"/>
              <a:cs typeface="Calibri"/>
              <a:sym typeface="Calibri"/>
            </a:endParaRPr>
          </a:p>
        </p:txBody>
      </p:sp>
      <p:sp>
        <p:nvSpPr>
          <p:cNvPr id="1219" name="Google Shape;1219;p16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169"/>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Customer Conversation</a:t>
            </a:r>
            <a:endParaRPr/>
          </a:p>
        </p:txBody>
      </p:sp>
      <p:sp>
        <p:nvSpPr>
          <p:cNvPr id="1225" name="Google Shape;1225;p169"/>
          <p:cNvSpPr txBox="1"/>
          <p:nvPr>
            <p:ph idx="1" type="body"/>
          </p:nvPr>
        </p:nvSpPr>
        <p:spPr>
          <a:xfrm>
            <a:off x="609600" y="1200150"/>
            <a:ext cx="8153400" cy="3429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2000"/>
              <a:t>Customer reached out support and chatted with agent and at the end of chat or phone call LLM will summarize the results to have follow up actions</a:t>
            </a:r>
            <a:endParaRPr sz="2000"/>
          </a:p>
          <a:p>
            <a:pPr indent="0" lvl="0" marL="0" rtl="0" algn="l">
              <a:spcBef>
                <a:spcPts val="360"/>
              </a:spcBef>
              <a:spcAft>
                <a:spcPts val="0"/>
              </a:spcAft>
              <a:buNone/>
            </a:pPr>
            <a:r>
              <a:rPr lang="en" sz="2000"/>
              <a:t>LLM reads the case record/email/chat/task- and</a:t>
            </a:r>
            <a:endParaRPr sz="2000"/>
          </a:p>
          <a:p>
            <a:pPr indent="-355600" lvl="0" marL="457200" rtl="0" algn="l">
              <a:spcBef>
                <a:spcPts val="360"/>
              </a:spcBef>
              <a:spcAft>
                <a:spcPts val="0"/>
              </a:spcAft>
              <a:buSzPts val="2000"/>
              <a:buAutoNum type="alphaLcParenR"/>
            </a:pPr>
            <a:r>
              <a:rPr lang="en" sz="2000"/>
              <a:t>LLM determines sentiment of customer</a:t>
            </a:r>
            <a:endParaRPr sz="2000"/>
          </a:p>
          <a:p>
            <a:pPr indent="-355600" lvl="0" marL="457200" rtl="0" algn="l">
              <a:spcBef>
                <a:spcPts val="0"/>
              </a:spcBef>
              <a:spcAft>
                <a:spcPts val="0"/>
              </a:spcAft>
              <a:buSzPts val="2000"/>
              <a:buAutoNum type="alphaLcParenR"/>
            </a:pPr>
            <a:r>
              <a:rPr lang="en" sz="2000"/>
              <a:t>LLM determines sentiment of customer and provides why it is so</a:t>
            </a:r>
            <a:endParaRPr sz="2000"/>
          </a:p>
          <a:p>
            <a:pPr indent="-355600" lvl="0" marL="457200" rtl="0" algn="l">
              <a:spcBef>
                <a:spcPts val="0"/>
              </a:spcBef>
              <a:spcAft>
                <a:spcPts val="0"/>
              </a:spcAft>
              <a:buSzPts val="2000"/>
              <a:buAutoNum type="alphaLcParenR"/>
            </a:pPr>
            <a:r>
              <a:rPr lang="en" sz="2000"/>
              <a:t>LLM summarizes an apology/thank you note to customer</a:t>
            </a:r>
            <a:endParaRPr sz="2000"/>
          </a:p>
          <a:p>
            <a:pPr indent="-355600" lvl="0" marL="457200" rtl="0" algn="l">
              <a:spcBef>
                <a:spcPts val="0"/>
              </a:spcBef>
              <a:spcAft>
                <a:spcPts val="0"/>
              </a:spcAft>
              <a:buSzPts val="2000"/>
              <a:buAutoNum type="alphaLcParenR"/>
            </a:pPr>
            <a:r>
              <a:rPr lang="en" sz="2000"/>
              <a:t>LLM escalates to manager to seem extra help to improve customer satisfaction</a:t>
            </a:r>
            <a:endParaRPr sz="2000"/>
          </a:p>
        </p:txBody>
      </p:sp>
      <p:sp>
        <p:nvSpPr>
          <p:cNvPr id="1226" name="Google Shape;1226;p169"/>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70"/>
          <p:cNvSpPr txBox="1"/>
          <p:nvPr>
            <p:ph type="title"/>
          </p:nvPr>
        </p:nvSpPr>
        <p:spPr>
          <a:xfrm>
            <a:off x="0" y="74700"/>
            <a:ext cx="3822900" cy="61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Architecture</a:t>
            </a:r>
            <a:endParaRPr/>
          </a:p>
        </p:txBody>
      </p:sp>
      <p:pic>
        <p:nvPicPr>
          <p:cNvPr id="1232" name="Google Shape;1232;p170"/>
          <p:cNvPicPr preferRelativeResize="0"/>
          <p:nvPr/>
        </p:nvPicPr>
        <p:blipFill>
          <a:blip r:embed="rId3">
            <a:alphaModFix/>
          </a:blip>
          <a:stretch>
            <a:fillRect/>
          </a:stretch>
        </p:blipFill>
        <p:spPr>
          <a:xfrm>
            <a:off x="152400" y="1295550"/>
            <a:ext cx="2073250" cy="1385650"/>
          </a:xfrm>
          <a:prstGeom prst="rect">
            <a:avLst/>
          </a:prstGeom>
          <a:noFill/>
          <a:ln>
            <a:noFill/>
          </a:ln>
        </p:spPr>
      </p:pic>
      <p:pic>
        <p:nvPicPr>
          <p:cNvPr id="1233" name="Google Shape;1233;p170"/>
          <p:cNvPicPr preferRelativeResize="0"/>
          <p:nvPr/>
        </p:nvPicPr>
        <p:blipFill>
          <a:blip r:embed="rId4">
            <a:alphaModFix/>
          </a:blip>
          <a:stretch>
            <a:fillRect/>
          </a:stretch>
        </p:blipFill>
        <p:spPr>
          <a:xfrm>
            <a:off x="3176700" y="931100"/>
            <a:ext cx="2095500" cy="2114550"/>
          </a:xfrm>
          <a:prstGeom prst="rect">
            <a:avLst/>
          </a:prstGeom>
          <a:noFill/>
          <a:ln>
            <a:noFill/>
          </a:ln>
        </p:spPr>
      </p:pic>
      <p:pic>
        <p:nvPicPr>
          <p:cNvPr id="1234" name="Google Shape;1234;p170"/>
          <p:cNvPicPr preferRelativeResize="0"/>
          <p:nvPr/>
        </p:nvPicPr>
        <p:blipFill>
          <a:blip r:embed="rId5">
            <a:alphaModFix/>
          </a:blip>
          <a:stretch>
            <a:fillRect/>
          </a:stretch>
        </p:blipFill>
        <p:spPr>
          <a:xfrm>
            <a:off x="6765600" y="941825"/>
            <a:ext cx="2057400" cy="1943100"/>
          </a:xfrm>
          <a:prstGeom prst="rect">
            <a:avLst/>
          </a:prstGeom>
          <a:noFill/>
          <a:ln>
            <a:noFill/>
          </a:ln>
        </p:spPr>
      </p:pic>
      <p:cxnSp>
        <p:nvCxnSpPr>
          <p:cNvPr id="1235" name="Google Shape;1235;p170"/>
          <p:cNvCxnSpPr>
            <a:stCxn id="1232" idx="0"/>
            <a:endCxn id="1233" idx="0"/>
          </p:cNvCxnSpPr>
          <p:nvPr/>
        </p:nvCxnSpPr>
        <p:spPr>
          <a:xfrm rot="-5400000">
            <a:off x="2524475" y="-404400"/>
            <a:ext cx="364500" cy="3035400"/>
          </a:xfrm>
          <a:prstGeom prst="curvedConnector3">
            <a:avLst>
              <a:gd fmla="val 165316" name="adj1"/>
            </a:avLst>
          </a:prstGeom>
          <a:noFill/>
          <a:ln cap="flat" cmpd="sng" w="9525">
            <a:solidFill>
              <a:schemeClr val="dk2"/>
            </a:solidFill>
            <a:prstDash val="solid"/>
            <a:round/>
            <a:headEnd len="med" w="med" type="none"/>
            <a:tailEnd len="med" w="med" type="triangle"/>
          </a:ln>
        </p:spPr>
      </p:cxnSp>
      <p:cxnSp>
        <p:nvCxnSpPr>
          <p:cNvPr id="1236" name="Google Shape;1236;p170"/>
          <p:cNvCxnSpPr>
            <a:stCxn id="1232" idx="2"/>
            <a:endCxn id="1233" idx="1"/>
          </p:cNvCxnSpPr>
          <p:nvPr/>
        </p:nvCxnSpPr>
        <p:spPr>
          <a:xfrm rot="-5400000">
            <a:off x="1836575" y="1340950"/>
            <a:ext cx="692700" cy="1987800"/>
          </a:xfrm>
          <a:prstGeom prst="curvedConnector4">
            <a:avLst>
              <a:gd fmla="val -34376" name="adj1"/>
              <a:gd fmla="val 76072" name="adj2"/>
            </a:avLst>
          </a:prstGeom>
          <a:noFill/>
          <a:ln cap="flat" cmpd="sng" w="9525">
            <a:solidFill>
              <a:schemeClr val="dk2"/>
            </a:solidFill>
            <a:prstDash val="solid"/>
            <a:round/>
            <a:headEnd len="med" w="med" type="none"/>
            <a:tailEnd len="med" w="med" type="triangle"/>
          </a:ln>
        </p:spPr>
      </p:cxnSp>
      <p:cxnSp>
        <p:nvCxnSpPr>
          <p:cNvPr id="1237" name="Google Shape;1237;p170"/>
          <p:cNvCxnSpPr>
            <a:stCxn id="1232" idx="2"/>
            <a:endCxn id="1233" idx="2"/>
          </p:cNvCxnSpPr>
          <p:nvPr/>
        </p:nvCxnSpPr>
        <p:spPr>
          <a:xfrm flipH="1" rot="-5400000">
            <a:off x="2524475" y="1345750"/>
            <a:ext cx="364500" cy="3035400"/>
          </a:xfrm>
          <a:prstGeom prst="curvedConnector3">
            <a:avLst>
              <a:gd fmla="val 165316" name="adj1"/>
            </a:avLst>
          </a:prstGeom>
          <a:noFill/>
          <a:ln cap="flat" cmpd="sng" w="9525">
            <a:solidFill>
              <a:schemeClr val="dk2"/>
            </a:solidFill>
            <a:prstDash val="solid"/>
            <a:round/>
            <a:headEnd len="med" w="med" type="none"/>
            <a:tailEnd len="med" w="med" type="triangle"/>
          </a:ln>
        </p:spPr>
      </p:cxnSp>
      <p:sp>
        <p:nvSpPr>
          <p:cNvPr id="1238" name="Google Shape;1238;p170"/>
          <p:cNvSpPr txBox="1"/>
          <p:nvPr/>
        </p:nvSpPr>
        <p:spPr>
          <a:xfrm>
            <a:off x="2441375" y="353175"/>
            <a:ext cx="14934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Customer chats</a:t>
            </a:r>
            <a:endParaRPr sz="1300">
              <a:solidFill>
                <a:schemeClr val="dk2"/>
              </a:solidFill>
              <a:latin typeface="Calibri"/>
              <a:ea typeface="Calibri"/>
              <a:cs typeface="Calibri"/>
              <a:sym typeface="Calibri"/>
            </a:endParaRPr>
          </a:p>
        </p:txBody>
      </p:sp>
      <p:sp>
        <p:nvSpPr>
          <p:cNvPr id="1239" name="Google Shape;1239;p170"/>
          <p:cNvSpPr txBox="1"/>
          <p:nvPr/>
        </p:nvSpPr>
        <p:spPr>
          <a:xfrm>
            <a:off x="2441375" y="3359400"/>
            <a:ext cx="14934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Customer Emails</a:t>
            </a:r>
            <a:endParaRPr sz="1300">
              <a:solidFill>
                <a:schemeClr val="dk2"/>
              </a:solidFill>
              <a:latin typeface="Calibri"/>
              <a:ea typeface="Calibri"/>
              <a:cs typeface="Calibri"/>
              <a:sym typeface="Calibri"/>
            </a:endParaRPr>
          </a:p>
        </p:txBody>
      </p:sp>
      <p:sp>
        <p:nvSpPr>
          <p:cNvPr id="1240" name="Google Shape;1240;p170"/>
          <p:cNvSpPr txBox="1"/>
          <p:nvPr/>
        </p:nvSpPr>
        <p:spPr>
          <a:xfrm>
            <a:off x="2308650" y="1016825"/>
            <a:ext cx="868200" cy="11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cases/</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 sz="1300">
                <a:solidFill>
                  <a:schemeClr val="dk2"/>
                </a:solidFill>
                <a:latin typeface="Calibri"/>
                <a:ea typeface="Calibri"/>
                <a:cs typeface="Calibri"/>
                <a:sym typeface="Calibri"/>
              </a:rPr>
              <a:t>leads/</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 sz="1300">
                <a:solidFill>
                  <a:schemeClr val="dk2"/>
                </a:solidFill>
                <a:latin typeface="Calibri"/>
                <a:ea typeface="Calibri"/>
                <a:cs typeface="Calibri"/>
                <a:sym typeface="Calibri"/>
              </a:rPr>
              <a:t>accounts/quotes</a:t>
            </a:r>
            <a:endParaRPr sz="1300">
              <a:solidFill>
                <a:schemeClr val="dk2"/>
              </a:solidFill>
              <a:latin typeface="Calibri"/>
              <a:ea typeface="Calibri"/>
              <a:cs typeface="Calibri"/>
              <a:sym typeface="Calibri"/>
            </a:endParaRPr>
          </a:p>
        </p:txBody>
      </p:sp>
      <p:cxnSp>
        <p:nvCxnSpPr>
          <p:cNvPr id="1241" name="Google Shape;1241;p170"/>
          <p:cNvCxnSpPr>
            <a:stCxn id="1233" idx="3"/>
            <a:endCxn id="1234" idx="0"/>
          </p:cNvCxnSpPr>
          <p:nvPr/>
        </p:nvCxnSpPr>
        <p:spPr>
          <a:xfrm flipH="1" rot="10800000">
            <a:off x="5272200" y="941975"/>
            <a:ext cx="2522100" cy="1046400"/>
          </a:xfrm>
          <a:prstGeom prst="curvedConnector4">
            <a:avLst>
              <a:gd fmla="val 29606" name="adj1"/>
              <a:gd fmla="val 122771" name="adj2"/>
            </a:avLst>
          </a:prstGeom>
          <a:noFill/>
          <a:ln cap="flat" cmpd="sng" w="9525">
            <a:solidFill>
              <a:schemeClr val="dk2"/>
            </a:solidFill>
            <a:prstDash val="solid"/>
            <a:round/>
            <a:headEnd len="med" w="med" type="none"/>
            <a:tailEnd len="med" w="med" type="triangle"/>
          </a:ln>
        </p:spPr>
      </p:cxnSp>
      <p:cxnSp>
        <p:nvCxnSpPr>
          <p:cNvPr id="1242" name="Google Shape;1242;p170"/>
          <p:cNvCxnSpPr>
            <a:stCxn id="1234" idx="2"/>
            <a:endCxn id="1233" idx="2"/>
          </p:cNvCxnSpPr>
          <p:nvPr/>
        </p:nvCxnSpPr>
        <p:spPr>
          <a:xfrm rot="5400000">
            <a:off x="5929050" y="1180475"/>
            <a:ext cx="160800" cy="3569700"/>
          </a:xfrm>
          <a:prstGeom prst="curvedConnector3">
            <a:avLst>
              <a:gd fmla="val 248041" name="adj1"/>
            </a:avLst>
          </a:prstGeom>
          <a:noFill/>
          <a:ln cap="flat" cmpd="sng" w="9525">
            <a:solidFill>
              <a:schemeClr val="dk2"/>
            </a:solidFill>
            <a:prstDash val="solid"/>
            <a:round/>
            <a:headEnd len="med" w="med" type="none"/>
            <a:tailEnd len="med" w="med" type="triangle"/>
          </a:ln>
        </p:spPr>
      </p:cxnSp>
      <p:sp>
        <p:nvSpPr>
          <p:cNvPr id="1243" name="Google Shape;1243;p170"/>
          <p:cNvSpPr txBox="1"/>
          <p:nvPr/>
        </p:nvSpPr>
        <p:spPr>
          <a:xfrm>
            <a:off x="5426725" y="437900"/>
            <a:ext cx="14934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Llm request</a:t>
            </a:r>
            <a:endParaRPr sz="1300">
              <a:solidFill>
                <a:schemeClr val="dk2"/>
              </a:solidFill>
              <a:latin typeface="Calibri"/>
              <a:ea typeface="Calibri"/>
              <a:cs typeface="Calibri"/>
              <a:sym typeface="Calibri"/>
            </a:endParaRPr>
          </a:p>
        </p:txBody>
      </p:sp>
      <p:sp>
        <p:nvSpPr>
          <p:cNvPr id="1244" name="Google Shape;1244;p170"/>
          <p:cNvSpPr txBox="1"/>
          <p:nvPr/>
        </p:nvSpPr>
        <p:spPr>
          <a:xfrm>
            <a:off x="5272200" y="3359400"/>
            <a:ext cx="14934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Llm response</a:t>
            </a:r>
            <a:endParaRPr sz="1300">
              <a:solidFill>
                <a:schemeClr val="dk2"/>
              </a:solidFill>
              <a:latin typeface="Calibri"/>
              <a:ea typeface="Calibri"/>
              <a:cs typeface="Calibri"/>
              <a:sym typeface="Calibri"/>
            </a:endParaRPr>
          </a:p>
        </p:txBody>
      </p:sp>
      <p:pic>
        <p:nvPicPr>
          <p:cNvPr id="1245" name="Google Shape;1245;p170"/>
          <p:cNvPicPr preferRelativeResize="0"/>
          <p:nvPr/>
        </p:nvPicPr>
        <p:blipFill>
          <a:blip r:embed="rId6">
            <a:alphaModFix/>
          </a:blip>
          <a:stretch>
            <a:fillRect/>
          </a:stretch>
        </p:blipFill>
        <p:spPr>
          <a:xfrm>
            <a:off x="5138625" y="2200750"/>
            <a:ext cx="1493400" cy="610500"/>
          </a:xfrm>
          <a:prstGeom prst="rect">
            <a:avLst/>
          </a:prstGeom>
          <a:noFill/>
          <a:ln>
            <a:noFill/>
          </a:ln>
        </p:spPr>
      </p:pic>
      <p:sp>
        <p:nvSpPr>
          <p:cNvPr id="1246" name="Google Shape;1246;p170"/>
          <p:cNvSpPr txBox="1"/>
          <p:nvPr/>
        </p:nvSpPr>
        <p:spPr>
          <a:xfrm>
            <a:off x="5212250" y="2841950"/>
            <a:ext cx="13275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LLM Prompts</a:t>
            </a:r>
            <a:endParaRPr sz="1300">
              <a:solidFill>
                <a:schemeClr val="dk2"/>
              </a:solidFill>
              <a:latin typeface="Calibri"/>
              <a:ea typeface="Calibri"/>
              <a:cs typeface="Calibri"/>
              <a:sym typeface="Calibri"/>
            </a:endParaRPr>
          </a:p>
        </p:txBody>
      </p:sp>
      <p:sp>
        <p:nvSpPr>
          <p:cNvPr id="1247" name="Google Shape;1247;p170"/>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71"/>
          <p:cNvSpPr txBox="1"/>
          <p:nvPr>
            <p:ph type="title"/>
          </p:nvPr>
        </p:nvSpPr>
        <p:spPr>
          <a:xfrm>
            <a:off x="281100" y="285750"/>
            <a:ext cx="84819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For Example a Conversation like : (negative sentiment)</a:t>
            </a:r>
            <a:endParaRPr/>
          </a:p>
        </p:txBody>
      </p:sp>
      <p:pic>
        <p:nvPicPr>
          <p:cNvPr id="1253" name="Google Shape;1253;p171"/>
          <p:cNvPicPr preferRelativeResize="0"/>
          <p:nvPr/>
        </p:nvPicPr>
        <p:blipFill>
          <a:blip r:embed="rId3">
            <a:alphaModFix/>
          </a:blip>
          <a:stretch>
            <a:fillRect/>
          </a:stretch>
        </p:blipFill>
        <p:spPr>
          <a:xfrm>
            <a:off x="152400" y="1295550"/>
            <a:ext cx="8610601" cy="3063149"/>
          </a:xfrm>
          <a:prstGeom prst="rect">
            <a:avLst/>
          </a:prstGeom>
          <a:noFill/>
          <a:ln>
            <a:noFill/>
          </a:ln>
        </p:spPr>
      </p:pic>
      <p:sp>
        <p:nvSpPr>
          <p:cNvPr id="1254" name="Google Shape;1254;p171"/>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72"/>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Now llm looked at record and provided the below</a:t>
            </a:r>
            <a:endParaRPr/>
          </a:p>
        </p:txBody>
      </p:sp>
      <p:pic>
        <p:nvPicPr>
          <p:cNvPr id="1260" name="Google Shape;1260;p172"/>
          <p:cNvPicPr preferRelativeResize="0"/>
          <p:nvPr/>
        </p:nvPicPr>
        <p:blipFill>
          <a:blip r:embed="rId3">
            <a:alphaModFix/>
          </a:blip>
          <a:stretch>
            <a:fillRect/>
          </a:stretch>
        </p:blipFill>
        <p:spPr>
          <a:xfrm>
            <a:off x="152400" y="917300"/>
            <a:ext cx="7648176" cy="4073799"/>
          </a:xfrm>
          <a:prstGeom prst="rect">
            <a:avLst/>
          </a:prstGeom>
          <a:noFill/>
          <a:ln>
            <a:noFill/>
          </a:ln>
        </p:spPr>
      </p:pic>
      <p:sp>
        <p:nvSpPr>
          <p:cNvPr id="1261" name="Google Shape;1261;p172"/>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73"/>
          <p:cNvSpPr txBox="1"/>
          <p:nvPr>
            <p:ph type="title"/>
          </p:nvPr>
        </p:nvSpPr>
        <p:spPr>
          <a:xfrm>
            <a:off x="281100" y="285750"/>
            <a:ext cx="84819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For Example a Conversation like : (postive sentiment)</a:t>
            </a:r>
            <a:endParaRPr/>
          </a:p>
        </p:txBody>
      </p:sp>
      <p:pic>
        <p:nvPicPr>
          <p:cNvPr id="1267" name="Google Shape;1267;p173"/>
          <p:cNvPicPr preferRelativeResize="0"/>
          <p:nvPr/>
        </p:nvPicPr>
        <p:blipFill>
          <a:blip r:embed="rId3">
            <a:alphaModFix/>
          </a:blip>
          <a:stretch>
            <a:fillRect/>
          </a:stretch>
        </p:blipFill>
        <p:spPr>
          <a:xfrm>
            <a:off x="152400" y="2152075"/>
            <a:ext cx="8839204" cy="2529186"/>
          </a:xfrm>
          <a:prstGeom prst="rect">
            <a:avLst/>
          </a:prstGeom>
          <a:noFill/>
          <a:ln>
            <a:noFill/>
          </a:ln>
        </p:spPr>
      </p:pic>
      <p:sp>
        <p:nvSpPr>
          <p:cNvPr id="1268" name="Google Shape;1268;p173"/>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74"/>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LLM Analysis</a:t>
            </a:r>
            <a:endParaRPr/>
          </a:p>
        </p:txBody>
      </p:sp>
      <p:pic>
        <p:nvPicPr>
          <p:cNvPr id="1274" name="Google Shape;1274;p174"/>
          <p:cNvPicPr preferRelativeResize="0"/>
          <p:nvPr/>
        </p:nvPicPr>
        <p:blipFill>
          <a:blip r:embed="rId3">
            <a:alphaModFix/>
          </a:blip>
          <a:stretch>
            <a:fillRect/>
          </a:stretch>
        </p:blipFill>
        <p:spPr>
          <a:xfrm>
            <a:off x="152400" y="1295550"/>
            <a:ext cx="8153399" cy="3695550"/>
          </a:xfrm>
          <a:prstGeom prst="rect">
            <a:avLst/>
          </a:prstGeom>
          <a:noFill/>
          <a:ln>
            <a:noFill/>
          </a:ln>
        </p:spPr>
      </p:pic>
      <p:sp>
        <p:nvSpPr>
          <p:cNvPr id="1275" name="Google Shape;1275;p174"/>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75"/>
          <p:cNvSpPr txBox="1"/>
          <p:nvPr>
            <p:ph type="title"/>
          </p:nvPr>
        </p:nvSpPr>
        <p:spPr>
          <a:xfrm>
            <a:off x="675975" y="21430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Additional open AI LLM use cases in CRM world</a:t>
            </a:r>
            <a:endParaRPr/>
          </a:p>
        </p:txBody>
      </p:sp>
      <p:sp>
        <p:nvSpPr>
          <p:cNvPr id="1281" name="Google Shape;1281;p175"/>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76"/>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Additional use cases -set1</a:t>
            </a:r>
            <a:endParaRPr/>
          </a:p>
        </p:txBody>
      </p:sp>
      <p:sp>
        <p:nvSpPr>
          <p:cNvPr id="1287" name="Google Shape;1287;p176"/>
          <p:cNvSpPr txBox="1"/>
          <p:nvPr/>
        </p:nvSpPr>
        <p:spPr>
          <a:xfrm>
            <a:off x="720925" y="1117775"/>
            <a:ext cx="7431000" cy="40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Phone call Call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Email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Record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Task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Case Description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Auto response based on case context</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Chat and Case Routing by classification</a:t>
            </a:r>
            <a:endParaRPr sz="2500">
              <a:solidFill>
                <a:schemeClr val="dk2"/>
              </a:solidFill>
              <a:latin typeface="Calibri"/>
              <a:ea typeface="Calibri"/>
              <a:cs typeface="Calibri"/>
              <a:sym typeface="Calibri"/>
            </a:endParaRPr>
          </a:p>
        </p:txBody>
      </p:sp>
      <p:sp>
        <p:nvSpPr>
          <p:cNvPr id="1288" name="Google Shape;1288;p176"/>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77"/>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Additional use cases -set2</a:t>
            </a:r>
            <a:endParaRPr/>
          </a:p>
        </p:txBody>
      </p:sp>
      <p:sp>
        <p:nvSpPr>
          <p:cNvPr id="1294" name="Google Shape;1294;p177"/>
          <p:cNvSpPr txBox="1"/>
          <p:nvPr/>
        </p:nvSpPr>
        <p:spPr>
          <a:xfrm>
            <a:off x="720925" y="1117775"/>
            <a:ext cx="7431000" cy="40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Health score calculation</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Churn rate identification</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Opportunity Forecast analysis</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Lead qualification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Lead marketing emails followup</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Agents Training</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Agent auto reply recommendations</a:t>
            </a:r>
            <a:endParaRPr sz="2500">
              <a:solidFill>
                <a:schemeClr val="dk2"/>
              </a:solidFill>
              <a:latin typeface="Calibri"/>
              <a:ea typeface="Calibri"/>
              <a:cs typeface="Calibri"/>
              <a:sym typeface="Calibri"/>
            </a:endParaRPr>
          </a:p>
          <a:p>
            <a:pPr indent="0" lvl="0" marL="457200" rtl="0" algn="l">
              <a:spcBef>
                <a:spcPts val="0"/>
              </a:spcBef>
              <a:spcAft>
                <a:spcPts val="0"/>
              </a:spcAft>
              <a:buNone/>
            </a:pPr>
            <a:r>
              <a:t/>
            </a:r>
            <a:endParaRPr sz="2500">
              <a:solidFill>
                <a:schemeClr val="dk2"/>
              </a:solidFill>
              <a:latin typeface="Calibri"/>
              <a:ea typeface="Calibri"/>
              <a:cs typeface="Calibri"/>
              <a:sym typeface="Calibri"/>
            </a:endParaRPr>
          </a:p>
          <a:p>
            <a:pPr indent="0" lvl="0" marL="457200" rtl="0" algn="l">
              <a:spcBef>
                <a:spcPts val="0"/>
              </a:spcBef>
              <a:spcAft>
                <a:spcPts val="0"/>
              </a:spcAft>
              <a:buNone/>
            </a:pPr>
            <a:r>
              <a:t/>
            </a:r>
            <a:endParaRPr sz="2500">
              <a:solidFill>
                <a:schemeClr val="dk2"/>
              </a:solidFill>
              <a:latin typeface="Calibri"/>
              <a:ea typeface="Calibri"/>
              <a:cs typeface="Calibri"/>
              <a:sym typeface="Calibri"/>
            </a:endParaRPr>
          </a:p>
        </p:txBody>
      </p:sp>
      <p:sp>
        <p:nvSpPr>
          <p:cNvPr id="1295" name="Google Shape;1295;p177"/>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78"/>
          <p:cNvSpPr txBox="1"/>
          <p:nvPr>
            <p:ph type="title"/>
          </p:nvPr>
        </p:nvSpPr>
        <p:spPr>
          <a:xfrm>
            <a:off x="609600" y="285750"/>
            <a:ext cx="8153400" cy="857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Additional use cases -set3</a:t>
            </a:r>
            <a:endParaRPr/>
          </a:p>
        </p:txBody>
      </p:sp>
      <p:sp>
        <p:nvSpPr>
          <p:cNvPr id="1301" name="Google Shape;1301;p178"/>
          <p:cNvSpPr txBox="1"/>
          <p:nvPr/>
        </p:nvSpPr>
        <p:spPr>
          <a:xfrm>
            <a:off x="720925" y="1117775"/>
            <a:ext cx="8042100" cy="40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Task,Activities,Meeting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Quote record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Usage consumption summary and early renewal alert</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Customer feedback analysis</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Opportunity bottlenecks </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Service record summary</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Customer Monthly  interaction analysis</a:t>
            </a:r>
            <a:endParaRPr sz="2500">
              <a:solidFill>
                <a:schemeClr val="dk2"/>
              </a:solidFill>
              <a:latin typeface="Calibri"/>
              <a:ea typeface="Calibri"/>
              <a:cs typeface="Calibri"/>
              <a:sym typeface="Calibri"/>
            </a:endParaRPr>
          </a:p>
          <a:p>
            <a:pPr indent="-387350" lvl="0" marL="457200" rtl="0" algn="l">
              <a:spcBef>
                <a:spcPts val="0"/>
              </a:spcBef>
              <a:spcAft>
                <a:spcPts val="0"/>
              </a:spcAft>
              <a:buClr>
                <a:schemeClr val="dk2"/>
              </a:buClr>
              <a:buSzPts val="2500"/>
              <a:buFont typeface="Calibri"/>
              <a:buAutoNum type="arabicPeriod"/>
            </a:pPr>
            <a:r>
              <a:rPr lang="en" sz="2500">
                <a:solidFill>
                  <a:schemeClr val="dk2"/>
                </a:solidFill>
                <a:latin typeface="Calibri"/>
                <a:ea typeface="Calibri"/>
                <a:cs typeface="Calibri"/>
                <a:sym typeface="Calibri"/>
              </a:rPr>
              <a:t>Product recommendations Helper </a:t>
            </a:r>
            <a:endParaRPr sz="2500">
              <a:solidFill>
                <a:schemeClr val="dk2"/>
              </a:solidFill>
              <a:latin typeface="Calibri"/>
              <a:ea typeface="Calibri"/>
              <a:cs typeface="Calibri"/>
              <a:sym typeface="Calibri"/>
            </a:endParaRPr>
          </a:p>
          <a:p>
            <a:pPr indent="0" lvl="0" marL="457200" rtl="0" algn="l">
              <a:spcBef>
                <a:spcPts val="0"/>
              </a:spcBef>
              <a:spcAft>
                <a:spcPts val="0"/>
              </a:spcAft>
              <a:buNone/>
            </a:pPr>
            <a:r>
              <a:t/>
            </a:r>
            <a:endParaRPr sz="2500">
              <a:solidFill>
                <a:schemeClr val="dk2"/>
              </a:solidFill>
              <a:latin typeface="Calibri"/>
              <a:ea typeface="Calibri"/>
              <a:cs typeface="Calibri"/>
              <a:sym typeface="Calibri"/>
            </a:endParaRPr>
          </a:p>
          <a:p>
            <a:pPr indent="0" lvl="0" marL="457200" rtl="0" algn="l">
              <a:spcBef>
                <a:spcPts val="0"/>
              </a:spcBef>
              <a:spcAft>
                <a:spcPts val="0"/>
              </a:spcAft>
              <a:buNone/>
            </a:pPr>
            <a:r>
              <a:t/>
            </a:r>
            <a:endParaRPr sz="2500">
              <a:solidFill>
                <a:schemeClr val="dk2"/>
              </a:solidFill>
              <a:latin typeface="Calibri"/>
              <a:ea typeface="Calibri"/>
              <a:cs typeface="Calibri"/>
              <a:sym typeface="Calibri"/>
            </a:endParaRPr>
          </a:p>
        </p:txBody>
      </p:sp>
      <p:sp>
        <p:nvSpPr>
          <p:cNvPr id="1302" name="Google Shape;1302;p178"/>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179"/>
          <p:cNvSpPr txBox="1"/>
          <p:nvPr>
            <p:ph type="title"/>
          </p:nvPr>
        </p:nvSpPr>
        <p:spPr>
          <a:xfrm>
            <a:off x="194800" y="70050"/>
            <a:ext cx="7406700" cy="432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Sample open AI Code in repo</a:t>
            </a:r>
            <a:endParaRPr/>
          </a:p>
        </p:txBody>
      </p:sp>
      <p:graphicFrame>
        <p:nvGraphicFramePr>
          <p:cNvPr id="1308" name="Google Shape;1308;p179"/>
          <p:cNvGraphicFramePr/>
          <p:nvPr/>
        </p:nvGraphicFramePr>
        <p:xfrm>
          <a:off x="343375" y="824375"/>
          <a:ext cx="3000000" cy="3000000"/>
        </p:xfrm>
        <a:graphic>
          <a:graphicData uri="http://schemas.openxmlformats.org/drawingml/2006/table">
            <a:tbl>
              <a:tblPr>
                <a:noFill/>
                <a:tableStyleId>{A5F71DC0-B734-49B0-82BF-47BBF8BC9791}</a:tableStyleId>
              </a:tblPr>
              <a:tblGrid>
                <a:gridCol w="1485850"/>
                <a:gridCol w="1028150"/>
                <a:gridCol w="5761475"/>
              </a:tblGrid>
              <a:tr h="576925">
                <a:tc>
                  <a:txBody>
                    <a:bodyPr/>
                    <a:lstStyle/>
                    <a:p>
                      <a:pPr indent="0" lvl="0" marL="0" rtl="0" algn="l">
                        <a:spcBef>
                          <a:spcPts val="0"/>
                        </a:spcBef>
                        <a:spcAft>
                          <a:spcPts val="0"/>
                        </a:spcAft>
                        <a:buNone/>
                      </a:pPr>
                      <a:r>
                        <a:rPr lang="en"/>
                        <a:t>Category</a:t>
                      </a:r>
                      <a:endParaRPr/>
                    </a:p>
                  </a:txBody>
                  <a:tcPr marT="91425" marB="91425" marR="91425" marL="91425"/>
                </a:tc>
                <a:tc>
                  <a:txBody>
                    <a:bodyPr/>
                    <a:lstStyle/>
                    <a:p>
                      <a:pPr indent="0" lvl="0" marL="0" rtl="0" algn="l">
                        <a:spcBef>
                          <a:spcPts val="0"/>
                        </a:spcBef>
                        <a:spcAft>
                          <a:spcPts val="0"/>
                        </a:spcAft>
                        <a:buNone/>
                      </a:pPr>
                      <a:r>
                        <a:rPr lang="en"/>
                        <a:t>Github link</a:t>
                      </a:r>
                      <a:endParaRPr/>
                    </a:p>
                  </a:txBody>
                  <a:tcPr marT="91425" marB="91425" marR="91425" marL="91425"/>
                </a:tc>
                <a:tc>
                  <a:txBody>
                    <a:bodyPr/>
                    <a:lstStyle/>
                    <a:p>
                      <a:pPr indent="0" lvl="0" marL="0" rtl="0" algn="l">
                        <a:spcBef>
                          <a:spcPts val="0"/>
                        </a:spcBef>
                        <a:spcAft>
                          <a:spcPts val="0"/>
                        </a:spcAft>
                        <a:buNone/>
                      </a:pPr>
                      <a:r>
                        <a:rPr lang="en"/>
                        <a:t>Description/Purpose</a:t>
                      </a:r>
                      <a:endParaRPr/>
                    </a:p>
                  </a:txBody>
                  <a:tcPr marT="91425" marB="91425" marR="91425" marL="91425"/>
                </a:tc>
              </a:tr>
              <a:tr h="1114675">
                <a:tc>
                  <a:txBody>
                    <a:bodyPr/>
                    <a:lstStyle/>
                    <a:p>
                      <a:pPr indent="0" lvl="0" marL="0" rtl="0" algn="l">
                        <a:spcBef>
                          <a:spcPts val="0"/>
                        </a:spcBef>
                        <a:spcAft>
                          <a:spcPts val="0"/>
                        </a:spcAft>
                        <a:buNone/>
                      </a:pPr>
                      <a:r>
                        <a:rPr lang="en"/>
                        <a:t>Text Classification</a:t>
                      </a:r>
                      <a:endParaRPr/>
                    </a:p>
                  </a:txBody>
                  <a:tcPr marT="91425" marB="91425" marR="91425" marL="91425"/>
                </a:tc>
                <a:tc>
                  <a:txBody>
                    <a:bodyPr/>
                    <a:lstStyle/>
                    <a:p>
                      <a:pPr indent="0" lvl="0" marL="0" rtl="0" algn="l">
                        <a:spcBef>
                          <a:spcPts val="0"/>
                        </a:spcBef>
                        <a:spcAft>
                          <a:spcPts val="0"/>
                        </a:spcAft>
                        <a:buNone/>
                      </a:pPr>
                      <a:r>
                        <a:rPr lang="en" u="sng">
                          <a:solidFill>
                            <a:schemeClr val="hlink"/>
                          </a:solidFill>
                          <a:hlinkClick r:id="rId3"/>
                        </a:rPr>
                        <a:t>Code</a:t>
                      </a:r>
                      <a:endParaRPr/>
                    </a:p>
                  </a:txBody>
                  <a:tcPr marT="91425" marB="91425" marR="91425" marL="91425"/>
                </a:tc>
                <a:tc>
                  <a:txBody>
                    <a:bodyPr/>
                    <a:lstStyle/>
                    <a:p>
                      <a:pPr indent="0" lvl="0" marL="0" rtl="0" algn="l">
                        <a:spcBef>
                          <a:spcPts val="0"/>
                        </a:spcBef>
                        <a:spcAft>
                          <a:spcPts val="0"/>
                        </a:spcAft>
                        <a:buNone/>
                      </a:pPr>
                      <a:r>
                        <a:rPr lang="en"/>
                        <a:t>This code will take customer chat/question and it automatically classify the intent and return classification criteria - very useful for agent transfers-we can plugin to any CRM or IVR</a:t>
                      </a:r>
                      <a:endParaRPr/>
                    </a:p>
                  </a:txBody>
                  <a:tcPr marT="91425" marB="91425" marR="91425" marL="91425"/>
                </a:tc>
              </a:tr>
              <a:tr h="554800">
                <a:tc>
                  <a:txBody>
                    <a:bodyPr/>
                    <a:lstStyle/>
                    <a:p>
                      <a:pPr indent="0" lvl="0" marL="0" rtl="0" algn="l">
                        <a:spcBef>
                          <a:spcPts val="0"/>
                        </a:spcBef>
                        <a:spcAft>
                          <a:spcPts val="0"/>
                        </a:spcAft>
                        <a:buNone/>
                      </a:pPr>
                      <a:r>
                        <a:rPr lang="en"/>
                        <a:t>Text Summarization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54800">
                <a:tc>
                  <a:txBody>
                    <a:bodyPr/>
                    <a:lstStyle/>
                    <a:p>
                      <a:pPr indent="0" lvl="0" marL="0" rtl="0" algn="l">
                        <a:spcBef>
                          <a:spcPts val="0"/>
                        </a:spcBef>
                        <a:spcAft>
                          <a:spcPts val="0"/>
                        </a:spcAft>
                        <a:buNone/>
                      </a:pPr>
                      <a:r>
                        <a:rPr lang="en"/>
                        <a:t>Chat Sentiments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6925">
                <a:tc>
                  <a:txBody>
                    <a:bodyPr/>
                    <a:lstStyle/>
                    <a:p>
                      <a:pPr indent="0" lvl="0" marL="0" rtl="0" algn="l">
                        <a:spcBef>
                          <a:spcPts val="0"/>
                        </a:spcBef>
                        <a:spcAft>
                          <a:spcPts val="0"/>
                        </a:spcAft>
                        <a:buNone/>
                      </a:pPr>
                      <a:r>
                        <a:rPr lang="en"/>
                        <a:t>Voice Call Summary</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6925">
                <a:tc>
                  <a:txBody>
                    <a:bodyPr/>
                    <a:lstStyle/>
                    <a:p>
                      <a:pPr indent="0" lvl="0" marL="0" rtl="0" algn="l">
                        <a:spcBef>
                          <a:spcPts val="0"/>
                        </a:spcBef>
                        <a:spcAft>
                          <a:spcPts val="0"/>
                        </a:spcAft>
                        <a:buNone/>
                      </a:pPr>
                      <a:r>
                        <a:rPr lang="en"/>
                        <a:t>Meeting Min summary</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09" name="Google Shape;1309;p179"/>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80"/>
          <p:cNvSpPr txBox="1"/>
          <p:nvPr>
            <p:ph type="title"/>
          </p:nvPr>
        </p:nvSpPr>
        <p:spPr>
          <a:xfrm>
            <a:off x="194800" y="70050"/>
            <a:ext cx="7406700" cy="432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Sample open AI Code in repo</a:t>
            </a:r>
            <a:endParaRPr/>
          </a:p>
        </p:txBody>
      </p:sp>
      <p:graphicFrame>
        <p:nvGraphicFramePr>
          <p:cNvPr id="1315" name="Google Shape;1315;p180"/>
          <p:cNvGraphicFramePr/>
          <p:nvPr/>
        </p:nvGraphicFramePr>
        <p:xfrm>
          <a:off x="343375" y="824375"/>
          <a:ext cx="3000000" cy="3000000"/>
        </p:xfrm>
        <a:graphic>
          <a:graphicData uri="http://schemas.openxmlformats.org/drawingml/2006/table">
            <a:tbl>
              <a:tblPr>
                <a:noFill/>
                <a:tableStyleId>{A5F71DC0-B734-49B0-82BF-47BBF8BC9791}</a:tableStyleId>
              </a:tblPr>
              <a:tblGrid>
                <a:gridCol w="1485850"/>
                <a:gridCol w="1028150"/>
                <a:gridCol w="5761475"/>
              </a:tblGrid>
              <a:tr h="576925">
                <a:tc>
                  <a:txBody>
                    <a:bodyPr/>
                    <a:lstStyle/>
                    <a:p>
                      <a:pPr indent="0" lvl="0" marL="0" rtl="0" algn="l">
                        <a:spcBef>
                          <a:spcPts val="0"/>
                        </a:spcBef>
                        <a:spcAft>
                          <a:spcPts val="0"/>
                        </a:spcAft>
                        <a:buNone/>
                      </a:pPr>
                      <a:r>
                        <a:rPr lang="en"/>
                        <a:t>Category</a:t>
                      </a:r>
                      <a:endParaRPr/>
                    </a:p>
                  </a:txBody>
                  <a:tcPr marT="91425" marB="91425" marR="91425" marL="91425"/>
                </a:tc>
                <a:tc>
                  <a:txBody>
                    <a:bodyPr/>
                    <a:lstStyle/>
                    <a:p>
                      <a:pPr indent="0" lvl="0" marL="0" rtl="0" algn="l">
                        <a:spcBef>
                          <a:spcPts val="0"/>
                        </a:spcBef>
                        <a:spcAft>
                          <a:spcPts val="0"/>
                        </a:spcAft>
                        <a:buNone/>
                      </a:pPr>
                      <a:r>
                        <a:rPr lang="en"/>
                        <a:t>Github link</a:t>
                      </a:r>
                      <a:endParaRPr/>
                    </a:p>
                  </a:txBody>
                  <a:tcPr marT="91425" marB="91425" marR="91425" marL="91425"/>
                </a:tc>
                <a:tc>
                  <a:txBody>
                    <a:bodyPr/>
                    <a:lstStyle/>
                    <a:p>
                      <a:pPr indent="0" lvl="0" marL="0" rtl="0" algn="l">
                        <a:spcBef>
                          <a:spcPts val="0"/>
                        </a:spcBef>
                        <a:spcAft>
                          <a:spcPts val="0"/>
                        </a:spcAft>
                        <a:buNone/>
                      </a:pPr>
                      <a:r>
                        <a:rPr lang="en"/>
                        <a:t>Description/Purpose</a:t>
                      </a:r>
                      <a:endParaRPr/>
                    </a:p>
                  </a:txBody>
                  <a:tcPr marT="91425" marB="91425" marR="91425" marL="91425"/>
                </a:tc>
              </a:tr>
              <a:tr h="1114675">
                <a:tc>
                  <a:txBody>
                    <a:bodyPr/>
                    <a:lstStyle/>
                    <a:p>
                      <a:pPr indent="0" lvl="0" marL="0" rtl="0" algn="l">
                        <a:spcBef>
                          <a:spcPts val="0"/>
                        </a:spcBef>
                        <a:spcAft>
                          <a:spcPts val="0"/>
                        </a:spcAft>
                        <a:buNone/>
                      </a:pPr>
                      <a:r>
                        <a:rPr lang="en"/>
                        <a:t>Post Chat Summary &amp; Follow up</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54800">
                <a:tc>
                  <a:txBody>
                    <a:bodyPr/>
                    <a:lstStyle/>
                    <a:p>
                      <a:pPr indent="0" lvl="0" marL="0" rtl="0" algn="l">
                        <a:spcBef>
                          <a:spcPts val="0"/>
                        </a:spcBef>
                        <a:spcAft>
                          <a:spcPts val="0"/>
                        </a:spcAft>
                        <a:buNone/>
                      </a:pPr>
                      <a:r>
                        <a:rPr lang="en"/>
                        <a:t>Post Voice Call Summary</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548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6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6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16" name="Google Shape;1316;p180"/>
          <p:cNvSpPr txBox="1"/>
          <p:nvPr>
            <p:ph idx="12" type="sldNum"/>
          </p:nvPr>
        </p:nvSpPr>
        <p:spPr>
          <a:xfrm>
            <a:off x="6934200" y="4686300"/>
            <a:ext cx="19050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000"/>
              <a:buFont typeface="Arial"/>
              <a:buNone/>
            </a:pPr>
            <a:r>
              <a:rPr lang="en"/>
              <a:t>1-</a:t>
            </a:r>
            <a:fld id="{00000000-1234-1234-1234-123412341234}" type="slidenum">
              <a:rPr lang="en"/>
              <a:t>‹#›</a:t>
            </a:fld>
            <a:endParaRPr>
              <a:solidFill>
                <a:schemeClr val="dk2"/>
              </a:solidFill>
              <a:latin typeface="Nunito"/>
              <a:ea typeface="Nunito"/>
              <a:cs typeface="Nunito"/>
              <a:sym typeface="Nunito"/>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81"/>
          <p:cNvSpPr txBox="1"/>
          <p:nvPr>
            <p:ph type="ctrTitle"/>
          </p:nvPr>
        </p:nvSpPr>
        <p:spPr>
          <a:xfrm>
            <a:off x="652675" y="1340600"/>
            <a:ext cx="7131000" cy="262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1800"/>
              <a:t>EXTRA SLIDES</a:t>
            </a:r>
            <a:endParaRPr b="1" sz="1800"/>
          </a:p>
          <a:p>
            <a:pPr indent="0" lvl="0" marL="0" rtl="0" algn="ctr">
              <a:spcBef>
                <a:spcPts val="0"/>
              </a:spcBef>
              <a:spcAft>
                <a:spcPts val="0"/>
              </a:spcAft>
              <a:buNone/>
            </a:pPr>
            <a:r>
              <a:t/>
            </a:r>
            <a:endParaRPr b="1" sz="2022"/>
          </a:p>
        </p:txBody>
      </p:sp>
      <p:sp>
        <p:nvSpPr>
          <p:cNvPr id="1322" name="Google Shape;1322;p18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82"/>
          <p:cNvSpPr txBox="1"/>
          <p:nvPr>
            <p:ph type="title"/>
          </p:nvPr>
        </p:nvSpPr>
        <p:spPr>
          <a:xfrm>
            <a:off x="819150" y="420225"/>
            <a:ext cx="7505700" cy="7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Training Community Rules</a:t>
            </a:r>
            <a:endParaRPr/>
          </a:p>
        </p:txBody>
      </p:sp>
      <p:sp>
        <p:nvSpPr>
          <p:cNvPr id="1328" name="Google Shape;1328;p182"/>
          <p:cNvSpPr txBox="1"/>
          <p:nvPr>
            <p:ph idx="1" type="body"/>
          </p:nvPr>
        </p:nvSpPr>
        <p:spPr>
          <a:xfrm>
            <a:off x="574300" y="1204725"/>
            <a:ext cx="8320500" cy="3234000"/>
          </a:xfrm>
          <a:prstGeom prst="rect">
            <a:avLst/>
          </a:prstGeom>
        </p:spPr>
        <p:txBody>
          <a:bodyPr anchorCtr="0" anchor="t" bIns="91425" lIns="91425" spcFirstLastPara="1" rIns="91425" wrap="square" tIns="91425">
            <a:normAutofit lnSpcReduction="10000"/>
          </a:bodyPr>
          <a:lstStyle/>
          <a:p>
            <a:pPr indent="-393700" lvl="0" marL="457200" rtl="0" algn="l">
              <a:spcBef>
                <a:spcPts val="0"/>
              </a:spcBef>
              <a:spcAft>
                <a:spcPts val="0"/>
              </a:spcAft>
              <a:buSzPts val="2600"/>
              <a:buChar char="●"/>
            </a:pPr>
            <a:r>
              <a:rPr b="1" lang="en" sz="2600"/>
              <a:t>Respect others</a:t>
            </a:r>
            <a:endParaRPr b="1" sz="2600"/>
          </a:p>
          <a:p>
            <a:pPr indent="-393700" lvl="0" marL="457200" rtl="0" algn="l">
              <a:spcBef>
                <a:spcPts val="0"/>
              </a:spcBef>
              <a:spcAft>
                <a:spcPts val="0"/>
              </a:spcAft>
              <a:buSzPts val="2600"/>
              <a:buChar char="●"/>
            </a:pPr>
            <a:r>
              <a:rPr b="1" lang="en" sz="2600"/>
              <a:t>This meeting is recorded.</a:t>
            </a:r>
            <a:endParaRPr b="1" sz="2600"/>
          </a:p>
          <a:p>
            <a:pPr indent="-393700" lvl="0" marL="457200" rtl="0" algn="l">
              <a:spcBef>
                <a:spcPts val="0"/>
              </a:spcBef>
              <a:spcAft>
                <a:spcPts val="0"/>
              </a:spcAft>
              <a:buSzPts val="2600"/>
              <a:buChar char="●"/>
            </a:pPr>
            <a:r>
              <a:rPr b="1" lang="en" sz="2600"/>
              <a:t>Mute Yourselves always</a:t>
            </a:r>
            <a:endParaRPr b="1" sz="2600"/>
          </a:p>
          <a:p>
            <a:pPr indent="-393700" lvl="0" marL="457200" rtl="0" algn="l">
              <a:spcBef>
                <a:spcPts val="0"/>
              </a:spcBef>
              <a:spcAft>
                <a:spcPts val="0"/>
              </a:spcAft>
              <a:buSzPts val="2600"/>
              <a:buChar char="●"/>
            </a:pPr>
            <a:r>
              <a:rPr b="1" lang="en" sz="2600"/>
              <a:t>Chat your question first </a:t>
            </a:r>
            <a:endParaRPr b="1" sz="2600"/>
          </a:p>
          <a:p>
            <a:pPr indent="-393700" lvl="0" marL="457200" rtl="0" algn="l">
              <a:spcBef>
                <a:spcPts val="0"/>
              </a:spcBef>
              <a:spcAft>
                <a:spcPts val="0"/>
              </a:spcAft>
              <a:buSzPts val="2600"/>
              <a:buChar char="●"/>
            </a:pPr>
            <a:r>
              <a:rPr b="1" lang="en" sz="2600"/>
              <a:t>Do not chat with other candidates</a:t>
            </a:r>
            <a:endParaRPr b="1" sz="2600"/>
          </a:p>
          <a:p>
            <a:pPr indent="-393700" lvl="0" marL="457200" rtl="0" algn="l">
              <a:spcBef>
                <a:spcPts val="0"/>
              </a:spcBef>
              <a:spcAft>
                <a:spcPts val="0"/>
              </a:spcAft>
              <a:buSzPts val="2600"/>
              <a:buChar char="●"/>
            </a:pPr>
            <a:r>
              <a:rPr b="1" lang="en" sz="2600"/>
              <a:t>Do not steal other candidate info(ph number/email etc)</a:t>
            </a:r>
            <a:endParaRPr b="1" sz="2600"/>
          </a:p>
          <a:p>
            <a:pPr indent="0" lvl="0" marL="0" rtl="0" algn="l">
              <a:spcBef>
                <a:spcPts val="1200"/>
              </a:spcBef>
              <a:spcAft>
                <a:spcPts val="1200"/>
              </a:spcAft>
              <a:buNone/>
            </a:pPr>
            <a:r>
              <a:t/>
            </a:r>
            <a:endParaRPr b="1"/>
          </a:p>
        </p:txBody>
      </p:sp>
      <p:sp>
        <p:nvSpPr>
          <p:cNvPr id="1329" name="Google Shape;1329;p18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